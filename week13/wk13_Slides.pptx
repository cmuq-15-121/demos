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659" r:id="rId3"/>
    <p:sldId id="661" r:id="rId4"/>
    <p:sldId id="667" r:id="rId5"/>
    <p:sldId id="258" r:id="rId6"/>
    <p:sldId id="271" r:id="rId7"/>
    <p:sldId id="670" r:id="rId8"/>
    <p:sldId id="671" r:id="rId9"/>
    <p:sldId id="673" r:id="rId10"/>
    <p:sldId id="675" r:id="rId11"/>
    <p:sldId id="676" r:id="rId12"/>
    <p:sldId id="674" r:id="rId13"/>
  </p:sldIdLst>
  <p:sldSz cx="12192000" cy="6858000"/>
  <p:notesSz cx="9928225" cy="67976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88424" autoAdjust="0"/>
  </p:normalViewPr>
  <p:slideViewPr>
    <p:cSldViewPr snapToGrid="0">
      <p:cViewPr>
        <p:scale>
          <a:sx n="70" d="100"/>
          <a:sy n="70" d="100"/>
        </p:scale>
        <p:origin x="504" y="1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302231" cy="341064"/>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623698" y="0"/>
            <a:ext cx="4302231" cy="341064"/>
          </a:xfrm>
          <a:prstGeom prst="rect">
            <a:avLst/>
          </a:prstGeom>
        </p:spPr>
        <p:txBody>
          <a:bodyPr vert="horz" lIns="91440" tIns="45720" rIns="91440" bIns="45720" rtlCol="0"/>
          <a:lstStyle>
            <a:lvl1pPr algn="r">
              <a:defRPr sz="1200"/>
            </a:lvl1pPr>
          </a:lstStyle>
          <a:p>
            <a:fld id="{2A239D95-6F15-4DDC-A810-C9575B2200B4}" type="datetimeFigureOut">
              <a:rPr lang="en-US" smtClean="0"/>
              <a:t>11/26/2025</a:t>
            </a:fld>
            <a:endParaRPr lang="en-US"/>
          </a:p>
        </p:txBody>
      </p:sp>
      <p:sp>
        <p:nvSpPr>
          <p:cNvPr id="4" name="Slide Image Placeholder 3"/>
          <p:cNvSpPr>
            <a:spLocks noGrp="1" noRot="1" noChangeAspect="1"/>
          </p:cNvSpPr>
          <p:nvPr>
            <p:ph type="sldImg" idx="2"/>
          </p:nvPr>
        </p:nvSpPr>
        <p:spPr>
          <a:xfrm>
            <a:off x="2925763" y="849313"/>
            <a:ext cx="4076700" cy="2293937"/>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92823" y="3271381"/>
            <a:ext cx="7942580" cy="267658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1" y="6456612"/>
            <a:ext cx="4302231" cy="34106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623698" y="6456612"/>
            <a:ext cx="4302231" cy="341063"/>
          </a:xfrm>
          <a:prstGeom prst="rect">
            <a:avLst/>
          </a:prstGeom>
        </p:spPr>
        <p:txBody>
          <a:bodyPr vert="horz" lIns="91440" tIns="45720" rIns="91440" bIns="45720" rtlCol="0" anchor="b"/>
          <a:lstStyle>
            <a:lvl1pPr algn="r">
              <a:defRPr sz="1200"/>
            </a:lvl1pPr>
          </a:lstStyle>
          <a:p>
            <a:fld id="{80A42B46-65B9-4B53-A88B-B399C78A3A76}" type="slidenum">
              <a:rPr lang="en-US" smtClean="0"/>
              <a:t>‹#›</a:t>
            </a:fld>
            <a:endParaRPr lang="en-US"/>
          </a:p>
        </p:txBody>
      </p:sp>
    </p:spTree>
    <p:extLst>
      <p:ext uri="{BB962C8B-B14F-4D97-AF65-F5344CB8AC3E}">
        <p14:creationId xmlns:p14="http://schemas.microsoft.com/office/powerpoint/2010/main" val="38054594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2006, Amazon reported that for every 100 milliseconds of delay in their website's loading time, they experienced a 1% decrease in sales. </a:t>
            </a:r>
          </a:p>
          <a:p>
            <a:r>
              <a:rPr lang="en-US" dirty="0"/>
              <a:t>If you know that Amazon’s net sale is </a:t>
            </a:r>
            <a:r>
              <a:rPr lang="en-US" b="0" i="0" dirty="0">
                <a:solidFill>
                  <a:srgbClr val="0D0D0D"/>
                </a:solidFill>
                <a:effectLst/>
                <a:latin typeface="Söhne"/>
              </a:rPr>
              <a:t>hundreds of billions of dollars. </a:t>
            </a:r>
          </a:p>
          <a:p>
            <a:endParaRPr lang="en-US" dirty="0"/>
          </a:p>
        </p:txBody>
      </p:sp>
      <p:sp>
        <p:nvSpPr>
          <p:cNvPr id="4" name="Slide Number Placeholder 3"/>
          <p:cNvSpPr>
            <a:spLocks noGrp="1"/>
          </p:cNvSpPr>
          <p:nvPr>
            <p:ph type="sldNum" sz="quarter" idx="5"/>
          </p:nvPr>
        </p:nvSpPr>
        <p:spPr/>
        <p:txBody>
          <a:bodyPr/>
          <a:lstStyle/>
          <a:p>
            <a:fld id="{80A42B46-65B9-4B53-A88B-B399C78A3A76}" type="slidenum">
              <a:rPr lang="en-US" smtClean="0"/>
              <a:t>1</a:t>
            </a:fld>
            <a:endParaRPr lang="en-US"/>
          </a:p>
        </p:txBody>
      </p:sp>
    </p:spTree>
    <p:extLst>
      <p:ext uri="{BB962C8B-B14F-4D97-AF65-F5344CB8AC3E}">
        <p14:creationId xmlns:p14="http://schemas.microsoft.com/office/powerpoint/2010/main" val="1495825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81037-3846-0EBB-F1AF-450DDD79D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3BD22-4361-069A-E494-5D1845B1CB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34269-FA87-DB6A-DB50-D60A302865F3}"/>
              </a:ext>
            </a:extLst>
          </p:cNvPr>
          <p:cNvSpPr>
            <a:spLocks noGrp="1"/>
          </p:cNvSpPr>
          <p:nvPr>
            <p:ph type="body" idx="1"/>
          </p:nvPr>
        </p:nvSpPr>
        <p:spPr/>
        <p:txBody>
          <a:bodyPr/>
          <a:lstStyle/>
          <a:p>
            <a:pPr algn="l">
              <a:buFont typeface="Arial" panose="020B0604020202020204" pitchFamily="34" charset="0"/>
              <a:buNone/>
            </a:pPr>
            <a:r>
              <a:rPr lang="en-US" b="0" i="0" dirty="0">
                <a:solidFill>
                  <a:srgbClr val="212529"/>
                </a:solidFill>
                <a:effectLst/>
                <a:latin typeface="-apple-system"/>
              </a:rPr>
              <a:t>Basic – Linear Search</a:t>
            </a:r>
          </a:p>
          <a:p>
            <a:pPr algn="l">
              <a:buFont typeface="Arial" panose="020B0604020202020204" pitchFamily="34" charset="0"/>
              <a:buChar char="•"/>
            </a:pPr>
            <a:r>
              <a:rPr lang="en-US" b="0" i="0" dirty="0">
                <a:solidFill>
                  <a:srgbClr val="212529"/>
                </a:solidFill>
                <a:effectLst/>
                <a:latin typeface="-apple-system"/>
              </a:rPr>
              <a:t>Basic idea: check each element in turn</a:t>
            </a:r>
          </a:p>
          <a:p>
            <a:pPr algn="l">
              <a:buFont typeface="Arial" panose="020B0604020202020204" pitchFamily="34" charset="0"/>
              <a:buChar char="•"/>
            </a:pPr>
            <a:r>
              <a:rPr lang="en-US" b="0" i="0" dirty="0">
                <a:solidFill>
                  <a:srgbClr val="212529"/>
                </a:solidFill>
                <a:effectLst/>
                <a:latin typeface="-apple-system"/>
              </a:rPr>
              <a:t>Use: find an element in an unsorted list</a:t>
            </a:r>
          </a:p>
          <a:p>
            <a:pPr algn="l">
              <a:buFont typeface="Arial" panose="020B0604020202020204" pitchFamily="34" charset="0"/>
              <a:buChar char="•"/>
            </a:pPr>
            <a:r>
              <a:rPr lang="en-US" b="0" i="0" dirty="0">
                <a:solidFill>
                  <a:srgbClr val="212529"/>
                </a:solidFill>
                <a:effectLst/>
                <a:latin typeface="-apple-system"/>
              </a:rPr>
              <a:t>Cost: O(N)</a:t>
            </a:r>
          </a:p>
          <a:p>
            <a:pPr algn="l">
              <a:buFont typeface="Arial" panose="020B0604020202020204" pitchFamily="34" charset="0"/>
              <a:buChar char="•"/>
            </a:pPr>
            <a:endParaRPr lang="en-US" b="0" i="0" dirty="0">
              <a:solidFill>
                <a:srgbClr val="212529"/>
              </a:solidFill>
              <a:effectLst/>
              <a:latin typeface="-apple-system"/>
            </a:endParaRPr>
          </a:p>
          <a:p>
            <a:pPr algn="l">
              <a:buFont typeface="Arial" panose="020B0604020202020204" pitchFamily="34" charset="0"/>
              <a:buNone/>
            </a:pPr>
            <a:r>
              <a:rPr lang="en-US" b="0" i="0" dirty="0">
                <a:solidFill>
                  <a:srgbClr val="212529"/>
                </a:solidFill>
                <a:effectLst/>
                <a:latin typeface="-apple-system"/>
              </a:rPr>
              <a:t>Can we do it better? Can we leverage the fact that these cards are sorted?</a:t>
            </a:r>
          </a:p>
          <a:p>
            <a:pPr algn="l">
              <a:buFont typeface="Arial" panose="020B0604020202020204" pitchFamily="34" charset="0"/>
              <a:buNone/>
            </a:pPr>
            <a:endParaRPr lang="en-US" b="0" i="0" dirty="0">
              <a:solidFill>
                <a:srgbClr val="212529"/>
              </a:solidFill>
              <a:effectLst/>
              <a:latin typeface="-apple-system"/>
            </a:endParaRPr>
          </a:p>
          <a:p>
            <a:pPr algn="l">
              <a:buFont typeface="Arial" panose="020B0604020202020204" pitchFamily="34" charset="0"/>
              <a:buNone/>
            </a:pPr>
            <a:endParaRPr lang="en-US" b="0" i="0" dirty="0">
              <a:solidFill>
                <a:srgbClr val="212529"/>
              </a:solidFill>
              <a:effectLst/>
              <a:latin typeface="-apple-system"/>
            </a:endParaRPr>
          </a:p>
          <a:p>
            <a:pPr algn="l">
              <a:buFont typeface="Arial" panose="020B0604020202020204" pitchFamily="34" charset="0"/>
              <a:buNone/>
            </a:pPr>
            <a:endParaRPr lang="en-US" b="0" i="0" dirty="0">
              <a:solidFill>
                <a:srgbClr val="212529"/>
              </a:solidFill>
              <a:effectLst/>
              <a:latin typeface="-apple-system"/>
            </a:endParaRPr>
          </a:p>
          <a:p>
            <a:pPr algn="l">
              <a:buFont typeface="Arial" panose="020B0604020202020204" pitchFamily="34" charset="0"/>
              <a:buNone/>
            </a:pPr>
            <a:endParaRPr lang="en-US" b="0" i="0" dirty="0">
              <a:solidFill>
                <a:srgbClr val="212529"/>
              </a:solidFill>
              <a:effectLst/>
              <a:latin typeface="-apple-system"/>
            </a:endParaRPr>
          </a:p>
          <a:p>
            <a:endParaRPr lang="en-US" dirty="0"/>
          </a:p>
          <a:p>
            <a:pPr algn="l">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9C9FAC6-F05E-EDD1-E96B-62BB103DA5E2}"/>
              </a:ext>
            </a:extLst>
          </p:cNvPr>
          <p:cNvSpPr>
            <a:spLocks noGrp="1"/>
          </p:cNvSpPr>
          <p:nvPr>
            <p:ph type="sldNum" sz="quarter" idx="5"/>
          </p:nvPr>
        </p:nvSpPr>
        <p:spPr/>
        <p:txBody>
          <a:bodyPr/>
          <a:lstStyle/>
          <a:p>
            <a:fld id="{4F7C0301-1442-4BAA-84C7-59F08E51B627}" type="slidenum">
              <a:rPr lang="en-US" smtClean="0"/>
              <a:t>2</a:t>
            </a:fld>
            <a:endParaRPr lang="en-US"/>
          </a:p>
        </p:txBody>
      </p:sp>
    </p:spTree>
    <p:extLst>
      <p:ext uri="{BB962C8B-B14F-4D97-AF65-F5344CB8AC3E}">
        <p14:creationId xmlns:p14="http://schemas.microsoft.com/office/powerpoint/2010/main" val="25092978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E8D3-BE31-A083-B594-96994A5E8A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56E629-DE86-C4F8-DEDD-027CE5BC1E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C50DBF-7420-A1B4-4D73-3BAF570BDE3F}"/>
              </a:ext>
            </a:extLst>
          </p:cNvPr>
          <p:cNvSpPr>
            <a:spLocks noGrp="1"/>
          </p:cNvSpPr>
          <p:nvPr>
            <p:ph type="body" idx="1"/>
          </p:nvPr>
        </p:nvSpPr>
        <p:spPr/>
        <p:txBody>
          <a:bodyPr/>
          <a:lstStyle/>
          <a:p>
            <a:r>
              <a:rPr lang="en-US" dirty="0"/>
              <a:t>Binary search is sometimes called “</a:t>
            </a:r>
            <a:r>
              <a:rPr lang="en-US" i="1" dirty="0"/>
              <a:t>divide and conquer in its purest form</a:t>
            </a:r>
            <a:r>
              <a:rPr lang="en-US" dirty="0"/>
              <a:t>.”</a:t>
            </a:r>
          </a:p>
          <a:p>
            <a:endParaRPr lang="en-US" dirty="0"/>
          </a:p>
          <a:p>
            <a:pPr marL="171450" indent="-171450">
              <a:buFontTx/>
              <a:buChar char="-"/>
            </a:pPr>
            <a:r>
              <a:rPr lang="en-US" dirty="0"/>
              <a:t>In the worst case, I will continue cutting the data in half at every step until I'm left with one element..</a:t>
            </a:r>
          </a:p>
          <a:p>
            <a:pPr marL="171450" indent="-171450">
              <a:buFontTx/>
              <a:buChar char="-"/>
            </a:pPr>
            <a:r>
              <a:rPr lang="en-US" dirty="0"/>
              <a:t>.- SO the complexity or the number of steps basically depends on    </a:t>
            </a:r>
          </a:p>
          <a:p>
            <a:pPr marL="628650" lvl="1" indent="-171450">
              <a:buFontTx/>
              <a:buChar char="-"/>
            </a:pPr>
            <a:r>
              <a:rPr lang="en-US" dirty="0"/>
              <a:t>- How many times did I have to divide by 2 to get from n to 1    </a:t>
            </a:r>
          </a:p>
          <a:p>
            <a:pPr marL="628650" lvl="1" indent="-171450">
              <a:buFontTx/>
              <a:buChar char="-"/>
            </a:pPr>
            <a:r>
              <a:rPr lang="en-US" dirty="0"/>
              <a:t>- that efficiency is logarithmic. </a:t>
            </a:r>
          </a:p>
          <a:p>
            <a:pPr marL="171450" indent="-171450">
              <a:buFontTx/>
              <a:buChar char="-"/>
            </a:pPr>
            <a:r>
              <a:rPr lang="en-US" dirty="0"/>
              <a:t>- This is significantly better than an O(N) </a:t>
            </a:r>
            <a:r>
              <a:rPr lang="en-US" dirty="0" err="1"/>
              <a:t>algorithm.Binary</a:t>
            </a:r>
            <a:r>
              <a:rPr lang="en-US" dirty="0"/>
              <a:t> search is much faster than linear search when dealing with large, sorted collections</a:t>
            </a:r>
          </a:p>
          <a:p>
            <a:pPr marL="0" indent="0">
              <a:buFontTx/>
              <a:buNone/>
            </a:pPr>
            <a:endParaRPr lang="en-US" dirty="0"/>
          </a:p>
          <a:p>
            <a:pPr marL="0" indent="0">
              <a:buFontTx/>
              <a:buNone/>
            </a:pPr>
            <a:r>
              <a:rPr lang="en-US" dirty="0"/>
              <a:t>.---------------</a:t>
            </a:r>
          </a:p>
          <a:p>
            <a:pPr algn="l">
              <a:buFont typeface="Arial" panose="020B0604020202020204" pitchFamily="34" charset="0"/>
              <a:buChar char="•"/>
            </a:pPr>
            <a:r>
              <a:rPr lang="en-US" b="0" i="0" dirty="0">
                <a:solidFill>
                  <a:srgbClr val="212529"/>
                </a:solidFill>
                <a:effectLst/>
                <a:latin typeface="-apple-system"/>
              </a:rPr>
              <a:t>Basic idea: in a </a:t>
            </a:r>
            <a:r>
              <a:rPr lang="en-US" b="1" i="0" dirty="0">
                <a:solidFill>
                  <a:srgbClr val="212529"/>
                </a:solidFill>
                <a:effectLst/>
                <a:latin typeface="-apple-system"/>
              </a:rPr>
              <a:t>sorted list</a:t>
            </a:r>
            <a:r>
              <a:rPr lang="en-US" b="0" i="0" dirty="0">
                <a:solidFill>
                  <a:srgbClr val="212529"/>
                </a:solidFill>
                <a:effectLst/>
                <a:latin typeface="-apple-system"/>
              </a:rPr>
              <a:t>, check middle element, eliminate half on each pass</a:t>
            </a:r>
          </a:p>
          <a:p>
            <a:pPr algn="l">
              <a:buFont typeface="Arial" panose="020B0604020202020204" pitchFamily="34" charset="0"/>
              <a:buChar char="•"/>
            </a:pPr>
            <a:r>
              <a:rPr lang="en-US" b="0" i="0" dirty="0">
                <a:solidFill>
                  <a:srgbClr val="212529"/>
                </a:solidFill>
                <a:effectLst/>
                <a:latin typeface="-apple-system"/>
              </a:rPr>
              <a:t>Uses:</a:t>
            </a:r>
          </a:p>
          <a:p>
            <a:pPr marL="742950" lvl="1" indent="-285750" algn="l">
              <a:buFont typeface="Arial" panose="020B0604020202020204" pitchFamily="34" charset="0"/>
              <a:buChar char="•"/>
            </a:pPr>
            <a:r>
              <a:rPr lang="en-US" b="0" i="0" dirty="0">
                <a:solidFill>
                  <a:srgbClr val="212529"/>
                </a:solidFill>
                <a:effectLst/>
                <a:latin typeface="-apple-system"/>
              </a:rPr>
              <a:t>Find an element in a sorted list</a:t>
            </a:r>
          </a:p>
          <a:p>
            <a:pPr marL="742950" lvl="1" indent="-285750" algn="l">
              <a:buFont typeface="Arial" panose="020B0604020202020204" pitchFamily="34" charset="0"/>
              <a:buChar char="•"/>
            </a:pPr>
            <a:r>
              <a:rPr lang="en-US" b="0" i="0" dirty="0">
                <a:solidFill>
                  <a:srgbClr val="212529"/>
                </a:solidFill>
                <a:effectLst/>
                <a:latin typeface="-apple-system"/>
              </a:rPr>
              <a:t>Number-guessing game (</a:t>
            </a:r>
            <a:r>
              <a:rPr lang="en-US" b="0" i="0" dirty="0" err="1">
                <a:solidFill>
                  <a:srgbClr val="212529"/>
                </a:solidFill>
                <a:effectLst/>
                <a:latin typeface="-apple-system"/>
              </a:rPr>
              <a:t>eg</a:t>
            </a:r>
            <a:r>
              <a:rPr lang="en-US" b="0" i="0" dirty="0">
                <a:solidFill>
                  <a:srgbClr val="212529"/>
                </a:solidFill>
                <a:effectLst/>
                <a:latin typeface="-apple-system"/>
              </a:rPr>
              <a:t>: guess a random number between 1 and 1000)</a:t>
            </a:r>
          </a:p>
          <a:p>
            <a:pPr marL="742950" lvl="1" indent="-285750" algn="l">
              <a:buFont typeface="Arial" panose="020B0604020202020204" pitchFamily="34" charset="0"/>
              <a:buChar char="•"/>
            </a:pPr>
            <a:r>
              <a:rPr lang="en-US" b="0" i="0" dirty="0">
                <a:solidFill>
                  <a:srgbClr val="212529"/>
                </a:solidFill>
                <a:effectLst/>
                <a:latin typeface="-apple-system"/>
              </a:rPr>
              <a:t>Find a root (zero) of a function with bisection (adapted binary search)</a:t>
            </a:r>
          </a:p>
          <a:p>
            <a:pPr algn="l">
              <a:buFont typeface="Arial" panose="020B0604020202020204" pitchFamily="34" charset="0"/>
              <a:buChar char="•"/>
            </a:pPr>
            <a:r>
              <a:rPr lang="en-US" b="0" i="0" dirty="0">
                <a:solidFill>
                  <a:srgbClr val="212529"/>
                </a:solidFill>
                <a:effectLst/>
                <a:latin typeface="-apple-system"/>
              </a:rPr>
              <a:t>Cost: O(</a:t>
            </a:r>
            <a:r>
              <a:rPr lang="en-US" b="0" i="0" dirty="0" err="1">
                <a:solidFill>
                  <a:srgbClr val="212529"/>
                </a:solidFill>
                <a:effectLst/>
                <a:latin typeface="-apple-system"/>
              </a:rPr>
              <a:t>logN</a:t>
            </a:r>
            <a:r>
              <a:rPr lang="en-US" b="0" i="0" dirty="0">
                <a:solidFill>
                  <a:srgbClr val="212529"/>
                </a:solidFill>
                <a:effectLst/>
                <a:latin typeface="-apple-system"/>
              </a:rPr>
              <a:t>)</a:t>
            </a:r>
          </a:p>
          <a:p>
            <a:pPr algn="l">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BB505382-3B6A-AA63-AC5A-92A2E189D261}"/>
              </a:ext>
            </a:extLst>
          </p:cNvPr>
          <p:cNvSpPr>
            <a:spLocks noGrp="1"/>
          </p:cNvSpPr>
          <p:nvPr>
            <p:ph type="sldNum" sz="quarter" idx="5"/>
          </p:nvPr>
        </p:nvSpPr>
        <p:spPr/>
        <p:txBody>
          <a:bodyPr/>
          <a:lstStyle/>
          <a:p>
            <a:fld id="{4F7C0301-1442-4BAA-84C7-59F08E51B627}" type="slidenum">
              <a:rPr lang="en-US" smtClean="0"/>
              <a:t>3</a:t>
            </a:fld>
            <a:endParaRPr lang="en-US"/>
          </a:p>
        </p:txBody>
      </p:sp>
    </p:spTree>
    <p:extLst>
      <p:ext uri="{BB962C8B-B14F-4D97-AF65-F5344CB8AC3E}">
        <p14:creationId xmlns:p14="http://schemas.microsoft.com/office/powerpoint/2010/main" val="33362790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58F64-B45D-61E7-CA7B-BADF91B514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7B114A-4A78-492F-8E31-6361887B0B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701466-DFFD-AF95-C0E7-58CF31240B64}"/>
              </a:ext>
            </a:extLst>
          </p:cNvPr>
          <p:cNvSpPr>
            <a:spLocks noGrp="1"/>
          </p:cNvSpPr>
          <p:nvPr>
            <p:ph type="body" idx="1"/>
          </p:nvPr>
        </p:nvSpPr>
        <p:spPr/>
        <p:txBody>
          <a:bodyPr/>
          <a:lstStyle/>
          <a:p>
            <a:r>
              <a:rPr lang="en-US" dirty="0"/>
              <a:t>Binary search is sometimes called “</a:t>
            </a:r>
            <a:r>
              <a:rPr lang="en-US" i="1" dirty="0"/>
              <a:t>divide and conquer in its purest form</a:t>
            </a:r>
            <a:r>
              <a:rPr lang="en-US" dirty="0"/>
              <a:t>.”</a:t>
            </a:r>
          </a:p>
          <a:p>
            <a:endParaRPr lang="en-US" dirty="0"/>
          </a:p>
          <a:p>
            <a:pPr marL="171450" indent="-171450">
              <a:buFontTx/>
              <a:buChar char="-"/>
            </a:pPr>
            <a:r>
              <a:rPr lang="en-US" dirty="0"/>
              <a:t>In the worst case, I will continue cutting the data in half at every step until I'm left with one element..</a:t>
            </a:r>
          </a:p>
          <a:p>
            <a:pPr marL="171450" indent="-171450">
              <a:buFontTx/>
              <a:buChar char="-"/>
            </a:pPr>
            <a:r>
              <a:rPr lang="en-US" dirty="0"/>
              <a:t>.- SO the complexity or the number of steps basically depends on    </a:t>
            </a:r>
          </a:p>
          <a:p>
            <a:pPr marL="628650" lvl="1" indent="-171450">
              <a:buFontTx/>
              <a:buChar char="-"/>
            </a:pPr>
            <a:r>
              <a:rPr lang="en-US" dirty="0"/>
              <a:t>- How many times did I have to divide by 2 to get from n to 1    </a:t>
            </a:r>
          </a:p>
          <a:p>
            <a:pPr marL="628650" lvl="1" indent="-171450">
              <a:buFontTx/>
              <a:buChar char="-"/>
            </a:pPr>
            <a:r>
              <a:rPr lang="en-US" dirty="0"/>
              <a:t>- that efficiency is logarithmic. </a:t>
            </a:r>
          </a:p>
          <a:p>
            <a:pPr marL="171450" indent="-171450">
              <a:buFontTx/>
              <a:buChar char="-"/>
            </a:pPr>
            <a:r>
              <a:rPr lang="en-US" dirty="0"/>
              <a:t>- This is significantly better than an O(N) </a:t>
            </a:r>
            <a:r>
              <a:rPr lang="en-US" dirty="0" err="1"/>
              <a:t>algorithm.Binary</a:t>
            </a:r>
            <a:r>
              <a:rPr lang="en-US" dirty="0"/>
              <a:t> search is much faster than linear search when dealing with large, sorted collections</a:t>
            </a:r>
          </a:p>
          <a:p>
            <a:pPr marL="0" indent="0">
              <a:buFontTx/>
              <a:buNone/>
            </a:pPr>
            <a:endParaRPr lang="en-US" dirty="0"/>
          </a:p>
          <a:p>
            <a:pPr marL="0" indent="0">
              <a:buFontTx/>
              <a:buNone/>
            </a:pPr>
            <a:r>
              <a:rPr lang="en-US" dirty="0"/>
              <a:t>.---------------</a:t>
            </a:r>
          </a:p>
          <a:p>
            <a:pPr algn="l">
              <a:buFont typeface="Arial" panose="020B0604020202020204" pitchFamily="34" charset="0"/>
              <a:buChar char="•"/>
            </a:pPr>
            <a:r>
              <a:rPr lang="en-US" b="0" i="0" dirty="0">
                <a:solidFill>
                  <a:srgbClr val="212529"/>
                </a:solidFill>
                <a:effectLst/>
                <a:latin typeface="-apple-system"/>
              </a:rPr>
              <a:t>Basic idea: in a </a:t>
            </a:r>
            <a:r>
              <a:rPr lang="en-US" b="1" i="0" dirty="0">
                <a:solidFill>
                  <a:srgbClr val="212529"/>
                </a:solidFill>
                <a:effectLst/>
                <a:latin typeface="-apple-system"/>
              </a:rPr>
              <a:t>sorted list</a:t>
            </a:r>
            <a:r>
              <a:rPr lang="en-US" b="0" i="0" dirty="0">
                <a:solidFill>
                  <a:srgbClr val="212529"/>
                </a:solidFill>
                <a:effectLst/>
                <a:latin typeface="-apple-system"/>
              </a:rPr>
              <a:t>, check middle element, eliminate half on each pass</a:t>
            </a:r>
          </a:p>
          <a:p>
            <a:pPr algn="l">
              <a:buFont typeface="Arial" panose="020B0604020202020204" pitchFamily="34" charset="0"/>
              <a:buChar char="•"/>
            </a:pPr>
            <a:r>
              <a:rPr lang="en-US" b="0" i="0" dirty="0">
                <a:solidFill>
                  <a:srgbClr val="212529"/>
                </a:solidFill>
                <a:effectLst/>
                <a:latin typeface="-apple-system"/>
              </a:rPr>
              <a:t>Uses:</a:t>
            </a:r>
          </a:p>
          <a:p>
            <a:pPr marL="742950" lvl="1" indent="-285750" algn="l">
              <a:buFont typeface="Arial" panose="020B0604020202020204" pitchFamily="34" charset="0"/>
              <a:buChar char="•"/>
            </a:pPr>
            <a:r>
              <a:rPr lang="en-US" b="0" i="0" dirty="0">
                <a:solidFill>
                  <a:srgbClr val="212529"/>
                </a:solidFill>
                <a:effectLst/>
                <a:latin typeface="-apple-system"/>
              </a:rPr>
              <a:t>Find an element in a sorted list</a:t>
            </a:r>
          </a:p>
          <a:p>
            <a:pPr marL="742950" lvl="1" indent="-285750" algn="l">
              <a:buFont typeface="Arial" panose="020B0604020202020204" pitchFamily="34" charset="0"/>
              <a:buChar char="•"/>
            </a:pPr>
            <a:r>
              <a:rPr lang="en-US" b="0" i="0" dirty="0">
                <a:solidFill>
                  <a:srgbClr val="212529"/>
                </a:solidFill>
                <a:effectLst/>
                <a:latin typeface="-apple-system"/>
              </a:rPr>
              <a:t>Number-guessing game (</a:t>
            </a:r>
            <a:r>
              <a:rPr lang="en-US" b="0" i="0" dirty="0" err="1">
                <a:solidFill>
                  <a:srgbClr val="212529"/>
                </a:solidFill>
                <a:effectLst/>
                <a:latin typeface="-apple-system"/>
              </a:rPr>
              <a:t>eg</a:t>
            </a:r>
            <a:r>
              <a:rPr lang="en-US" b="0" i="0" dirty="0">
                <a:solidFill>
                  <a:srgbClr val="212529"/>
                </a:solidFill>
                <a:effectLst/>
                <a:latin typeface="-apple-system"/>
              </a:rPr>
              <a:t>: guess a random number between 1 and 1000)</a:t>
            </a:r>
          </a:p>
          <a:p>
            <a:pPr marL="742950" lvl="1" indent="-285750" algn="l">
              <a:buFont typeface="Arial" panose="020B0604020202020204" pitchFamily="34" charset="0"/>
              <a:buChar char="•"/>
            </a:pPr>
            <a:r>
              <a:rPr lang="en-US" b="0" i="0" dirty="0">
                <a:solidFill>
                  <a:srgbClr val="212529"/>
                </a:solidFill>
                <a:effectLst/>
                <a:latin typeface="-apple-system"/>
              </a:rPr>
              <a:t>Find a root (zero) of a function with bisection (adapted binary search)</a:t>
            </a:r>
          </a:p>
          <a:p>
            <a:pPr algn="l">
              <a:buFont typeface="Arial" panose="020B0604020202020204" pitchFamily="34" charset="0"/>
              <a:buChar char="•"/>
            </a:pPr>
            <a:r>
              <a:rPr lang="en-US" b="0" i="0" dirty="0">
                <a:solidFill>
                  <a:srgbClr val="212529"/>
                </a:solidFill>
                <a:effectLst/>
                <a:latin typeface="-apple-system"/>
              </a:rPr>
              <a:t>Cost: O(</a:t>
            </a:r>
            <a:r>
              <a:rPr lang="en-US" b="0" i="0" dirty="0" err="1">
                <a:solidFill>
                  <a:srgbClr val="212529"/>
                </a:solidFill>
                <a:effectLst/>
                <a:latin typeface="-apple-system"/>
              </a:rPr>
              <a:t>logN</a:t>
            </a:r>
            <a:r>
              <a:rPr lang="en-US" b="0" i="0" dirty="0">
                <a:solidFill>
                  <a:srgbClr val="212529"/>
                </a:solidFill>
                <a:effectLst/>
                <a:latin typeface="-apple-system"/>
              </a:rPr>
              <a:t>)</a:t>
            </a:r>
          </a:p>
          <a:p>
            <a:pPr algn="l">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16C3B130-6B05-16FF-B882-C8BA6AE56EE9}"/>
              </a:ext>
            </a:extLst>
          </p:cNvPr>
          <p:cNvSpPr>
            <a:spLocks noGrp="1"/>
          </p:cNvSpPr>
          <p:nvPr>
            <p:ph type="sldNum" sz="quarter" idx="5"/>
          </p:nvPr>
        </p:nvSpPr>
        <p:spPr/>
        <p:txBody>
          <a:bodyPr/>
          <a:lstStyle/>
          <a:p>
            <a:fld id="{4F7C0301-1442-4BAA-84C7-59F08E51B627}" type="slidenum">
              <a:rPr lang="en-US" smtClean="0"/>
              <a:t>4</a:t>
            </a:fld>
            <a:endParaRPr lang="en-US"/>
          </a:p>
        </p:txBody>
      </p:sp>
    </p:spTree>
    <p:extLst>
      <p:ext uri="{BB962C8B-B14F-4D97-AF65-F5344CB8AC3E}">
        <p14:creationId xmlns:p14="http://schemas.microsoft.com/office/powerpoint/2010/main" val="33576931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2791966677f_0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5" name="Google Shape;295;g2791966677f_0_4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sz="1000" b="1" dirty="0">
                <a:latin typeface="Arial"/>
                <a:ea typeface="Arial"/>
                <a:cs typeface="Arial"/>
                <a:sym typeface="Arial"/>
              </a:rPr>
              <a:t>https://www.enjoyalgorithms.com/blog/quick-sort-algorithm</a:t>
            </a:r>
            <a:endParaRPr sz="1000" dirty="0">
              <a:latin typeface="Arial"/>
              <a:ea typeface="Arial"/>
              <a:cs typeface="Arial"/>
              <a:sym typeface="Arial"/>
            </a:endParaRPr>
          </a:p>
          <a:p>
            <a:pPr marL="0" lvl="0" indent="0" algn="l" rtl="0">
              <a:spcBef>
                <a:spcPts val="0"/>
              </a:spcBef>
              <a:spcAft>
                <a:spcPts val="0"/>
              </a:spcAft>
              <a:buNone/>
            </a:pPr>
            <a:r>
              <a:rPr lang="en-US" sz="1000" dirty="0"/>
              <a:t> </a:t>
            </a:r>
            <a:endParaRPr sz="1000" dirty="0"/>
          </a:p>
        </p:txBody>
      </p:sp>
      <p:sp>
        <p:nvSpPr>
          <p:cNvPr id="296" name="Google Shape;296;g2791966677f_0_4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a:extLst>
            <a:ext uri="{FF2B5EF4-FFF2-40B4-BE49-F238E27FC236}">
              <a16:creationId xmlns:a16="http://schemas.microsoft.com/office/drawing/2014/main" id="{13DDA498-5122-3145-9FB5-FEB8ACC3AB65}"/>
            </a:ext>
          </a:extLst>
        </p:cNvPr>
        <p:cNvGrpSpPr/>
        <p:nvPr/>
      </p:nvGrpSpPr>
      <p:grpSpPr>
        <a:xfrm>
          <a:off x="0" y="0"/>
          <a:ext cx="0" cy="0"/>
          <a:chOff x="0" y="0"/>
          <a:chExt cx="0" cy="0"/>
        </a:xfrm>
      </p:grpSpPr>
      <p:sp>
        <p:nvSpPr>
          <p:cNvPr id="294" name="Google Shape;294;g2791966677f_0_43:notes">
            <a:extLst>
              <a:ext uri="{FF2B5EF4-FFF2-40B4-BE49-F238E27FC236}">
                <a16:creationId xmlns:a16="http://schemas.microsoft.com/office/drawing/2014/main" id="{D638B9F1-656A-1CED-CBD0-E6C559FB9B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5" name="Google Shape;295;g2791966677f_0_43:notes">
            <a:extLst>
              <a:ext uri="{FF2B5EF4-FFF2-40B4-BE49-F238E27FC236}">
                <a16:creationId xmlns:a16="http://schemas.microsoft.com/office/drawing/2014/main" id="{5A0057A8-9208-04A5-4908-5F18BA2210E4}"/>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sz="1000" b="1" dirty="0">
                <a:latin typeface="Arial"/>
                <a:ea typeface="Arial"/>
                <a:cs typeface="Arial"/>
                <a:sym typeface="Arial"/>
              </a:rPr>
              <a:t>https://www.enjoyalgorithms.com/blog/quick-sort-algorithm</a:t>
            </a:r>
            <a:endParaRPr sz="1000" dirty="0">
              <a:latin typeface="Arial"/>
              <a:ea typeface="Arial"/>
              <a:cs typeface="Arial"/>
              <a:sym typeface="Arial"/>
            </a:endParaRPr>
          </a:p>
          <a:p>
            <a:pPr marL="0" lvl="0" indent="0" algn="l" rtl="0">
              <a:spcBef>
                <a:spcPts val="0"/>
              </a:spcBef>
              <a:spcAft>
                <a:spcPts val="0"/>
              </a:spcAft>
              <a:buNone/>
            </a:pPr>
            <a:r>
              <a:rPr lang="en-US" sz="1000" dirty="0"/>
              <a:t> </a:t>
            </a:r>
            <a:endParaRPr sz="1000" dirty="0"/>
          </a:p>
        </p:txBody>
      </p:sp>
      <p:sp>
        <p:nvSpPr>
          <p:cNvPr id="296" name="Google Shape;296;g2791966677f_0_43:notes">
            <a:extLst>
              <a:ext uri="{FF2B5EF4-FFF2-40B4-BE49-F238E27FC236}">
                <a16:creationId xmlns:a16="http://schemas.microsoft.com/office/drawing/2014/main" id="{46616F3B-0E5B-BB81-0A1A-09BB99ACF011}"/>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Tree>
    <p:extLst>
      <p:ext uri="{BB962C8B-B14F-4D97-AF65-F5344CB8AC3E}">
        <p14:creationId xmlns:p14="http://schemas.microsoft.com/office/powerpoint/2010/main" val="31556763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a:extLst>
            <a:ext uri="{FF2B5EF4-FFF2-40B4-BE49-F238E27FC236}">
              <a16:creationId xmlns:a16="http://schemas.microsoft.com/office/drawing/2014/main" id="{D1AC088C-0600-3B46-285B-96545A8790BC}"/>
            </a:ext>
          </a:extLst>
        </p:cNvPr>
        <p:cNvGrpSpPr/>
        <p:nvPr/>
      </p:nvGrpSpPr>
      <p:grpSpPr>
        <a:xfrm>
          <a:off x="0" y="0"/>
          <a:ext cx="0" cy="0"/>
          <a:chOff x="0" y="0"/>
          <a:chExt cx="0" cy="0"/>
        </a:xfrm>
      </p:grpSpPr>
      <p:sp>
        <p:nvSpPr>
          <p:cNvPr id="359" name="Google Shape;359;g277de705e21_0_206:notes">
            <a:extLst>
              <a:ext uri="{FF2B5EF4-FFF2-40B4-BE49-F238E27FC236}">
                <a16:creationId xmlns:a16="http://schemas.microsoft.com/office/drawing/2014/main" id="{53719884-045B-6840-E411-512BEE1AC6F8}"/>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How will this change if pivot is the middle</a:t>
            </a:r>
            <a:endParaRPr/>
          </a:p>
        </p:txBody>
      </p:sp>
      <p:sp>
        <p:nvSpPr>
          <p:cNvPr id="360" name="Google Shape;360;g277de705e21_0_206:notes">
            <a:extLst>
              <a:ext uri="{FF2B5EF4-FFF2-40B4-BE49-F238E27FC236}">
                <a16:creationId xmlns:a16="http://schemas.microsoft.com/office/drawing/2014/main" id="{EB1441B0-4E25-C1A3-6024-BF43B3008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23737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Perfect! I've created a detailed step-by-step visualization for your specific example </a:t>
            </a:r>
            <a:r>
              <a:rPr lang="en-US" b="1" dirty="0"/>
              <a:t>[4, 3, 1, 2]</a:t>
            </a:r>
            <a:r>
              <a:rPr lang="en-US" dirty="0"/>
              <a:t> with pivot = 2 (last element).</a:t>
            </a:r>
          </a:p>
          <a:p>
            <a:r>
              <a:rPr lang="en-US" b="1" dirty="0"/>
              <a:t>Here's what happens:</a:t>
            </a:r>
            <a:endParaRPr lang="en-US" dirty="0"/>
          </a:p>
          <a:p>
            <a:r>
              <a:rPr lang="en-US" b="1" dirty="0"/>
              <a:t>Initial:</a:t>
            </a:r>
            <a:r>
              <a:rPr lang="en-US" dirty="0"/>
              <a:t> Pivot = 2, </a:t>
            </a:r>
            <a:r>
              <a:rPr lang="en-US" dirty="0" err="1"/>
              <a:t>boundaryIndex</a:t>
            </a:r>
            <a:r>
              <a:rPr lang="en-US" dirty="0"/>
              <a:t> = 0, loop from </a:t>
            </a:r>
            <a:r>
              <a:rPr lang="en-US" dirty="0" err="1"/>
              <a:t>i</a:t>
            </a:r>
            <a:r>
              <a:rPr lang="en-US" dirty="0"/>
              <a:t> = 0 to 2</a:t>
            </a:r>
          </a:p>
          <a:p>
            <a:r>
              <a:rPr lang="en-US" b="1" dirty="0"/>
              <a:t>Step 1:</a:t>
            </a:r>
            <a:r>
              <a:rPr lang="en-US" dirty="0"/>
              <a:t> Check </a:t>
            </a:r>
            <a:r>
              <a:rPr lang="en-US" dirty="0" err="1"/>
              <a:t>arr</a:t>
            </a:r>
            <a:r>
              <a:rPr lang="en-US" dirty="0"/>
              <a:t>[0] = 4. Since 4 ≥ 2, no swap, boundary stays at 0</a:t>
            </a:r>
          </a:p>
          <a:p>
            <a:r>
              <a:rPr lang="en-US" b="1" dirty="0"/>
              <a:t>Step 2:</a:t>
            </a:r>
            <a:r>
              <a:rPr lang="en-US" dirty="0"/>
              <a:t> Check </a:t>
            </a:r>
            <a:r>
              <a:rPr lang="en-US" dirty="0" err="1"/>
              <a:t>arr</a:t>
            </a:r>
            <a:r>
              <a:rPr lang="en-US" dirty="0"/>
              <a:t>[1] = 3. Since 3 ≥ 2, no swap, boundary stays at 0</a:t>
            </a:r>
          </a:p>
          <a:p>
            <a:r>
              <a:rPr lang="en-US" b="1" dirty="0"/>
              <a:t>Step 3:</a:t>
            </a:r>
            <a:r>
              <a:rPr lang="en-US" dirty="0"/>
              <a:t> Check </a:t>
            </a:r>
            <a:r>
              <a:rPr lang="en-US" dirty="0" err="1"/>
              <a:t>arr</a:t>
            </a:r>
            <a:r>
              <a:rPr lang="en-US" dirty="0"/>
              <a:t>[2] = 1. Since 1 &lt; 2, </a:t>
            </a:r>
            <a:r>
              <a:rPr lang="en-US" b="1" dirty="0"/>
              <a:t>swap </a:t>
            </a:r>
            <a:r>
              <a:rPr lang="en-US" b="1" dirty="0" err="1"/>
              <a:t>arr</a:t>
            </a:r>
            <a:r>
              <a:rPr lang="en-US" b="1" dirty="0"/>
              <a:t>[2] with </a:t>
            </a:r>
            <a:r>
              <a:rPr lang="en-US" b="1" dirty="0" err="1"/>
              <a:t>arr</a:t>
            </a:r>
            <a:r>
              <a:rPr lang="en-US" b="1" dirty="0"/>
              <a:t>[0]</a:t>
            </a:r>
            <a:r>
              <a:rPr lang="en-US" dirty="0"/>
              <a:t>, and boundary becomes 1</a:t>
            </a:r>
          </a:p>
          <a:p>
            <a:r>
              <a:rPr lang="en-US" dirty="0"/>
              <a:t>Array becomes: [1, 3, 4, 2]</a:t>
            </a:r>
          </a:p>
          <a:p>
            <a:r>
              <a:rPr lang="en-US" b="1" dirty="0"/>
              <a:t>Step 4:</a:t>
            </a:r>
            <a:r>
              <a:rPr lang="en-US" dirty="0"/>
              <a:t> Loop complete. Now swap pivot (at index 3) with </a:t>
            </a:r>
            <a:r>
              <a:rPr lang="en-US" dirty="0" err="1"/>
              <a:t>arr</a:t>
            </a:r>
            <a:r>
              <a:rPr lang="en-US" dirty="0"/>
              <a:t>[boundaryIndex-1] = </a:t>
            </a:r>
            <a:r>
              <a:rPr lang="en-US" dirty="0" err="1"/>
              <a:t>arr</a:t>
            </a:r>
            <a:r>
              <a:rPr lang="en-US" dirty="0"/>
              <a:t>[0]</a:t>
            </a:r>
          </a:p>
          <a:p>
            <a:r>
              <a:rPr lang="en-US" dirty="0"/>
              <a:t>Final swap: </a:t>
            </a:r>
            <a:r>
              <a:rPr lang="en-US" dirty="0" err="1"/>
              <a:t>arr</a:t>
            </a:r>
            <a:r>
              <a:rPr lang="en-US" dirty="0"/>
              <a:t>[3] ↔ </a:t>
            </a:r>
            <a:r>
              <a:rPr lang="en-US" dirty="0" err="1"/>
              <a:t>arr</a:t>
            </a:r>
            <a:r>
              <a:rPr lang="en-US" dirty="0"/>
              <a:t>[0]</a:t>
            </a:r>
          </a:p>
          <a:p>
            <a:r>
              <a:rPr lang="en-US" dirty="0"/>
              <a:t>Array becomes: [2, 3, 4, 1]</a:t>
            </a:r>
          </a:p>
          <a:p>
            <a:r>
              <a:rPr lang="en-US" b="1" dirty="0"/>
              <a:t>Result:</a:t>
            </a:r>
            <a:r>
              <a:rPr lang="en-US" dirty="0"/>
              <a:t> The pivot (2) is now at index 0 in its correct position! All elements to the right (3, 4, 1) are ≥ 2. The function returns 0 as the pivot's final index.</a:t>
            </a:r>
          </a:p>
          <a:p>
            <a:r>
              <a:rPr lang="en-US" dirty="0"/>
              <a:t>Note: In this case, the pivot ended up at the very beginning because only one element (1) was smaller than the pivot (2).</a:t>
            </a:r>
          </a:p>
          <a:p>
            <a:endParaRPr lang="en-US" dirty="0"/>
          </a:p>
        </p:txBody>
      </p:sp>
      <p:sp>
        <p:nvSpPr>
          <p:cNvPr id="4" name="Slide Number Placeholder 3"/>
          <p:cNvSpPr>
            <a:spLocks noGrp="1"/>
          </p:cNvSpPr>
          <p:nvPr>
            <p:ph type="sldNum" sz="quarter" idx="5"/>
          </p:nvPr>
        </p:nvSpPr>
        <p:spPr/>
        <p:txBody>
          <a:bodyPr/>
          <a:lstStyle/>
          <a:p>
            <a:fld id="{80A42B46-65B9-4B53-A88B-B399C78A3A76}" type="slidenum">
              <a:rPr lang="en-US" smtClean="0"/>
              <a:t>9</a:t>
            </a:fld>
            <a:endParaRPr lang="en-US"/>
          </a:p>
        </p:txBody>
      </p:sp>
    </p:spTree>
    <p:extLst>
      <p:ext uri="{BB962C8B-B14F-4D97-AF65-F5344CB8AC3E}">
        <p14:creationId xmlns:p14="http://schemas.microsoft.com/office/powerpoint/2010/main" val="31289804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a:extLst>
            <a:ext uri="{FF2B5EF4-FFF2-40B4-BE49-F238E27FC236}">
              <a16:creationId xmlns:a16="http://schemas.microsoft.com/office/drawing/2014/main" id="{C6E2F058-0D9E-3C83-77A8-3698681A5430}"/>
            </a:ext>
          </a:extLst>
        </p:cNvPr>
        <p:cNvGrpSpPr/>
        <p:nvPr/>
      </p:nvGrpSpPr>
      <p:grpSpPr>
        <a:xfrm>
          <a:off x="0" y="0"/>
          <a:ext cx="0" cy="0"/>
          <a:chOff x="0" y="0"/>
          <a:chExt cx="0" cy="0"/>
        </a:xfrm>
      </p:grpSpPr>
      <p:sp>
        <p:nvSpPr>
          <p:cNvPr id="419" name="Google Shape;419;g23b567092ca_0_272:notes">
            <a:extLst>
              <a:ext uri="{FF2B5EF4-FFF2-40B4-BE49-F238E27FC236}">
                <a16:creationId xmlns:a16="http://schemas.microsoft.com/office/drawing/2014/main" id="{1038A595-02A3-000F-ED8F-5491F0C69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0" name="Google Shape;420;g23b567092ca_0_272:notes">
            <a:extLst>
              <a:ext uri="{FF2B5EF4-FFF2-40B4-BE49-F238E27FC236}">
                <a16:creationId xmlns:a16="http://schemas.microsoft.com/office/drawing/2014/main" id="{9921BD51-FF74-B8A5-695D-703E3C84C674}"/>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25400" lvl="0" indent="-304800" algn="l" rtl="0">
              <a:lnSpc>
                <a:spcPct val="156250"/>
              </a:lnSpc>
              <a:spcBef>
                <a:spcPts val="1500"/>
              </a:spcBef>
              <a:spcAft>
                <a:spcPts val="0"/>
              </a:spcAft>
              <a:buClr>
                <a:schemeClr val="dk1"/>
              </a:buClr>
              <a:buSzPts val="1200"/>
              <a:buFont typeface="Arial"/>
              <a:buChar char="○"/>
            </a:pPr>
            <a:endParaRPr b="1" dirty="0">
              <a:highlight>
                <a:schemeClr val="lt1"/>
              </a:highlight>
              <a:latin typeface="Arial"/>
              <a:ea typeface="Arial"/>
              <a:cs typeface="Arial"/>
              <a:sym typeface="Arial"/>
            </a:endParaRPr>
          </a:p>
          <a:p>
            <a:pPr marL="457200" marR="25400" lvl="0" indent="-304800" algn="l" rtl="0">
              <a:lnSpc>
                <a:spcPct val="156250"/>
              </a:lnSpc>
              <a:spcBef>
                <a:spcPts val="0"/>
              </a:spcBef>
              <a:spcAft>
                <a:spcPts val="0"/>
              </a:spcAft>
              <a:buClr>
                <a:schemeClr val="dk1"/>
              </a:buClr>
              <a:buSzPts val="1200"/>
              <a:buFont typeface="Roboto"/>
              <a:buChar char="○"/>
            </a:pPr>
            <a:r>
              <a:rPr lang="en-US" b="1" dirty="0">
                <a:highlight>
                  <a:schemeClr val="lt1"/>
                </a:highlight>
                <a:latin typeface="Arial"/>
                <a:ea typeface="Arial"/>
                <a:cs typeface="Arial"/>
                <a:sym typeface="Arial"/>
              </a:rPr>
              <a:t>Best Case Complexity -</a:t>
            </a:r>
            <a:r>
              <a:rPr lang="en-US" dirty="0">
                <a:highlight>
                  <a:schemeClr val="lt1"/>
                </a:highlight>
                <a:latin typeface="Arial"/>
                <a:ea typeface="Arial"/>
                <a:cs typeface="Arial"/>
                <a:sym typeface="Arial"/>
              </a:rPr>
              <a:t> In Quicksort, the best-case occurs when the pivot element is the middle element or near to the middle element. The best-case time complexity of quicksort is </a:t>
            </a:r>
            <a:r>
              <a:rPr lang="en-US" b="1" dirty="0">
                <a:highlight>
                  <a:schemeClr val="lt1"/>
                </a:highlight>
                <a:latin typeface="Arial"/>
                <a:ea typeface="Arial"/>
                <a:cs typeface="Arial"/>
                <a:sym typeface="Arial"/>
              </a:rPr>
              <a:t>O(n*</a:t>
            </a:r>
            <a:r>
              <a:rPr lang="en-US" b="1" dirty="0" err="1">
                <a:highlight>
                  <a:schemeClr val="lt1"/>
                </a:highlight>
                <a:latin typeface="Arial"/>
                <a:ea typeface="Arial"/>
                <a:cs typeface="Arial"/>
                <a:sym typeface="Arial"/>
              </a:rPr>
              <a:t>logn</a:t>
            </a:r>
            <a:r>
              <a:rPr lang="en-US" b="1" dirty="0">
                <a:highlight>
                  <a:schemeClr val="lt1"/>
                </a:highlight>
                <a:latin typeface="Arial"/>
                <a:ea typeface="Arial"/>
                <a:cs typeface="Arial"/>
                <a:sym typeface="Arial"/>
              </a:rPr>
              <a:t>)</a:t>
            </a:r>
            <a:r>
              <a:rPr lang="en-US" dirty="0">
                <a:highlight>
                  <a:schemeClr val="lt1"/>
                </a:highlight>
                <a:latin typeface="Arial"/>
                <a:ea typeface="Arial"/>
                <a:cs typeface="Arial"/>
                <a:sym typeface="Arial"/>
              </a:rPr>
              <a:t>.</a:t>
            </a:r>
            <a:endParaRPr dirty="0">
              <a:highlight>
                <a:schemeClr val="lt1"/>
              </a:highlight>
              <a:latin typeface="Arial"/>
              <a:ea typeface="Arial"/>
              <a:cs typeface="Arial"/>
              <a:sym typeface="Arial"/>
            </a:endParaRPr>
          </a:p>
          <a:p>
            <a:pPr marL="457200" marR="25400" lvl="0" indent="-304800" algn="l" rtl="0">
              <a:lnSpc>
                <a:spcPct val="156250"/>
              </a:lnSpc>
              <a:spcBef>
                <a:spcPts val="0"/>
              </a:spcBef>
              <a:spcAft>
                <a:spcPts val="0"/>
              </a:spcAft>
              <a:buClr>
                <a:schemeClr val="dk1"/>
              </a:buClr>
              <a:buSzPts val="1200"/>
              <a:buFont typeface="Roboto"/>
              <a:buChar char="○"/>
            </a:pPr>
            <a:r>
              <a:rPr lang="en-US" b="1" dirty="0">
                <a:highlight>
                  <a:schemeClr val="lt1"/>
                </a:highlight>
                <a:latin typeface="Arial"/>
                <a:ea typeface="Arial"/>
                <a:cs typeface="Arial"/>
                <a:sym typeface="Arial"/>
              </a:rPr>
              <a:t>Worst Case Complexity -</a:t>
            </a:r>
            <a:r>
              <a:rPr lang="en-US" dirty="0">
                <a:highlight>
                  <a:schemeClr val="lt1"/>
                </a:highlight>
                <a:latin typeface="Arial"/>
                <a:ea typeface="Arial"/>
                <a:cs typeface="Arial"/>
                <a:sym typeface="Arial"/>
              </a:rPr>
              <a:t> In quick sort, worst case occurs when the pivot element is either greatest or smallest element. Suppose, if the pivot element is always the last element of the array, the worst case would occur when the given array is sorted already in ascending or descending order. The worst-case time complexity of quicksort is </a:t>
            </a:r>
            <a:r>
              <a:rPr lang="en-US" b="1" dirty="0">
                <a:highlight>
                  <a:schemeClr val="lt1"/>
                </a:highlight>
                <a:latin typeface="Arial"/>
                <a:ea typeface="Arial"/>
                <a:cs typeface="Arial"/>
                <a:sym typeface="Arial"/>
              </a:rPr>
              <a:t>O(n</a:t>
            </a:r>
            <a:r>
              <a:rPr lang="en-US" b="1" baseline="30000" dirty="0">
                <a:highlight>
                  <a:schemeClr val="lt1"/>
                </a:highlight>
                <a:latin typeface="Arial"/>
                <a:ea typeface="Arial"/>
                <a:cs typeface="Arial"/>
                <a:sym typeface="Arial"/>
              </a:rPr>
              <a:t>2</a:t>
            </a:r>
            <a:r>
              <a:rPr lang="en-US" b="1" dirty="0">
                <a:highlight>
                  <a:schemeClr val="lt1"/>
                </a:highlight>
                <a:latin typeface="Arial"/>
                <a:ea typeface="Arial"/>
                <a:cs typeface="Arial"/>
                <a:sym typeface="Arial"/>
              </a:rPr>
              <a:t>)</a:t>
            </a:r>
            <a:r>
              <a:rPr lang="en-US" dirty="0">
                <a:highlight>
                  <a:schemeClr val="lt1"/>
                </a:highlight>
                <a:latin typeface="Arial"/>
                <a:ea typeface="Arial"/>
                <a:cs typeface="Arial"/>
                <a:sym typeface="Arial"/>
              </a:rPr>
              <a:t>.</a:t>
            </a:r>
            <a:endParaRPr dirty="0">
              <a:highlight>
                <a:schemeClr val="lt1"/>
              </a:highlight>
              <a:latin typeface="Arial"/>
              <a:ea typeface="Arial"/>
              <a:cs typeface="Arial"/>
              <a:sym typeface="Arial"/>
            </a:endParaRPr>
          </a:p>
          <a:p>
            <a:pPr marL="457200" lvl="0" indent="-304800" algn="l" rtl="0">
              <a:lnSpc>
                <a:spcPct val="218181"/>
              </a:lnSpc>
              <a:spcBef>
                <a:spcPts val="0"/>
              </a:spcBef>
              <a:spcAft>
                <a:spcPts val="0"/>
              </a:spcAft>
              <a:buClr>
                <a:srgbClr val="242424"/>
              </a:buClr>
              <a:buSzPts val="1200"/>
              <a:buFont typeface="Arial"/>
              <a:buChar char="○"/>
            </a:pPr>
            <a:r>
              <a:rPr lang="en-US" dirty="0">
                <a:solidFill>
                  <a:srgbClr val="242424"/>
                </a:solidFill>
                <a:highlight>
                  <a:srgbClr val="FFFFFF"/>
                </a:highlight>
                <a:latin typeface="Arial"/>
                <a:ea typeface="Arial"/>
                <a:cs typeface="Arial"/>
                <a:sym typeface="Arial"/>
              </a:rPr>
              <a:t>When the pivot element is the largest or smallest, or when all of the components have the same size. The performance of the quicksort is significantly impacted by these worst-case scenarios.</a:t>
            </a:r>
            <a:endParaRPr dirty="0">
              <a:solidFill>
                <a:srgbClr val="242424"/>
              </a:solidFill>
              <a:highlight>
                <a:srgbClr val="FFFFFF"/>
              </a:highlight>
              <a:latin typeface="Arial"/>
              <a:ea typeface="Arial"/>
              <a:cs typeface="Arial"/>
              <a:sym typeface="Arial"/>
            </a:endParaRPr>
          </a:p>
          <a:p>
            <a:pPr marL="0" marR="25400" lvl="0" indent="0" algn="l" rtl="0">
              <a:lnSpc>
                <a:spcPct val="156250"/>
              </a:lnSpc>
              <a:spcBef>
                <a:spcPts val="1500"/>
              </a:spcBef>
              <a:spcAft>
                <a:spcPts val="0"/>
              </a:spcAft>
              <a:buNone/>
            </a:pPr>
            <a:endParaRPr dirty="0">
              <a:highlight>
                <a:schemeClr val="lt1"/>
              </a:highlight>
              <a:latin typeface="Arial"/>
              <a:ea typeface="Arial"/>
              <a:cs typeface="Arial"/>
              <a:sym typeface="Arial"/>
            </a:endParaRPr>
          </a:p>
          <a:p>
            <a:pPr marL="0" marR="25400" lvl="0" indent="0" algn="l" rtl="0">
              <a:lnSpc>
                <a:spcPct val="156250"/>
              </a:lnSpc>
              <a:spcBef>
                <a:spcPts val="1500"/>
              </a:spcBef>
              <a:spcAft>
                <a:spcPts val="1200"/>
              </a:spcAft>
              <a:buNone/>
            </a:pPr>
            <a:endParaRPr dirty="0">
              <a:highlight>
                <a:schemeClr val="lt1"/>
              </a:highlight>
              <a:latin typeface="Arial"/>
              <a:ea typeface="Arial"/>
              <a:cs typeface="Arial"/>
              <a:sym typeface="Arial"/>
            </a:endParaRPr>
          </a:p>
        </p:txBody>
      </p:sp>
      <p:sp>
        <p:nvSpPr>
          <p:cNvPr id="421" name="Google Shape;421;g23b567092ca_0_272:notes">
            <a:extLst>
              <a:ext uri="{FF2B5EF4-FFF2-40B4-BE49-F238E27FC236}">
                <a16:creationId xmlns:a16="http://schemas.microsoft.com/office/drawing/2014/main" id="{F4EC0AC4-C6BF-9A20-BF40-6F8C31CF1604}"/>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12</a:t>
            </a:fld>
            <a:endParaRPr/>
          </a:p>
        </p:txBody>
      </p:sp>
    </p:spTree>
    <p:extLst>
      <p:ext uri="{BB962C8B-B14F-4D97-AF65-F5344CB8AC3E}">
        <p14:creationId xmlns:p14="http://schemas.microsoft.com/office/powerpoint/2010/main" val="41556727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6A1AF-0E5F-5FCA-BC06-6908FC87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39E3A8-DCF6-C912-4307-F95ADEABB6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28528E5-AB04-D753-C15B-99F421D15E47}"/>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5B69BBC2-5BA5-86D8-5AD5-3110C4123E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21CBC0-D123-6CF2-93F9-2C1B3534A904}"/>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4620321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465B7-A65C-DED3-56D4-1D4F05E626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ED5156-72B3-074C-E0F4-5D1DF8FE93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AC4911-70FD-008B-98B7-370BA0083E92}"/>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075BF1C8-D548-9840-17FF-D944E658C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DE6027-9E68-020E-A262-335058FF99FD}"/>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1802681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56BBC-8DC8-0DBF-4DE8-D89D025668D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2DF736C-D392-3204-2DB1-A9150C0921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575C20-DC42-75BA-8BAA-0696E5AAAB82}"/>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25B7D900-D911-E7D6-406C-B796844859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2023C3-1199-55BB-15B2-BBFC5D9C6121}"/>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3727731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58BD5-BCBE-51DE-569F-86E7AD816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2826F16-FA6C-0575-1C42-935EFBE26E9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3D3B0-CDD0-CF34-FA4D-A9E9F8817D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C54E230-BFD6-C614-D999-0808CDE9923C}"/>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6" name="Footer Placeholder 5">
            <a:extLst>
              <a:ext uri="{FF2B5EF4-FFF2-40B4-BE49-F238E27FC236}">
                <a16:creationId xmlns:a16="http://schemas.microsoft.com/office/drawing/2014/main" id="{7780E93B-19B0-1FBB-B638-238AE67150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CAF152-9DC6-C6F2-889E-30F96FDC65AA}"/>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14676034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7F654-04B4-55CC-9C94-6C26245A385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0267FE-C811-479A-9279-1A39AF6E00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37D1BB-923A-C7E1-F392-FFEFDA32F07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BDF495-24A3-DC0A-BA80-2A0EFF1ED0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D67537-FB35-71CC-17F3-BCDA51C639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44F9576-99A9-4FE1-DBB3-43A44CE9E9CC}"/>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8" name="Footer Placeholder 7">
            <a:extLst>
              <a:ext uri="{FF2B5EF4-FFF2-40B4-BE49-F238E27FC236}">
                <a16:creationId xmlns:a16="http://schemas.microsoft.com/office/drawing/2014/main" id="{80D51316-64A4-F3D6-0DCA-7C05AB51DBD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69E98B6-B888-A601-0996-E74405EF958E}"/>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3719016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E2CBB5-0A96-8C59-E88B-03D2E9C48C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BBA89E3-DE9C-84F1-BF99-9BF32DA64511}"/>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4" name="Footer Placeholder 3">
            <a:extLst>
              <a:ext uri="{FF2B5EF4-FFF2-40B4-BE49-F238E27FC236}">
                <a16:creationId xmlns:a16="http://schemas.microsoft.com/office/drawing/2014/main" id="{8C6049EF-B6CF-327A-0C38-599CA090355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2AD4B29-928B-C8AA-0A3A-7C38577CB074}"/>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6494343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CBEDC1-1C50-04E7-0C69-36B51AC2E278}"/>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3" name="Footer Placeholder 2">
            <a:extLst>
              <a:ext uri="{FF2B5EF4-FFF2-40B4-BE49-F238E27FC236}">
                <a16:creationId xmlns:a16="http://schemas.microsoft.com/office/drawing/2014/main" id="{5D1F3F3F-EFE4-C7D7-2A7E-5FF9FEF890C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9BBD434-1486-53DC-F64F-BEC88C86B53A}"/>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5934208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6BE30-CBB1-9A82-0874-C12B2103BA2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B4ED159-A917-7B0E-CA29-26017B024E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D949EBA-2739-009F-BEE7-D0F23ADB43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7FF240-AD0F-1CD0-470A-64F4D4D53EC3}"/>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6" name="Footer Placeholder 5">
            <a:extLst>
              <a:ext uri="{FF2B5EF4-FFF2-40B4-BE49-F238E27FC236}">
                <a16:creationId xmlns:a16="http://schemas.microsoft.com/office/drawing/2014/main" id="{E2EFC9A7-84E9-31DF-9623-BAAB571477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6B0646-9CE8-0348-7192-57AEED77261F}"/>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3556520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8953-E1B4-5C33-FE18-A884B8B5FB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ECFAE02-C093-2C18-B00D-F08FF72D088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BC0ADB-1606-1087-CBFB-0ACFE1693C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E090B1-225A-4AA7-AF3D-7F631C427F57}"/>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6" name="Footer Placeholder 5">
            <a:extLst>
              <a:ext uri="{FF2B5EF4-FFF2-40B4-BE49-F238E27FC236}">
                <a16:creationId xmlns:a16="http://schemas.microsoft.com/office/drawing/2014/main" id="{7A0B1AEC-F75A-C4F6-DE5D-CA04218805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09FF60-B020-E7A6-D6E1-E688544239EB}"/>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28464835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323E-1A7C-5D1B-1D2E-5F73939F7CD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459DCB-F41B-B2CE-507C-1DF1A1CD07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6E750F-265E-04A6-54BA-BAF0E935067A}"/>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A1489168-2C72-5949-C187-47FE4ECD22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30F84D-76E6-F197-CE05-7149FCDB47A1}"/>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5576530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81024B-C865-0F43-4C4A-8B28D3365D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A089DE7-C89C-4E43-F964-F09023A4C4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318F82C-D0A1-5FD0-0059-FDAB8EBAA2DD}"/>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88CF7AA8-108E-2D8F-44AE-199049D3D6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0ABE19-663F-60DC-1AE5-E0E0C81D8B7E}"/>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38527941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158C15-9BD3-277C-8303-7268CC8FCE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9AA9ED9-BAAD-BCED-1935-EF3FDE5185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A952DD-822B-DFAD-6445-C00726CA2B6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11495CEF-BB03-D7E8-D75C-E3FEE6A5258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4BB5F32-91AA-DB29-EFFD-367874CDDE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41FBAA3-F1ED-44FF-8A57-E2EF522AB64E}" type="slidenum">
              <a:rPr lang="en-US" smtClean="0"/>
              <a:t>‹#›</a:t>
            </a:fld>
            <a:endParaRPr lang="en-US"/>
          </a:p>
        </p:txBody>
      </p:sp>
    </p:spTree>
    <p:extLst>
      <p:ext uri="{BB962C8B-B14F-4D97-AF65-F5344CB8AC3E}">
        <p14:creationId xmlns:p14="http://schemas.microsoft.com/office/powerpoint/2010/main" val="1464339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54D1103-0D4B-8E2A-CFC4-0626525B6043}"/>
              </a:ext>
            </a:extLst>
          </p:cNvPr>
          <p:cNvSpPr>
            <a:spLocks noGrp="1"/>
          </p:cNvSpPr>
          <p:nvPr>
            <p:ph type="ctrTitle"/>
          </p:nvPr>
        </p:nvSpPr>
        <p:spPr>
          <a:xfrm>
            <a:off x="1524000" y="1122363"/>
            <a:ext cx="9144000" cy="1654393"/>
          </a:xfrm>
        </p:spPr>
        <p:txBody>
          <a:bodyPr/>
          <a:lstStyle/>
          <a:p>
            <a:r>
              <a:rPr lang="en-US" b="1" dirty="0">
                <a:solidFill>
                  <a:srgbClr val="C00000"/>
                </a:solidFill>
              </a:rPr>
              <a:t>Searching Algorithms</a:t>
            </a:r>
          </a:p>
        </p:txBody>
      </p:sp>
      <p:pic>
        <p:nvPicPr>
          <p:cNvPr id="3074" name="Picture 2" descr="Understanding Searching Algorithms in C++: Guide to Linear and Binary Search  | by Rishabh Singh | Medium">
            <a:extLst>
              <a:ext uri="{FF2B5EF4-FFF2-40B4-BE49-F238E27FC236}">
                <a16:creationId xmlns:a16="http://schemas.microsoft.com/office/drawing/2014/main" id="{3622E48C-8DCA-F806-BD90-4C56B79DD8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8889" r="48591"/>
          <a:stretch>
            <a:fillRect/>
          </a:stretch>
        </p:blipFill>
        <p:spPr bwMode="auto">
          <a:xfrm>
            <a:off x="4377391" y="2873187"/>
            <a:ext cx="3315335" cy="36172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166538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653E5-1AEE-7897-EAF9-4D9C241E23FF}"/>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7EE1EE0C-DF0C-68CF-0F6D-CC301E6EB962}"/>
              </a:ext>
            </a:extLst>
          </p:cNvPr>
          <p:cNvSpPr txBox="1">
            <a:spLocks/>
          </p:cNvSpPr>
          <p:nvPr/>
        </p:nvSpPr>
        <p:spPr>
          <a:xfrm>
            <a:off x="838200" y="260757"/>
            <a:ext cx="10515600" cy="85738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latin typeface="Whitney-Light" panose="02000603040000020003" pitchFamily="2" charset="0"/>
              </a:rPr>
              <a:t>Linear Search </a:t>
            </a:r>
            <a:endParaRPr lang="en-US" b="1" dirty="0"/>
          </a:p>
        </p:txBody>
      </p:sp>
      <p:cxnSp>
        <p:nvCxnSpPr>
          <p:cNvPr id="4" name="Straight Connector 3">
            <a:extLst>
              <a:ext uri="{FF2B5EF4-FFF2-40B4-BE49-F238E27FC236}">
                <a16:creationId xmlns:a16="http://schemas.microsoft.com/office/drawing/2014/main" id="{6A06E46B-171D-1325-F153-60812233A1F6}"/>
              </a:ext>
            </a:extLst>
          </p:cNvPr>
          <p:cNvCxnSpPr>
            <a:cxnSpLocks/>
          </p:cNvCxnSpPr>
          <p:nvPr/>
        </p:nvCxnSpPr>
        <p:spPr>
          <a:xfrm>
            <a:off x="838200" y="1146354"/>
            <a:ext cx="10372041" cy="0"/>
          </a:xfrm>
          <a:prstGeom prst="line">
            <a:avLst/>
          </a:prstGeom>
          <a:ln w="38100">
            <a:solidFill>
              <a:srgbClr val="C00000"/>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64BF1810-E954-76D8-98A8-73ED279674BC}"/>
              </a:ext>
            </a:extLst>
          </p:cNvPr>
          <p:cNvPicPr>
            <a:picLocks noChangeAspect="1"/>
          </p:cNvPicPr>
          <p:nvPr/>
        </p:nvPicPr>
        <p:blipFill>
          <a:blip r:embed="rId3"/>
          <a:stretch>
            <a:fillRect/>
          </a:stretch>
        </p:blipFill>
        <p:spPr>
          <a:xfrm>
            <a:off x="2393498" y="1323962"/>
            <a:ext cx="7405003" cy="5363555"/>
          </a:xfrm>
          <a:prstGeom prst="rect">
            <a:avLst/>
          </a:prstGeom>
        </p:spPr>
      </p:pic>
      <p:sp>
        <p:nvSpPr>
          <p:cNvPr id="9" name="Rectangle 8">
            <a:extLst>
              <a:ext uri="{FF2B5EF4-FFF2-40B4-BE49-F238E27FC236}">
                <a16:creationId xmlns:a16="http://schemas.microsoft.com/office/drawing/2014/main" id="{4CC8005E-8E42-6273-2F17-4D1DB520E38E}"/>
              </a:ext>
            </a:extLst>
          </p:cNvPr>
          <p:cNvSpPr/>
          <p:nvPr/>
        </p:nvSpPr>
        <p:spPr>
          <a:xfrm>
            <a:off x="6261410" y="6330672"/>
            <a:ext cx="1678258" cy="3568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CEB5D6EB-E259-C9D7-1CDE-91E0884032BB}"/>
              </a:ext>
            </a:extLst>
          </p:cNvPr>
          <p:cNvPicPr>
            <a:picLocks noChangeAspect="1"/>
          </p:cNvPicPr>
          <p:nvPr/>
        </p:nvPicPr>
        <p:blipFill>
          <a:blip r:embed="rId3"/>
          <a:srcRect l="86167" t="17971" r="3292" b="46685"/>
          <a:stretch>
            <a:fillRect/>
          </a:stretch>
        </p:blipFill>
        <p:spPr>
          <a:xfrm rot="5400000">
            <a:off x="7838820" y="3847782"/>
            <a:ext cx="382269" cy="2762320"/>
          </a:xfrm>
          <a:prstGeom prst="rect">
            <a:avLst/>
          </a:prstGeom>
        </p:spPr>
      </p:pic>
    </p:spTree>
    <p:extLst>
      <p:ext uri="{BB962C8B-B14F-4D97-AF65-F5344CB8AC3E}">
        <p14:creationId xmlns:p14="http://schemas.microsoft.com/office/powerpoint/2010/main" val="2179830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5720E-BFC9-55D1-01A7-62295ABF98B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EF4D794-A4A1-F088-3580-B0B3892C7925}"/>
              </a:ext>
            </a:extLst>
          </p:cNvPr>
          <p:cNvSpPr txBox="1">
            <a:spLocks/>
          </p:cNvSpPr>
          <p:nvPr/>
        </p:nvSpPr>
        <p:spPr>
          <a:xfrm>
            <a:off x="838200" y="260757"/>
            <a:ext cx="10515600" cy="85738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latin typeface="Whitney-Light" panose="02000603040000020003" pitchFamily="2" charset="0"/>
              </a:rPr>
              <a:t>Binary Search (Example 1)</a:t>
            </a:r>
            <a:endParaRPr lang="en-US" b="1" dirty="0"/>
          </a:p>
        </p:txBody>
      </p:sp>
      <p:cxnSp>
        <p:nvCxnSpPr>
          <p:cNvPr id="4" name="Straight Connector 3">
            <a:extLst>
              <a:ext uri="{FF2B5EF4-FFF2-40B4-BE49-F238E27FC236}">
                <a16:creationId xmlns:a16="http://schemas.microsoft.com/office/drawing/2014/main" id="{1A53226E-01E6-DF62-543F-AF78496683B7}"/>
              </a:ext>
            </a:extLst>
          </p:cNvPr>
          <p:cNvCxnSpPr>
            <a:cxnSpLocks/>
          </p:cNvCxnSpPr>
          <p:nvPr/>
        </p:nvCxnSpPr>
        <p:spPr>
          <a:xfrm>
            <a:off x="838200" y="1146354"/>
            <a:ext cx="10372041" cy="0"/>
          </a:xfrm>
          <a:prstGeom prst="line">
            <a:avLst/>
          </a:prstGeom>
          <a:ln w="38100">
            <a:solidFill>
              <a:srgbClr val="C00000"/>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49A6B18B-8EDF-9574-B373-B75A77C9452B}"/>
              </a:ext>
            </a:extLst>
          </p:cNvPr>
          <p:cNvPicPr>
            <a:picLocks noChangeAspect="1"/>
          </p:cNvPicPr>
          <p:nvPr/>
        </p:nvPicPr>
        <p:blipFill>
          <a:blip r:embed="rId3"/>
          <a:stretch>
            <a:fillRect/>
          </a:stretch>
        </p:blipFill>
        <p:spPr>
          <a:xfrm>
            <a:off x="2288799" y="1356627"/>
            <a:ext cx="7299486" cy="5010594"/>
          </a:xfrm>
          <a:prstGeom prst="rect">
            <a:avLst/>
          </a:prstGeom>
        </p:spPr>
      </p:pic>
      <p:sp>
        <p:nvSpPr>
          <p:cNvPr id="9" name="Rectangle 8">
            <a:extLst>
              <a:ext uri="{FF2B5EF4-FFF2-40B4-BE49-F238E27FC236}">
                <a16:creationId xmlns:a16="http://schemas.microsoft.com/office/drawing/2014/main" id="{407E37ED-C2CA-24EE-9264-6F3772299B7D}"/>
              </a:ext>
            </a:extLst>
          </p:cNvPr>
          <p:cNvSpPr/>
          <p:nvPr/>
        </p:nvSpPr>
        <p:spPr>
          <a:xfrm>
            <a:off x="2457356" y="2732074"/>
            <a:ext cx="419450" cy="160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rgbClr val="FF0000"/>
                </a:solidFill>
              </a:rPr>
              <a:t>low</a:t>
            </a:r>
          </a:p>
        </p:txBody>
      </p:sp>
      <p:sp>
        <p:nvSpPr>
          <p:cNvPr id="10" name="Rectangle 9">
            <a:extLst>
              <a:ext uri="{FF2B5EF4-FFF2-40B4-BE49-F238E27FC236}">
                <a16:creationId xmlns:a16="http://schemas.microsoft.com/office/drawing/2014/main" id="{9065556E-3FCA-2BFF-DADD-1BD3877E4A3C}"/>
              </a:ext>
            </a:extLst>
          </p:cNvPr>
          <p:cNvSpPr/>
          <p:nvPr/>
        </p:nvSpPr>
        <p:spPr>
          <a:xfrm>
            <a:off x="5563299" y="2719150"/>
            <a:ext cx="485164" cy="160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rgbClr val="FF0000"/>
                </a:solidFill>
              </a:rPr>
              <a:t>high</a:t>
            </a:r>
          </a:p>
        </p:txBody>
      </p:sp>
      <p:sp>
        <p:nvSpPr>
          <p:cNvPr id="12" name="Rectangle 11">
            <a:extLst>
              <a:ext uri="{FF2B5EF4-FFF2-40B4-BE49-F238E27FC236}">
                <a16:creationId xmlns:a16="http://schemas.microsoft.com/office/drawing/2014/main" id="{12BB1F9C-7163-B364-7441-0EBE4120868B}"/>
              </a:ext>
            </a:extLst>
          </p:cNvPr>
          <p:cNvSpPr/>
          <p:nvPr/>
        </p:nvSpPr>
        <p:spPr>
          <a:xfrm>
            <a:off x="4396611" y="4079558"/>
            <a:ext cx="419450" cy="160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accent6">
                    <a:lumMod val="75000"/>
                  </a:schemeClr>
                </a:solidFill>
              </a:rPr>
              <a:t>low</a:t>
            </a:r>
          </a:p>
        </p:txBody>
      </p:sp>
      <p:sp>
        <p:nvSpPr>
          <p:cNvPr id="13" name="Rectangle 12">
            <a:extLst>
              <a:ext uri="{FF2B5EF4-FFF2-40B4-BE49-F238E27FC236}">
                <a16:creationId xmlns:a16="http://schemas.microsoft.com/office/drawing/2014/main" id="{E316A0DB-5E9B-7561-E3C1-BE969CDBE3C3}"/>
              </a:ext>
            </a:extLst>
          </p:cNvPr>
          <p:cNvSpPr/>
          <p:nvPr/>
        </p:nvSpPr>
        <p:spPr>
          <a:xfrm>
            <a:off x="5610836" y="4094597"/>
            <a:ext cx="485164" cy="160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accent6">
                    <a:lumMod val="75000"/>
                  </a:schemeClr>
                </a:solidFill>
              </a:rPr>
              <a:t>high</a:t>
            </a:r>
          </a:p>
        </p:txBody>
      </p:sp>
    </p:spTree>
    <p:extLst>
      <p:ext uri="{BB962C8B-B14F-4D97-AF65-F5344CB8AC3E}">
        <p14:creationId xmlns:p14="http://schemas.microsoft.com/office/powerpoint/2010/main" val="2542242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8590D-5767-17DE-DED9-271D34CEEDCC}"/>
            </a:ext>
          </a:extLst>
        </p:cNvPr>
        <p:cNvGrpSpPr/>
        <p:nvPr/>
      </p:nvGrpSpPr>
      <p:grpSpPr>
        <a:xfrm>
          <a:off x="0" y="0"/>
          <a:ext cx="0" cy="0"/>
          <a:chOff x="0" y="0"/>
          <a:chExt cx="0" cy="0"/>
        </a:xfrm>
      </p:grpSpPr>
      <p:pic>
        <p:nvPicPr>
          <p:cNvPr id="42" name="Picture 41">
            <a:extLst>
              <a:ext uri="{FF2B5EF4-FFF2-40B4-BE49-F238E27FC236}">
                <a16:creationId xmlns:a16="http://schemas.microsoft.com/office/drawing/2014/main" id="{F9783C55-16FD-CC8B-C318-87E3530A3452}"/>
              </a:ext>
            </a:extLst>
          </p:cNvPr>
          <p:cNvPicPr>
            <a:picLocks noChangeAspect="1"/>
          </p:cNvPicPr>
          <p:nvPr/>
        </p:nvPicPr>
        <p:blipFill>
          <a:blip r:embed="rId3"/>
          <a:stretch>
            <a:fillRect/>
          </a:stretch>
        </p:blipFill>
        <p:spPr>
          <a:xfrm>
            <a:off x="5649846" y="1297344"/>
            <a:ext cx="5330944" cy="5467892"/>
          </a:xfrm>
          <a:prstGeom prst="rect">
            <a:avLst/>
          </a:prstGeom>
        </p:spPr>
      </p:pic>
      <p:sp>
        <p:nvSpPr>
          <p:cNvPr id="3" name="Title 1">
            <a:extLst>
              <a:ext uri="{FF2B5EF4-FFF2-40B4-BE49-F238E27FC236}">
                <a16:creationId xmlns:a16="http://schemas.microsoft.com/office/drawing/2014/main" id="{E3A258DA-EE1F-DC0B-B548-8A171B460A3E}"/>
              </a:ext>
            </a:extLst>
          </p:cNvPr>
          <p:cNvSpPr txBox="1">
            <a:spLocks/>
          </p:cNvSpPr>
          <p:nvPr/>
        </p:nvSpPr>
        <p:spPr>
          <a:xfrm>
            <a:off x="838200" y="260757"/>
            <a:ext cx="10515600" cy="85738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latin typeface="Whitney-Light" panose="02000603040000020003" pitchFamily="2" charset="0"/>
              </a:rPr>
              <a:t>Binary Search (Example 2) </a:t>
            </a:r>
            <a:endParaRPr lang="en-US" b="1" dirty="0"/>
          </a:p>
        </p:txBody>
      </p:sp>
      <p:cxnSp>
        <p:nvCxnSpPr>
          <p:cNvPr id="4" name="Straight Connector 3">
            <a:extLst>
              <a:ext uri="{FF2B5EF4-FFF2-40B4-BE49-F238E27FC236}">
                <a16:creationId xmlns:a16="http://schemas.microsoft.com/office/drawing/2014/main" id="{2A313F5C-2F14-591B-EBB5-BB17CF2517B9}"/>
              </a:ext>
            </a:extLst>
          </p:cNvPr>
          <p:cNvCxnSpPr>
            <a:cxnSpLocks/>
          </p:cNvCxnSpPr>
          <p:nvPr/>
        </p:nvCxnSpPr>
        <p:spPr>
          <a:xfrm>
            <a:off x="838200" y="1146354"/>
            <a:ext cx="10372041" cy="0"/>
          </a:xfrm>
          <a:prstGeom prst="line">
            <a:avLst/>
          </a:prstGeom>
          <a:ln w="38100">
            <a:solidFill>
              <a:srgbClr val="C00000"/>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E137C8A2-7B5F-C968-2CF2-036ACA3CFC15}"/>
              </a:ext>
            </a:extLst>
          </p:cNvPr>
          <p:cNvPicPr>
            <a:picLocks noChangeAspect="1"/>
          </p:cNvPicPr>
          <p:nvPr/>
        </p:nvPicPr>
        <p:blipFill>
          <a:blip r:embed="rId4"/>
          <a:stretch>
            <a:fillRect/>
          </a:stretch>
        </p:blipFill>
        <p:spPr>
          <a:xfrm>
            <a:off x="949739" y="2016501"/>
            <a:ext cx="4422376" cy="3234515"/>
          </a:xfrm>
          <a:prstGeom prst="rect">
            <a:avLst/>
          </a:prstGeom>
        </p:spPr>
      </p:pic>
      <p:pic>
        <p:nvPicPr>
          <p:cNvPr id="27" name="Picture 26">
            <a:extLst>
              <a:ext uri="{FF2B5EF4-FFF2-40B4-BE49-F238E27FC236}">
                <a16:creationId xmlns:a16="http://schemas.microsoft.com/office/drawing/2014/main" id="{0E4FA2DB-2D36-1355-C2CA-8AD47831AD27}"/>
              </a:ext>
            </a:extLst>
          </p:cNvPr>
          <p:cNvPicPr>
            <a:picLocks noChangeAspect="1"/>
          </p:cNvPicPr>
          <p:nvPr/>
        </p:nvPicPr>
        <p:blipFill>
          <a:blip r:embed="rId5"/>
          <a:srcRect l="81258" t="4559" r="-1423" b="89160"/>
          <a:stretch>
            <a:fillRect/>
          </a:stretch>
        </p:blipFill>
        <p:spPr>
          <a:xfrm>
            <a:off x="9384107" y="1919319"/>
            <a:ext cx="1391478" cy="346765"/>
          </a:xfrm>
          <a:prstGeom prst="rect">
            <a:avLst/>
          </a:prstGeom>
        </p:spPr>
      </p:pic>
      <p:pic>
        <p:nvPicPr>
          <p:cNvPr id="28" name="Picture 27">
            <a:extLst>
              <a:ext uri="{FF2B5EF4-FFF2-40B4-BE49-F238E27FC236}">
                <a16:creationId xmlns:a16="http://schemas.microsoft.com/office/drawing/2014/main" id="{F27CC91C-4652-499F-3288-52B8C7D46B63}"/>
              </a:ext>
            </a:extLst>
          </p:cNvPr>
          <p:cNvPicPr>
            <a:picLocks noChangeAspect="1"/>
          </p:cNvPicPr>
          <p:nvPr/>
        </p:nvPicPr>
        <p:blipFill>
          <a:blip r:embed="rId5"/>
          <a:srcRect l="81258" t="4559" r="706" b="89160"/>
          <a:stretch>
            <a:fillRect/>
          </a:stretch>
        </p:blipFill>
        <p:spPr>
          <a:xfrm>
            <a:off x="9557788" y="2054094"/>
            <a:ext cx="1303688" cy="346765"/>
          </a:xfrm>
          <a:prstGeom prst="rect">
            <a:avLst/>
          </a:prstGeom>
        </p:spPr>
      </p:pic>
      <p:pic>
        <p:nvPicPr>
          <p:cNvPr id="29" name="Picture 28">
            <a:extLst>
              <a:ext uri="{FF2B5EF4-FFF2-40B4-BE49-F238E27FC236}">
                <a16:creationId xmlns:a16="http://schemas.microsoft.com/office/drawing/2014/main" id="{FA7E8BAD-D7E1-0E80-AF29-3733C57DD1D4}"/>
              </a:ext>
            </a:extLst>
          </p:cNvPr>
          <p:cNvPicPr>
            <a:picLocks noChangeAspect="1"/>
          </p:cNvPicPr>
          <p:nvPr/>
        </p:nvPicPr>
        <p:blipFill>
          <a:blip r:embed="rId5"/>
          <a:srcRect l="81258" t="4559" r="-1423" b="89160"/>
          <a:stretch>
            <a:fillRect/>
          </a:stretch>
        </p:blipFill>
        <p:spPr>
          <a:xfrm>
            <a:off x="9402817" y="2936314"/>
            <a:ext cx="1503017" cy="492686"/>
          </a:xfrm>
          <a:prstGeom prst="rect">
            <a:avLst/>
          </a:prstGeom>
        </p:spPr>
      </p:pic>
      <p:pic>
        <p:nvPicPr>
          <p:cNvPr id="30" name="Picture 29">
            <a:extLst>
              <a:ext uri="{FF2B5EF4-FFF2-40B4-BE49-F238E27FC236}">
                <a16:creationId xmlns:a16="http://schemas.microsoft.com/office/drawing/2014/main" id="{A140C575-D0C5-0AD3-2793-2724081FBB0B}"/>
              </a:ext>
            </a:extLst>
          </p:cNvPr>
          <p:cNvPicPr>
            <a:picLocks noChangeAspect="1"/>
          </p:cNvPicPr>
          <p:nvPr/>
        </p:nvPicPr>
        <p:blipFill>
          <a:blip r:embed="rId5"/>
          <a:srcRect l="81258" t="4559" r="-1423" b="89160"/>
          <a:stretch>
            <a:fillRect/>
          </a:stretch>
        </p:blipFill>
        <p:spPr>
          <a:xfrm>
            <a:off x="9469998" y="4005478"/>
            <a:ext cx="1391478" cy="482813"/>
          </a:xfrm>
          <a:prstGeom prst="rect">
            <a:avLst/>
          </a:prstGeom>
        </p:spPr>
      </p:pic>
      <p:pic>
        <p:nvPicPr>
          <p:cNvPr id="36" name="Picture 35">
            <a:extLst>
              <a:ext uri="{FF2B5EF4-FFF2-40B4-BE49-F238E27FC236}">
                <a16:creationId xmlns:a16="http://schemas.microsoft.com/office/drawing/2014/main" id="{D5A27932-4DCD-E313-5457-16E9B58D10FF}"/>
              </a:ext>
            </a:extLst>
          </p:cNvPr>
          <p:cNvPicPr>
            <a:picLocks noChangeAspect="1"/>
          </p:cNvPicPr>
          <p:nvPr/>
        </p:nvPicPr>
        <p:blipFill>
          <a:blip r:embed="rId6"/>
          <a:stretch>
            <a:fillRect/>
          </a:stretch>
        </p:blipFill>
        <p:spPr>
          <a:xfrm>
            <a:off x="7323887" y="2734711"/>
            <a:ext cx="1117747" cy="236962"/>
          </a:xfrm>
          <a:prstGeom prst="rect">
            <a:avLst/>
          </a:prstGeom>
        </p:spPr>
      </p:pic>
      <p:sp>
        <p:nvSpPr>
          <p:cNvPr id="23" name="TextBox 22">
            <a:extLst>
              <a:ext uri="{FF2B5EF4-FFF2-40B4-BE49-F238E27FC236}">
                <a16:creationId xmlns:a16="http://schemas.microsoft.com/office/drawing/2014/main" id="{D7DF5C1C-C5E1-7A51-561A-456BBE8A6E1B}"/>
              </a:ext>
            </a:extLst>
          </p:cNvPr>
          <p:cNvSpPr txBox="1"/>
          <p:nvPr/>
        </p:nvSpPr>
        <p:spPr>
          <a:xfrm>
            <a:off x="9713563" y="3003720"/>
            <a:ext cx="732566" cy="307777"/>
          </a:xfrm>
          <a:prstGeom prst="rect">
            <a:avLst/>
          </a:prstGeom>
          <a:noFill/>
        </p:spPr>
        <p:txBody>
          <a:bodyPr wrap="square" rtlCol="0">
            <a:spAutoFit/>
          </a:bodyPr>
          <a:lstStyle/>
          <a:p>
            <a:r>
              <a:rPr lang="en-US" sz="1400" b="1" dirty="0">
                <a:solidFill>
                  <a:schemeClr val="tx1">
                    <a:lumMod val="50000"/>
                    <a:lumOff val="50000"/>
                  </a:schemeClr>
                </a:solidFill>
              </a:rPr>
              <a:t>37 &lt; </a:t>
            </a:r>
            <a:r>
              <a:rPr lang="en-US" sz="1400" b="1" dirty="0">
                <a:solidFill>
                  <a:srgbClr val="FF0000"/>
                </a:solidFill>
              </a:rPr>
              <a:t>68</a:t>
            </a:r>
          </a:p>
        </p:txBody>
      </p:sp>
      <p:sp>
        <p:nvSpPr>
          <p:cNvPr id="22" name="TextBox 21">
            <a:extLst>
              <a:ext uri="{FF2B5EF4-FFF2-40B4-BE49-F238E27FC236}">
                <a16:creationId xmlns:a16="http://schemas.microsoft.com/office/drawing/2014/main" id="{1E0629EE-84BE-3535-2D23-5F394F0455CE}"/>
              </a:ext>
            </a:extLst>
          </p:cNvPr>
          <p:cNvSpPr txBox="1"/>
          <p:nvPr/>
        </p:nvSpPr>
        <p:spPr>
          <a:xfrm>
            <a:off x="9664322" y="2025694"/>
            <a:ext cx="732566" cy="307777"/>
          </a:xfrm>
          <a:prstGeom prst="rect">
            <a:avLst/>
          </a:prstGeom>
          <a:noFill/>
        </p:spPr>
        <p:txBody>
          <a:bodyPr wrap="square" rtlCol="0">
            <a:spAutoFit/>
          </a:bodyPr>
          <a:lstStyle/>
          <a:p>
            <a:r>
              <a:rPr lang="en-US" sz="1400" b="1" dirty="0">
                <a:solidFill>
                  <a:schemeClr val="tx1">
                    <a:lumMod val="50000"/>
                    <a:lumOff val="50000"/>
                  </a:schemeClr>
                </a:solidFill>
              </a:rPr>
              <a:t>37 &gt; </a:t>
            </a:r>
            <a:r>
              <a:rPr lang="en-US" sz="1400" b="1" dirty="0">
                <a:solidFill>
                  <a:srgbClr val="FF0000"/>
                </a:solidFill>
              </a:rPr>
              <a:t>35</a:t>
            </a:r>
          </a:p>
        </p:txBody>
      </p:sp>
      <p:pic>
        <p:nvPicPr>
          <p:cNvPr id="38" name="Picture 37">
            <a:extLst>
              <a:ext uri="{FF2B5EF4-FFF2-40B4-BE49-F238E27FC236}">
                <a16:creationId xmlns:a16="http://schemas.microsoft.com/office/drawing/2014/main" id="{6A88F60E-0738-C107-E89B-6461F467E6AB}"/>
              </a:ext>
            </a:extLst>
          </p:cNvPr>
          <p:cNvPicPr>
            <a:picLocks noChangeAspect="1"/>
          </p:cNvPicPr>
          <p:nvPr/>
        </p:nvPicPr>
        <p:blipFill>
          <a:blip r:embed="rId7"/>
          <a:stretch>
            <a:fillRect/>
          </a:stretch>
        </p:blipFill>
        <p:spPr>
          <a:xfrm>
            <a:off x="7659119" y="3784518"/>
            <a:ext cx="1117747" cy="203620"/>
          </a:xfrm>
          <a:prstGeom prst="rect">
            <a:avLst/>
          </a:prstGeom>
        </p:spPr>
      </p:pic>
      <p:sp>
        <p:nvSpPr>
          <p:cNvPr id="24" name="TextBox 23">
            <a:extLst>
              <a:ext uri="{FF2B5EF4-FFF2-40B4-BE49-F238E27FC236}">
                <a16:creationId xmlns:a16="http://schemas.microsoft.com/office/drawing/2014/main" id="{927F01D5-B79B-8A5A-4988-139BBCBCC9AB}"/>
              </a:ext>
            </a:extLst>
          </p:cNvPr>
          <p:cNvSpPr txBox="1"/>
          <p:nvPr/>
        </p:nvSpPr>
        <p:spPr>
          <a:xfrm>
            <a:off x="9737610" y="3964455"/>
            <a:ext cx="732566" cy="307777"/>
          </a:xfrm>
          <a:prstGeom prst="rect">
            <a:avLst/>
          </a:prstGeom>
          <a:noFill/>
        </p:spPr>
        <p:txBody>
          <a:bodyPr wrap="square" rtlCol="0">
            <a:spAutoFit/>
          </a:bodyPr>
          <a:lstStyle/>
          <a:p>
            <a:r>
              <a:rPr lang="en-US" sz="1400" b="1" dirty="0">
                <a:solidFill>
                  <a:schemeClr val="tx1">
                    <a:lumMod val="50000"/>
                    <a:lumOff val="50000"/>
                  </a:schemeClr>
                </a:solidFill>
              </a:rPr>
              <a:t>37 &lt; </a:t>
            </a:r>
            <a:r>
              <a:rPr lang="en-US" sz="1400" b="1" dirty="0">
                <a:solidFill>
                  <a:srgbClr val="FF0000"/>
                </a:solidFill>
              </a:rPr>
              <a:t>51</a:t>
            </a:r>
          </a:p>
        </p:txBody>
      </p:sp>
      <p:pic>
        <p:nvPicPr>
          <p:cNvPr id="43" name="Picture 42">
            <a:extLst>
              <a:ext uri="{FF2B5EF4-FFF2-40B4-BE49-F238E27FC236}">
                <a16:creationId xmlns:a16="http://schemas.microsoft.com/office/drawing/2014/main" id="{0D672062-D8A3-C4EF-9F0A-C433EEEE9524}"/>
              </a:ext>
            </a:extLst>
          </p:cNvPr>
          <p:cNvPicPr>
            <a:picLocks noChangeAspect="1"/>
          </p:cNvPicPr>
          <p:nvPr/>
        </p:nvPicPr>
        <p:blipFill>
          <a:blip r:embed="rId5"/>
          <a:srcRect l="81258" t="4559" r="-1423" b="89160"/>
          <a:stretch>
            <a:fillRect/>
          </a:stretch>
        </p:blipFill>
        <p:spPr>
          <a:xfrm>
            <a:off x="9514355" y="5009609"/>
            <a:ext cx="1423105" cy="482813"/>
          </a:xfrm>
          <a:prstGeom prst="rect">
            <a:avLst/>
          </a:prstGeom>
        </p:spPr>
      </p:pic>
      <p:sp>
        <p:nvSpPr>
          <p:cNvPr id="44" name="TextBox 43">
            <a:extLst>
              <a:ext uri="{FF2B5EF4-FFF2-40B4-BE49-F238E27FC236}">
                <a16:creationId xmlns:a16="http://schemas.microsoft.com/office/drawing/2014/main" id="{B72AF409-4A0A-25D6-9993-CD0BC783A9E7}"/>
              </a:ext>
            </a:extLst>
          </p:cNvPr>
          <p:cNvSpPr txBox="1"/>
          <p:nvPr/>
        </p:nvSpPr>
        <p:spPr>
          <a:xfrm>
            <a:off x="9781968" y="4968586"/>
            <a:ext cx="732566" cy="307777"/>
          </a:xfrm>
          <a:prstGeom prst="rect">
            <a:avLst/>
          </a:prstGeom>
          <a:noFill/>
        </p:spPr>
        <p:txBody>
          <a:bodyPr wrap="square" rtlCol="0">
            <a:spAutoFit/>
          </a:bodyPr>
          <a:lstStyle/>
          <a:p>
            <a:r>
              <a:rPr lang="en-US" sz="1400" b="1" dirty="0">
                <a:solidFill>
                  <a:schemeClr val="tx1">
                    <a:lumMod val="50000"/>
                    <a:lumOff val="50000"/>
                  </a:schemeClr>
                </a:solidFill>
              </a:rPr>
              <a:t>37 &lt; </a:t>
            </a:r>
            <a:r>
              <a:rPr lang="en-US" sz="1400" b="1" dirty="0">
                <a:solidFill>
                  <a:srgbClr val="FF0000"/>
                </a:solidFill>
              </a:rPr>
              <a:t>42</a:t>
            </a:r>
          </a:p>
        </p:txBody>
      </p:sp>
      <p:pic>
        <p:nvPicPr>
          <p:cNvPr id="45" name="Picture 44">
            <a:extLst>
              <a:ext uri="{FF2B5EF4-FFF2-40B4-BE49-F238E27FC236}">
                <a16:creationId xmlns:a16="http://schemas.microsoft.com/office/drawing/2014/main" id="{09839DC2-E05E-B5D0-B3A4-D2144DEEF93A}"/>
              </a:ext>
            </a:extLst>
          </p:cNvPr>
          <p:cNvPicPr>
            <a:picLocks noChangeAspect="1"/>
          </p:cNvPicPr>
          <p:nvPr/>
        </p:nvPicPr>
        <p:blipFill>
          <a:blip r:embed="rId3"/>
          <a:srcRect l="9405" t="45991" r="68884" b="51300"/>
          <a:stretch>
            <a:fillRect/>
          </a:stretch>
        </p:blipFill>
        <p:spPr>
          <a:xfrm>
            <a:off x="9542885" y="4479633"/>
            <a:ext cx="968299" cy="123937"/>
          </a:xfrm>
          <a:prstGeom prst="rect">
            <a:avLst/>
          </a:prstGeom>
        </p:spPr>
      </p:pic>
      <p:pic>
        <p:nvPicPr>
          <p:cNvPr id="46" name="Picture 45">
            <a:extLst>
              <a:ext uri="{FF2B5EF4-FFF2-40B4-BE49-F238E27FC236}">
                <a16:creationId xmlns:a16="http://schemas.microsoft.com/office/drawing/2014/main" id="{6816B801-9FB1-5BB0-A82D-1B8BEB369804}"/>
              </a:ext>
            </a:extLst>
          </p:cNvPr>
          <p:cNvPicPr>
            <a:picLocks noChangeAspect="1"/>
          </p:cNvPicPr>
          <p:nvPr/>
        </p:nvPicPr>
        <p:blipFill>
          <a:blip r:embed="rId3"/>
          <a:srcRect l="71806" t="83469" r="12955" b="14190"/>
          <a:stretch>
            <a:fillRect/>
          </a:stretch>
        </p:blipFill>
        <p:spPr>
          <a:xfrm>
            <a:off x="9497828" y="4624514"/>
            <a:ext cx="812363" cy="128013"/>
          </a:xfrm>
          <a:prstGeom prst="rect">
            <a:avLst/>
          </a:prstGeom>
        </p:spPr>
      </p:pic>
      <p:pic>
        <p:nvPicPr>
          <p:cNvPr id="48" name="Picture 47">
            <a:extLst>
              <a:ext uri="{FF2B5EF4-FFF2-40B4-BE49-F238E27FC236}">
                <a16:creationId xmlns:a16="http://schemas.microsoft.com/office/drawing/2014/main" id="{64D32500-C5CC-28D8-3C56-F5EB56F6758C}"/>
              </a:ext>
            </a:extLst>
          </p:cNvPr>
          <p:cNvPicPr>
            <a:picLocks noChangeAspect="1"/>
          </p:cNvPicPr>
          <p:nvPr/>
        </p:nvPicPr>
        <p:blipFill>
          <a:blip r:embed="rId3"/>
          <a:srcRect l="73655" t="86572" r="19416" b="10999"/>
          <a:stretch>
            <a:fillRect/>
          </a:stretch>
        </p:blipFill>
        <p:spPr>
          <a:xfrm>
            <a:off x="9940810" y="4649631"/>
            <a:ext cx="369381" cy="132812"/>
          </a:xfrm>
          <a:prstGeom prst="rect">
            <a:avLst/>
          </a:prstGeom>
        </p:spPr>
      </p:pic>
    </p:spTree>
    <p:extLst>
      <p:ext uri="{BB962C8B-B14F-4D97-AF65-F5344CB8AC3E}">
        <p14:creationId xmlns:p14="http://schemas.microsoft.com/office/powerpoint/2010/main" val="11773476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13C12-AC4D-C41E-3CFA-2AB5584D06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A5E06-BF59-FC21-5AF7-FFB0BBC1C792}"/>
              </a:ext>
            </a:extLst>
          </p:cNvPr>
          <p:cNvSpPr>
            <a:spLocks noGrp="1"/>
          </p:cNvSpPr>
          <p:nvPr>
            <p:ph type="ctrTitle"/>
          </p:nvPr>
        </p:nvSpPr>
        <p:spPr>
          <a:xfrm>
            <a:off x="1524000" y="1122363"/>
            <a:ext cx="9144000" cy="1654393"/>
          </a:xfrm>
        </p:spPr>
        <p:txBody>
          <a:bodyPr/>
          <a:lstStyle/>
          <a:p>
            <a:r>
              <a:rPr lang="en-US" b="1" dirty="0">
                <a:solidFill>
                  <a:srgbClr val="C00000"/>
                </a:solidFill>
              </a:rPr>
              <a:t>Sorting</a:t>
            </a:r>
          </a:p>
        </p:txBody>
      </p:sp>
      <p:pic>
        <p:nvPicPr>
          <p:cNvPr id="2052" name="Picture 4" descr="Sorting | Sorting in C | Types of sorting | C sorting algorithm">
            <a:extLst>
              <a:ext uri="{FF2B5EF4-FFF2-40B4-BE49-F238E27FC236}">
                <a16:creationId xmlns:a16="http://schemas.microsoft.com/office/drawing/2014/main" id="{0953FE93-5386-3748-6907-BB963547EA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5443" y="2875920"/>
            <a:ext cx="5398083" cy="29478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09994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pic>
        <p:nvPicPr>
          <p:cNvPr id="299" name="Google Shape;299;g2791966677f_0_43"/>
          <p:cNvPicPr preferRelativeResize="0"/>
          <p:nvPr/>
        </p:nvPicPr>
        <p:blipFill rotWithShape="1">
          <a:blip r:embed="rId3">
            <a:alphaModFix/>
          </a:blip>
          <a:srcRect l="18822" r="15911" b="86476"/>
          <a:stretch/>
        </p:blipFill>
        <p:spPr>
          <a:xfrm>
            <a:off x="2656275" y="1752325"/>
            <a:ext cx="6302602" cy="712926"/>
          </a:xfrm>
          <a:prstGeom prst="rect">
            <a:avLst/>
          </a:prstGeom>
          <a:noFill/>
          <a:ln>
            <a:noFill/>
          </a:ln>
        </p:spPr>
      </p:pic>
      <p:pic>
        <p:nvPicPr>
          <p:cNvPr id="300" name="Google Shape;300;g2791966677f_0_43"/>
          <p:cNvPicPr preferRelativeResize="0"/>
          <p:nvPr/>
        </p:nvPicPr>
        <p:blipFill rotWithShape="1">
          <a:blip r:embed="rId3">
            <a:alphaModFix/>
          </a:blip>
          <a:srcRect t="13617" b="68313"/>
          <a:stretch>
            <a:fillRect/>
          </a:stretch>
        </p:blipFill>
        <p:spPr>
          <a:xfrm>
            <a:off x="1650875" y="2465250"/>
            <a:ext cx="8465577" cy="835075"/>
          </a:xfrm>
          <a:prstGeom prst="rect">
            <a:avLst/>
          </a:prstGeom>
          <a:noFill/>
          <a:ln>
            <a:noFill/>
          </a:ln>
        </p:spPr>
      </p:pic>
      <p:pic>
        <p:nvPicPr>
          <p:cNvPr id="301" name="Google Shape;301;g2791966677f_0_43"/>
          <p:cNvPicPr preferRelativeResize="0"/>
          <p:nvPr/>
        </p:nvPicPr>
        <p:blipFill rotWithShape="1">
          <a:blip r:embed="rId3">
            <a:alphaModFix/>
          </a:blip>
          <a:srcRect t="33001" r="55634" b="48566"/>
          <a:stretch>
            <a:fillRect/>
          </a:stretch>
        </p:blipFill>
        <p:spPr>
          <a:xfrm>
            <a:off x="2519126" y="3320705"/>
            <a:ext cx="2985472" cy="692416"/>
          </a:xfrm>
          <a:prstGeom prst="rect">
            <a:avLst/>
          </a:prstGeom>
          <a:noFill/>
          <a:ln>
            <a:noFill/>
          </a:ln>
        </p:spPr>
      </p:pic>
      <p:pic>
        <p:nvPicPr>
          <p:cNvPr id="302" name="Google Shape;302;g2791966677f_0_43"/>
          <p:cNvPicPr preferRelativeResize="0"/>
          <p:nvPr/>
        </p:nvPicPr>
        <p:blipFill rotWithShape="1">
          <a:blip r:embed="rId3">
            <a:alphaModFix/>
          </a:blip>
          <a:srcRect l="24761" t="51277" r="56242" b="30536"/>
          <a:stretch>
            <a:fillRect/>
          </a:stretch>
        </p:blipFill>
        <p:spPr>
          <a:xfrm>
            <a:off x="4185313" y="4013122"/>
            <a:ext cx="1278341" cy="683196"/>
          </a:xfrm>
          <a:prstGeom prst="rect">
            <a:avLst/>
          </a:prstGeom>
          <a:noFill/>
          <a:ln>
            <a:noFill/>
          </a:ln>
        </p:spPr>
      </p:pic>
      <p:sp>
        <p:nvSpPr>
          <p:cNvPr id="304" name="Google Shape;304;g2791966677f_0_43"/>
          <p:cNvSpPr txBox="1"/>
          <p:nvPr/>
        </p:nvSpPr>
        <p:spPr>
          <a:xfrm>
            <a:off x="1786950" y="2781025"/>
            <a:ext cx="1388400" cy="51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latin typeface="Calibri"/>
              <a:ea typeface="Calibri"/>
              <a:cs typeface="Calibri"/>
              <a:sym typeface="Calibri"/>
            </a:endParaRPr>
          </a:p>
        </p:txBody>
      </p:sp>
      <p:sp>
        <p:nvSpPr>
          <p:cNvPr id="305" name="Google Shape;305;g2791966677f_0_43"/>
          <p:cNvSpPr txBox="1"/>
          <p:nvPr/>
        </p:nvSpPr>
        <p:spPr>
          <a:xfrm>
            <a:off x="362225" y="1744614"/>
            <a:ext cx="2547600" cy="807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0, 10) &gt;&gt;</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a:solidFill>
                  <a:srgbClr val="38761D"/>
                </a:solidFill>
                <a:latin typeface="Calibri"/>
                <a:ea typeface="Calibri"/>
                <a:cs typeface="Calibri"/>
                <a:sym typeface="Calibri"/>
              </a:rPr>
              <a:t>pivot index=4</a:t>
            </a:r>
            <a:endParaRPr sz="2000" dirty="0">
              <a:solidFill>
                <a:srgbClr val="38761D"/>
              </a:solidFill>
              <a:latin typeface="Calibri"/>
              <a:ea typeface="Calibri"/>
              <a:cs typeface="Calibri"/>
              <a:sym typeface="Calibri"/>
            </a:endParaRPr>
          </a:p>
        </p:txBody>
      </p:sp>
      <p:sp>
        <p:nvSpPr>
          <p:cNvPr id="306" name="Google Shape;306;g2791966677f_0_43"/>
          <p:cNvSpPr txBox="1"/>
          <p:nvPr/>
        </p:nvSpPr>
        <p:spPr>
          <a:xfrm>
            <a:off x="4822200" y="1390213"/>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0, 10)</a:t>
            </a:r>
            <a:endParaRPr sz="2000" dirty="0">
              <a:solidFill>
                <a:srgbClr val="4A86E8"/>
              </a:solidFill>
              <a:latin typeface="Calibri"/>
              <a:ea typeface="Calibri"/>
              <a:cs typeface="Calibri"/>
              <a:sym typeface="Calibri"/>
            </a:endParaRPr>
          </a:p>
        </p:txBody>
      </p:sp>
      <p:sp>
        <p:nvSpPr>
          <p:cNvPr id="307" name="Google Shape;307;g2791966677f_0_43"/>
          <p:cNvSpPr txBox="1"/>
          <p:nvPr/>
        </p:nvSpPr>
        <p:spPr>
          <a:xfrm>
            <a:off x="362225" y="2417263"/>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0, 3)</a:t>
            </a:r>
            <a:endParaRPr sz="2000" dirty="0">
              <a:solidFill>
                <a:srgbClr val="4A86E8"/>
              </a:solidFill>
              <a:latin typeface="Calibri"/>
              <a:ea typeface="Calibri"/>
              <a:cs typeface="Calibri"/>
              <a:sym typeface="Calibri"/>
            </a:endParaRPr>
          </a:p>
        </p:txBody>
      </p:sp>
      <p:sp>
        <p:nvSpPr>
          <p:cNvPr id="309" name="Google Shape;309;g2791966677f_0_43"/>
          <p:cNvSpPr txBox="1"/>
          <p:nvPr/>
        </p:nvSpPr>
        <p:spPr>
          <a:xfrm>
            <a:off x="362225" y="2872714"/>
            <a:ext cx="2547600" cy="807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0, 3)</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a:solidFill>
                  <a:srgbClr val="38761D"/>
                </a:solidFill>
                <a:latin typeface="Calibri"/>
                <a:ea typeface="Calibri"/>
                <a:cs typeface="Calibri"/>
                <a:sym typeface="Calibri"/>
              </a:rPr>
              <a:t>pivot index= 1</a:t>
            </a:r>
            <a:endParaRPr sz="2000" dirty="0">
              <a:solidFill>
                <a:srgbClr val="38761D"/>
              </a:solidFill>
              <a:latin typeface="Calibri"/>
              <a:ea typeface="Calibri"/>
              <a:cs typeface="Calibri"/>
              <a:sym typeface="Calibri"/>
            </a:endParaRPr>
          </a:p>
        </p:txBody>
      </p:sp>
      <p:sp>
        <p:nvSpPr>
          <p:cNvPr id="310" name="Google Shape;310;g2791966677f_0_43"/>
          <p:cNvSpPr txBox="1"/>
          <p:nvPr/>
        </p:nvSpPr>
        <p:spPr>
          <a:xfrm>
            <a:off x="253350" y="3643238"/>
            <a:ext cx="29220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0, 0) -DONE</a:t>
            </a:r>
            <a:endParaRPr sz="2000" dirty="0">
              <a:solidFill>
                <a:srgbClr val="FF0000"/>
              </a:solidFill>
              <a:latin typeface="Calibri"/>
              <a:ea typeface="Calibri"/>
              <a:cs typeface="Calibri"/>
              <a:sym typeface="Calibri"/>
            </a:endParaRPr>
          </a:p>
        </p:txBody>
      </p:sp>
      <p:sp>
        <p:nvSpPr>
          <p:cNvPr id="311" name="Google Shape;311;g2791966677f_0_43"/>
          <p:cNvSpPr txBox="1"/>
          <p:nvPr/>
        </p:nvSpPr>
        <p:spPr>
          <a:xfrm>
            <a:off x="253350" y="4153220"/>
            <a:ext cx="2547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2, 3)</a:t>
            </a:r>
            <a:endParaRPr sz="2000" dirty="0">
              <a:solidFill>
                <a:srgbClr val="4A86E8"/>
              </a:solidFill>
              <a:latin typeface="Calibri"/>
              <a:ea typeface="Calibri"/>
              <a:cs typeface="Calibri"/>
              <a:sym typeface="Calibri"/>
            </a:endParaRPr>
          </a:p>
        </p:txBody>
      </p:sp>
      <p:sp>
        <p:nvSpPr>
          <p:cNvPr id="312" name="Google Shape;312;g2791966677f_0_43"/>
          <p:cNvSpPr txBox="1"/>
          <p:nvPr/>
        </p:nvSpPr>
        <p:spPr>
          <a:xfrm>
            <a:off x="313925" y="4610629"/>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2, 3)</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err="1">
                <a:solidFill>
                  <a:srgbClr val="38761D"/>
                </a:solidFill>
                <a:latin typeface="Calibri"/>
                <a:ea typeface="Calibri"/>
                <a:cs typeface="Calibri"/>
                <a:sym typeface="Calibri"/>
              </a:rPr>
              <a:t>PivotIndex</a:t>
            </a:r>
            <a:r>
              <a:rPr lang="en-US" sz="2000" dirty="0">
                <a:solidFill>
                  <a:srgbClr val="38761D"/>
                </a:solidFill>
                <a:latin typeface="Calibri"/>
                <a:ea typeface="Calibri"/>
                <a:cs typeface="Calibri"/>
                <a:sym typeface="Calibri"/>
              </a:rPr>
              <a:t>= 2</a:t>
            </a:r>
            <a:endParaRPr sz="2000" dirty="0">
              <a:solidFill>
                <a:srgbClr val="38761D"/>
              </a:solidFill>
              <a:latin typeface="Calibri"/>
              <a:ea typeface="Calibri"/>
              <a:cs typeface="Calibri"/>
              <a:sym typeface="Calibri"/>
            </a:endParaRPr>
          </a:p>
        </p:txBody>
      </p:sp>
      <p:sp>
        <p:nvSpPr>
          <p:cNvPr id="313" name="Google Shape;313;g2791966677f_0_43"/>
          <p:cNvSpPr txBox="1"/>
          <p:nvPr/>
        </p:nvSpPr>
        <p:spPr>
          <a:xfrm>
            <a:off x="228450" y="5323425"/>
            <a:ext cx="28194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2, 1) - DONE</a:t>
            </a:r>
            <a:endParaRPr sz="2000" dirty="0">
              <a:solidFill>
                <a:srgbClr val="FF0000"/>
              </a:solidFill>
              <a:latin typeface="Calibri"/>
              <a:ea typeface="Calibri"/>
              <a:cs typeface="Calibri"/>
              <a:sym typeface="Calibri"/>
            </a:endParaRPr>
          </a:p>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3, 3)- DONE</a:t>
            </a:r>
            <a:endParaRPr sz="2000" dirty="0">
              <a:solidFill>
                <a:srgbClr val="FF0000"/>
              </a:solidFill>
              <a:latin typeface="Calibri"/>
              <a:ea typeface="Calibri"/>
              <a:cs typeface="Calibri"/>
              <a:sym typeface="Calibri"/>
            </a:endParaRPr>
          </a:p>
        </p:txBody>
      </p:sp>
      <p:sp>
        <p:nvSpPr>
          <p:cNvPr id="314" name="Google Shape;314;g2791966677f_0_43"/>
          <p:cNvSpPr txBox="1"/>
          <p:nvPr/>
        </p:nvSpPr>
        <p:spPr>
          <a:xfrm>
            <a:off x="3289718" y="6113563"/>
            <a:ext cx="5427032" cy="44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b="1" dirty="0">
                <a:highlight>
                  <a:srgbClr val="FFF2CC"/>
                </a:highlight>
                <a:latin typeface="Calibri"/>
                <a:ea typeface="Calibri"/>
                <a:cs typeface="Calibri"/>
                <a:sym typeface="Calibri"/>
              </a:rPr>
              <a:t>Note</a:t>
            </a:r>
            <a:r>
              <a:rPr lang="en-US" dirty="0">
                <a:highlight>
                  <a:srgbClr val="FFF2CC"/>
                </a:highlight>
                <a:latin typeface="Calibri"/>
                <a:ea typeface="Calibri"/>
                <a:cs typeface="Calibri"/>
                <a:sym typeface="Calibri"/>
              </a:rPr>
              <a:t>: Pivot chosen to be the right most element</a:t>
            </a:r>
            <a:endParaRPr dirty="0">
              <a:highlight>
                <a:srgbClr val="FFF2CC"/>
              </a:highlight>
              <a:latin typeface="Calibri"/>
              <a:ea typeface="Calibri"/>
              <a:cs typeface="Calibri"/>
              <a:sym typeface="Calibri"/>
            </a:endParaRPr>
          </a:p>
        </p:txBody>
      </p:sp>
      <p:sp>
        <p:nvSpPr>
          <p:cNvPr id="6" name="Title 2">
            <a:extLst>
              <a:ext uri="{FF2B5EF4-FFF2-40B4-BE49-F238E27FC236}">
                <a16:creationId xmlns:a16="http://schemas.microsoft.com/office/drawing/2014/main" id="{884FD232-2A26-C34B-841A-1CBBB551683C}"/>
              </a:ext>
            </a:extLst>
          </p:cNvPr>
          <p:cNvSpPr txBox="1">
            <a:spLocks/>
          </p:cNvSpPr>
          <p:nvPr/>
        </p:nvSpPr>
        <p:spPr>
          <a:xfrm>
            <a:off x="838200" y="846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rPr>
              <a:t>Quick Sort: </a:t>
            </a:r>
            <a:r>
              <a:rPr lang="en-US" dirty="0">
                <a:solidFill>
                  <a:srgbClr val="C00000"/>
                </a:solidFill>
              </a:rPr>
              <a:t>Example</a:t>
            </a:r>
            <a:endParaRPr lang="en-US" dirty="0"/>
          </a:p>
        </p:txBody>
      </p:sp>
      <p:pic>
        <p:nvPicPr>
          <p:cNvPr id="8" name="Picture 7">
            <a:extLst>
              <a:ext uri="{FF2B5EF4-FFF2-40B4-BE49-F238E27FC236}">
                <a16:creationId xmlns:a16="http://schemas.microsoft.com/office/drawing/2014/main" id="{2F979FEC-494F-7862-8B76-EA395785AC78}"/>
              </a:ext>
            </a:extLst>
          </p:cNvPr>
          <p:cNvPicPr>
            <a:picLocks noChangeAspect="1"/>
          </p:cNvPicPr>
          <p:nvPr/>
        </p:nvPicPr>
        <p:blipFill>
          <a:blip r:embed="rId4"/>
          <a:stretch>
            <a:fillRect/>
          </a:stretch>
        </p:blipFill>
        <p:spPr>
          <a:xfrm>
            <a:off x="6323463" y="84650"/>
            <a:ext cx="5690164" cy="111615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aphicFrame>
        <p:nvGraphicFramePr>
          <p:cNvPr id="10" name="Google Shape;357;g2791966677f_0_79">
            <a:extLst>
              <a:ext uri="{FF2B5EF4-FFF2-40B4-BE49-F238E27FC236}">
                <a16:creationId xmlns:a16="http://schemas.microsoft.com/office/drawing/2014/main" id="{74935FCD-A008-FB3C-4485-4A5EB106860D}"/>
              </a:ext>
            </a:extLst>
          </p:cNvPr>
          <p:cNvGraphicFramePr/>
          <p:nvPr>
            <p:extLst>
              <p:ext uri="{D42A27DB-BD31-4B8C-83A1-F6EECF244321}">
                <p14:modId xmlns:p14="http://schemas.microsoft.com/office/powerpoint/2010/main" val="1605351255"/>
              </p:ext>
            </p:extLst>
          </p:nvPr>
        </p:nvGraphicFramePr>
        <p:xfrm>
          <a:off x="3382484" y="5448187"/>
          <a:ext cx="5241500" cy="457170"/>
        </p:xfrm>
        <a:graphic>
          <a:graphicData uri="http://schemas.openxmlformats.org/drawingml/2006/table">
            <a:tbl>
              <a:tblPr>
                <a:noFill/>
              </a:tblPr>
              <a:tblGrid>
                <a:gridCol w="476500">
                  <a:extLst>
                    <a:ext uri="{9D8B030D-6E8A-4147-A177-3AD203B41FA5}">
                      <a16:colId xmlns:a16="http://schemas.microsoft.com/office/drawing/2014/main" val="20000"/>
                    </a:ext>
                  </a:extLst>
                </a:gridCol>
                <a:gridCol w="476500">
                  <a:extLst>
                    <a:ext uri="{9D8B030D-6E8A-4147-A177-3AD203B41FA5}">
                      <a16:colId xmlns:a16="http://schemas.microsoft.com/office/drawing/2014/main" val="20001"/>
                    </a:ext>
                  </a:extLst>
                </a:gridCol>
                <a:gridCol w="476500">
                  <a:extLst>
                    <a:ext uri="{9D8B030D-6E8A-4147-A177-3AD203B41FA5}">
                      <a16:colId xmlns:a16="http://schemas.microsoft.com/office/drawing/2014/main" val="20002"/>
                    </a:ext>
                  </a:extLst>
                </a:gridCol>
                <a:gridCol w="476500">
                  <a:extLst>
                    <a:ext uri="{9D8B030D-6E8A-4147-A177-3AD203B41FA5}">
                      <a16:colId xmlns:a16="http://schemas.microsoft.com/office/drawing/2014/main" val="20003"/>
                    </a:ext>
                  </a:extLst>
                </a:gridCol>
                <a:gridCol w="476500">
                  <a:extLst>
                    <a:ext uri="{9D8B030D-6E8A-4147-A177-3AD203B41FA5}">
                      <a16:colId xmlns:a16="http://schemas.microsoft.com/office/drawing/2014/main" val="20004"/>
                    </a:ext>
                  </a:extLst>
                </a:gridCol>
                <a:gridCol w="476500">
                  <a:extLst>
                    <a:ext uri="{9D8B030D-6E8A-4147-A177-3AD203B41FA5}">
                      <a16:colId xmlns:a16="http://schemas.microsoft.com/office/drawing/2014/main" val="20005"/>
                    </a:ext>
                  </a:extLst>
                </a:gridCol>
                <a:gridCol w="476500">
                  <a:extLst>
                    <a:ext uri="{9D8B030D-6E8A-4147-A177-3AD203B41FA5}">
                      <a16:colId xmlns:a16="http://schemas.microsoft.com/office/drawing/2014/main" val="20006"/>
                    </a:ext>
                  </a:extLst>
                </a:gridCol>
                <a:gridCol w="476500">
                  <a:extLst>
                    <a:ext uri="{9D8B030D-6E8A-4147-A177-3AD203B41FA5}">
                      <a16:colId xmlns:a16="http://schemas.microsoft.com/office/drawing/2014/main" val="20007"/>
                    </a:ext>
                  </a:extLst>
                </a:gridCol>
                <a:gridCol w="476500">
                  <a:extLst>
                    <a:ext uri="{9D8B030D-6E8A-4147-A177-3AD203B41FA5}">
                      <a16:colId xmlns:a16="http://schemas.microsoft.com/office/drawing/2014/main" val="20008"/>
                    </a:ext>
                  </a:extLst>
                </a:gridCol>
                <a:gridCol w="476500">
                  <a:extLst>
                    <a:ext uri="{9D8B030D-6E8A-4147-A177-3AD203B41FA5}">
                      <a16:colId xmlns:a16="http://schemas.microsoft.com/office/drawing/2014/main" val="20009"/>
                    </a:ext>
                  </a:extLst>
                </a:gridCol>
                <a:gridCol w="476500">
                  <a:extLst>
                    <a:ext uri="{9D8B030D-6E8A-4147-A177-3AD203B41FA5}">
                      <a16:colId xmlns:a16="http://schemas.microsoft.com/office/drawing/2014/main" val="20010"/>
                    </a:ext>
                  </a:extLst>
                </a:gridCol>
              </a:tblGrid>
              <a:tr h="381000">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9" name="Rectangle 8">
            <a:extLst>
              <a:ext uri="{FF2B5EF4-FFF2-40B4-BE49-F238E27FC236}">
                <a16:creationId xmlns:a16="http://schemas.microsoft.com/office/drawing/2014/main" id="{3E31F02A-10FF-D42D-5407-2404D58C0E45}"/>
              </a:ext>
            </a:extLst>
          </p:cNvPr>
          <p:cNvSpPr/>
          <p:nvPr/>
        </p:nvSpPr>
        <p:spPr>
          <a:xfrm>
            <a:off x="5268036" y="5455054"/>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5</a:t>
            </a:r>
          </a:p>
        </p:txBody>
      </p:sp>
      <p:sp>
        <p:nvSpPr>
          <p:cNvPr id="11" name="Rectangle 10">
            <a:extLst>
              <a:ext uri="{FF2B5EF4-FFF2-40B4-BE49-F238E27FC236}">
                <a16:creationId xmlns:a16="http://schemas.microsoft.com/office/drawing/2014/main" id="{600DB232-579E-DDE6-DEB4-843424424F77}"/>
              </a:ext>
            </a:extLst>
          </p:cNvPr>
          <p:cNvSpPr/>
          <p:nvPr/>
        </p:nvSpPr>
        <p:spPr>
          <a:xfrm>
            <a:off x="3809745" y="5434549"/>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2</a:t>
            </a:r>
          </a:p>
        </p:txBody>
      </p:sp>
      <p:sp>
        <p:nvSpPr>
          <p:cNvPr id="12" name="Rectangle 11">
            <a:extLst>
              <a:ext uri="{FF2B5EF4-FFF2-40B4-BE49-F238E27FC236}">
                <a16:creationId xmlns:a16="http://schemas.microsoft.com/office/drawing/2014/main" id="{5F3A6358-3B56-A34D-6250-8B0F3D6FDA15}"/>
              </a:ext>
            </a:extLst>
          </p:cNvPr>
          <p:cNvSpPr/>
          <p:nvPr/>
        </p:nvSpPr>
        <p:spPr>
          <a:xfrm>
            <a:off x="3338288" y="5468566"/>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a:t>
            </a:r>
          </a:p>
        </p:txBody>
      </p:sp>
      <p:sp>
        <p:nvSpPr>
          <p:cNvPr id="13" name="Rectangle 12">
            <a:extLst>
              <a:ext uri="{FF2B5EF4-FFF2-40B4-BE49-F238E27FC236}">
                <a16:creationId xmlns:a16="http://schemas.microsoft.com/office/drawing/2014/main" id="{3A3DF68A-F47E-AC3C-C7FC-8CE48D600D2B}"/>
              </a:ext>
            </a:extLst>
          </p:cNvPr>
          <p:cNvSpPr/>
          <p:nvPr/>
        </p:nvSpPr>
        <p:spPr>
          <a:xfrm>
            <a:off x="4281132"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3</a:t>
            </a:r>
          </a:p>
        </p:txBody>
      </p:sp>
      <p:sp>
        <p:nvSpPr>
          <p:cNvPr id="14" name="Rectangle 13">
            <a:extLst>
              <a:ext uri="{FF2B5EF4-FFF2-40B4-BE49-F238E27FC236}">
                <a16:creationId xmlns:a16="http://schemas.microsoft.com/office/drawing/2014/main" id="{EC4E1120-343F-B2F4-CA7D-11EF5BD72CAE}"/>
              </a:ext>
            </a:extLst>
          </p:cNvPr>
          <p:cNvSpPr/>
          <p:nvPr/>
        </p:nvSpPr>
        <p:spPr>
          <a:xfrm>
            <a:off x="4785559" y="5436820"/>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4</a:t>
            </a:r>
          </a:p>
        </p:txBody>
      </p:sp>
      <p:sp>
        <p:nvSpPr>
          <p:cNvPr id="15" name="Rectangle 14">
            <a:extLst>
              <a:ext uri="{FF2B5EF4-FFF2-40B4-BE49-F238E27FC236}">
                <a16:creationId xmlns:a16="http://schemas.microsoft.com/office/drawing/2014/main" id="{73C837EB-7354-595C-8D58-891B3C698A14}"/>
              </a:ext>
            </a:extLst>
          </p:cNvPr>
          <p:cNvSpPr/>
          <p:nvPr/>
        </p:nvSpPr>
        <p:spPr>
          <a:xfrm>
            <a:off x="3193675" y="3240270"/>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0</a:t>
            </a:r>
          </a:p>
        </p:txBody>
      </p:sp>
      <p:sp>
        <p:nvSpPr>
          <p:cNvPr id="16" name="Rectangle 15">
            <a:extLst>
              <a:ext uri="{FF2B5EF4-FFF2-40B4-BE49-F238E27FC236}">
                <a16:creationId xmlns:a16="http://schemas.microsoft.com/office/drawing/2014/main" id="{208387CE-F205-D517-5323-9253F4EF7403}"/>
              </a:ext>
            </a:extLst>
          </p:cNvPr>
          <p:cNvSpPr/>
          <p:nvPr/>
        </p:nvSpPr>
        <p:spPr>
          <a:xfrm>
            <a:off x="4518277" y="3235721"/>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3</a:t>
            </a:r>
          </a:p>
        </p:txBody>
      </p:sp>
      <p:sp>
        <p:nvSpPr>
          <p:cNvPr id="17" name="Rectangle 16">
            <a:extLst>
              <a:ext uri="{FF2B5EF4-FFF2-40B4-BE49-F238E27FC236}">
                <a16:creationId xmlns:a16="http://schemas.microsoft.com/office/drawing/2014/main" id="{93ADAA2A-EE9A-C271-57D5-8B3D6B340667}"/>
              </a:ext>
            </a:extLst>
          </p:cNvPr>
          <p:cNvSpPr/>
          <p:nvPr/>
        </p:nvSpPr>
        <p:spPr>
          <a:xfrm>
            <a:off x="6847526" y="3270666"/>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5</a:t>
            </a:r>
          </a:p>
        </p:txBody>
      </p:sp>
      <p:sp>
        <p:nvSpPr>
          <p:cNvPr id="18" name="Rectangle 17">
            <a:extLst>
              <a:ext uri="{FF2B5EF4-FFF2-40B4-BE49-F238E27FC236}">
                <a16:creationId xmlns:a16="http://schemas.microsoft.com/office/drawing/2014/main" id="{B8CE36AA-5E70-A352-0ACD-2A30F7F79C52}"/>
              </a:ext>
            </a:extLst>
          </p:cNvPr>
          <p:cNvSpPr/>
          <p:nvPr/>
        </p:nvSpPr>
        <p:spPr>
          <a:xfrm>
            <a:off x="8979736" y="3235720"/>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10</a:t>
            </a:r>
          </a:p>
        </p:txBody>
      </p:sp>
      <p:sp>
        <p:nvSpPr>
          <p:cNvPr id="22" name="Rectangle 21">
            <a:extLst>
              <a:ext uri="{FF2B5EF4-FFF2-40B4-BE49-F238E27FC236}">
                <a16:creationId xmlns:a16="http://schemas.microsoft.com/office/drawing/2014/main" id="{75007BEF-FA5A-1037-0087-6BEABB75E955}"/>
              </a:ext>
            </a:extLst>
          </p:cNvPr>
          <p:cNvSpPr/>
          <p:nvPr/>
        </p:nvSpPr>
        <p:spPr>
          <a:xfrm>
            <a:off x="4393224" y="3944182"/>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2</a:t>
            </a:r>
          </a:p>
        </p:txBody>
      </p:sp>
      <p:sp>
        <p:nvSpPr>
          <p:cNvPr id="23" name="Rectangle 22">
            <a:extLst>
              <a:ext uri="{FF2B5EF4-FFF2-40B4-BE49-F238E27FC236}">
                <a16:creationId xmlns:a16="http://schemas.microsoft.com/office/drawing/2014/main" id="{3A9A9966-19B7-B69E-2075-3B752661DE20}"/>
              </a:ext>
            </a:extLst>
          </p:cNvPr>
          <p:cNvSpPr/>
          <p:nvPr/>
        </p:nvSpPr>
        <p:spPr>
          <a:xfrm>
            <a:off x="4854507" y="3966519"/>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3</a:t>
            </a:r>
          </a:p>
        </p:txBody>
      </p:sp>
      <p:sp>
        <p:nvSpPr>
          <p:cNvPr id="24" name="Rectangle 23">
            <a:extLst>
              <a:ext uri="{FF2B5EF4-FFF2-40B4-BE49-F238E27FC236}">
                <a16:creationId xmlns:a16="http://schemas.microsoft.com/office/drawing/2014/main" id="{B147D32B-169F-BCBB-4676-1EF9C2BCBFC0}"/>
              </a:ext>
            </a:extLst>
          </p:cNvPr>
          <p:cNvSpPr/>
          <p:nvPr/>
        </p:nvSpPr>
        <p:spPr>
          <a:xfrm>
            <a:off x="3398439" y="3966518"/>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0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0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0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1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1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0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1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5" grpId="0"/>
      <p:bldP spid="307" grpId="0"/>
      <p:bldP spid="309" grpId="0"/>
      <p:bldP spid="310" grpId="0"/>
      <p:bldP spid="311" grpId="0"/>
      <p:bldP spid="312" grpId="0"/>
      <p:bldP spid="313" grpId="0"/>
      <p:bldP spid="9" grpId="0"/>
      <p:bldP spid="11" grpId="0"/>
      <p:bldP spid="12" grpId="0"/>
      <p:bldP spid="13" grpId="0"/>
      <p:bldP spid="14" grpId="0"/>
      <p:bldP spid="15" grpId="0"/>
      <p:bldP spid="16" grpId="0"/>
      <p:bldP spid="17" grpId="0"/>
      <p:bldP spid="18" grpId="0"/>
      <p:bldP spid="22" grpId="0"/>
      <p:bldP spid="23" grpId="0"/>
      <p:bldP spid="2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7">
          <a:extLst>
            <a:ext uri="{FF2B5EF4-FFF2-40B4-BE49-F238E27FC236}">
              <a16:creationId xmlns:a16="http://schemas.microsoft.com/office/drawing/2014/main" id="{C29CBAC1-9720-A10A-6AD5-821ACAA192A0}"/>
            </a:ext>
          </a:extLst>
        </p:cNvPr>
        <p:cNvGrpSpPr/>
        <p:nvPr/>
      </p:nvGrpSpPr>
      <p:grpSpPr>
        <a:xfrm>
          <a:off x="0" y="0"/>
          <a:ext cx="0" cy="0"/>
          <a:chOff x="0" y="0"/>
          <a:chExt cx="0" cy="0"/>
        </a:xfrm>
      </p:grpSpPr>
      <p:pic>
        <p:nvPicPr>
          <p:cNvPr id="299" name="Google Shape;299;g2791966677f_0_43">
            <a:extLst>
              <a:ext uri="{FF2B5EF4-FFF2-40B4-BE49-F238E27FC236}">
                <a16:creationId xmlns:a16="http://schemas.microsoft.com/office/drawing/2014/main" id="{0A500A7C-BD52-359B-F993-C437C4359983}"/>
              </a:ext>
            </a:extLst>
          </p:cNvPr>
          <p:cNvPicPr preferRelativeResize="0"/>
          <p:nvPr/>
        </p:nvPicPr>
        <p:blipFill rotWithShape="1">
          <a:blip r:embed="rId3">
            <a:alphaModFix/>
          </a:blip>
          <a:srcRect l="18822" r="15911" b="86476"/>
          <a:stretch/>
        </p:blipFill>
        <p:spPr>
          <a:xfrm>
            <a:off x="2656275" y="1752325"/>
            <a:ext cx="6302602" cy="712926"/>
          </a:xfrm>
          <a:prstGeom prst="rect">
            <a:avLst/>
          </a:prstGeom>
          <a:noFill/>
          <a:ln>
            <a:noFill/>
          </a:ln>
        </p:spPr>
      </p:pic>
      <p:pic>
        <p:nvPicPr>
          <p:cNvPr id="300" name="Google Shape;300;g2791966677f_0_43">
            <a:extLst>
              <a:ext uri="{FF2B5EF4-FFF2-40B4-BE49-F238E27FC236}">
                <a16:creationId xmlns:a16="http://schemas.microsoft.com/office/drawing/2014/main" id="{B96AD214-939A-25DC-1705-97613F4B4E3E}"/>
              </a:ext>
            </a:extLst>
          </p:cNvPr>
          <p:cNvPicPr preferRelativeResize="0"/>
          <p:nvPr/>
        </p:nvPicPr>
        <p:blipFill rotWithShape="1">
          <a:blip r:embed="rId3">
            <a:alphaModFix/>
          </a:blip>
          <a:srcRect t="13617" b="68313"/>
          <a:stretch>
            <a:fillRect/>
          </a:stretch>
        </p:blipFill>
        <p:spPr>
          <a:xfrm>
            <a:off x="1650875" y="2465250"/>
            <a:ext cx="8465577" cy="835075"/>
          </a:xfrm>
          <a:prstGeom prst="rect">
            <a:avLst/>
          </a:prstGeom>
          <a:noFill/>
          <a:ln>
            <a:noFill/>
          </a:ln>
        </p:spPr>
      </p:pic>
      <p:pic>
        <p:nvPicPr>
          <p:cNvPr id="301" name="Google Shape;301;g2791966677f_0_43">
            <a:extLst>
              <a:ext uri="{FF2B5EF4-FFF2-40B4-BE49-F238E27FC236}">
                <a16:creationId xmlns:a16="http://schemas.microsoft.com/office/drawing/2014/main" id="{78D2D92E-D121-591E-A32F-3AD91B233106}"/>
              </a:ext>
            </a:extLst>
          </p:cNvPr>
          <p:cNvPicPr preferRelativeResize="0"/>
          <p:nvPr/>
        </p:nvPicPr>
        <p:blipFill rotWithShape="1">
          <a:blip r:embed="rId3">
            <a:alphaModFix/>
          </a:blip>
          <a:srcRect t="33001" r="55634" b="48566"/>
          <a:stretch>
            <a:fillRect/>
          </a:stretch>
        </p:blipFill>
        <p:spPr>
          <a:xfrm>
            <a:off x="2519126" y="3320705"/>
            <a:ext cx="2985472" cy="692416"/>
          </a:xfrm>
          <a:prstGeom prst="rect">
            <a:avLst/>
          </a:prstGeom>
          <a:noFill/>
          <a:ln>
            <a:noFill/>
          </a:ln>
        </p:spPr>
      </p:pic>
      <p:pic>
        <p:nvPicPr>
          <p:cNvPr id="302" name="Google Shape;302;g2791966677f_0_43">
            <a:extLst>
              <a:ext uri="{FF2B5EF4-FFF2-40B4-BE49-F238E27FC236}">
                <a16:creationId xmlns:a16="http://schemas.microsoft.com/office/drawing/2014/main" id="{2BCACB13-823E-F74C-D83F-7C37FC58A590}"/>
              </a:ext>
            </a:extLst>
          </p:cNvPr>
          <p:cNvPicPr preferRelativeResize="0"/>
          <p:nvPr/>
        </p:nvPicPr>
        <p:blipFill rotWithShape="1">
          <a:blip r:embed="rId3">
            <a:alphaModFix/>
          </a:blip>
          <a:srcRect l="24761" t="51277" r="56242" b="30536"/>
          <a:stretch>
            <a:fillRect/>
          </a:stretch>
        </p:blipFill>
        <p:spPr>
          <a:xfrm>
            <a:off x="4185313" y="4013122"/>
            <a:ext cx="1278341" cy="683196"/>
          </a:xfrm>
          <a:prstGeom prst="rect">
            <a:avLst/>
          </a:prstGeom>
          <a:noFill/>
          <a:ln>
            <a:noFill/>
          </a:ln>
        </p:spPr>
      </p:pic>
      <p:sp>
        <p:nvSpPr>
          <p:cNvPr id="304" name="Google Shape;304;g2791966677f_0_43">
            <a:extLst>
              <a:ext uri="{FF2B5EF4-FFF2-40B4-BE49-F238E27FC236}">
                <a16:creationId xmlns:a16="http://schemas.microsoft.com/office/drawing/2014/main" id="{F34F383C-FDED-3041-9C5E-870D15ADE829}"/>
              </a:ext>
            </a:extLst>
          </p:cNvPr>
          <p:cNvSpPr txBox="1"/>
          <p:nvPr/>
        </p:nvSpPr>
        <p:spPr>
          <a:xfrm>
            <a:off x="1786950" y="2781025"/>
            <a:ext cx="1388400" cy="51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latin typeface="Calibri"/>
              <a:ea typeface="Calibri"/>
              <a:cs typeface="Calibri"/>
              <a:sym typeface="Calibri"/>
            </a:endParaRPr>
          </a:p>
        </p:txBody>
      </p:sp>
      <p:sp>
        <p:nvSpPr>
          <p:cNvPr id="305" name="Google Shape;305;g2791966677f_0_43">
            <a:extLst>
              <a:ext uri="{FF2B5EF4-FFF2-40B4-BE49-F238E27FC236}">
                <a16:creationId xmlns:a16="http://schemas.microsoft.com/office/drawing/2014/main" id="{28D66904-FBA5-7868-B632-4F4A1D9345D4}"/>
              </a:ext>
            </a:extLst>
          </p:cNvPr>
          <p:cNvSpPr txBox="1"/>
          <p:nvPr/>
        </p:nvSpPr>
        <p:spPr>
          <a:xfrm>
            <a:off x="362225" y="1744614"/>
            <a:ext cx="2547600" cy="807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0, 10) &gt;&gt;</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a:solidFill>
                  <a:srgbClr val="38761D"/>
                </a:solidFill>
                <a:latin typeface="Calibri"/>
                <a:ea typeface="Calibri"/>
                <a:cs typeface="Calibri"/>
                <a:sym typeface="Calibri"/>
              </a:rPr>
              <a:t>pivot index=4</a:t>
            </a:r>
            <a:endParaRPr sz="2000" dirty="0">
              <a:solidFill>
                <a:srgbClr val="38761D"/>
              </a:solidFill>
              <a:latin typeface="Calibri"/>
              <a:ea typeface="Calibri"/>
              <a:cs typeface="Calibri"/>
              <a:sym typeface="Calibri"/>
            </a:endParaRPr>
          </a:p>
        </p:txBody>
      </p:sp>
      <p:sp>
        <p:nvSpPr>
          <p:cNvPr id="306" name="Google Shape;306;g2791966677f_0_43">
            <a:extLst>
              <a:ext uri="{FF2B5EF4-FFF2-40B4-BE49-F238E27FC236}">
                <a16:creationId xmlns:a16="http://schemas.microsoft.com/office/drawing/2014/main" id="{B49CDA66-7AA0-87BD-10E3-A8EF74C67A4B}"/>
              </a:ext>
            </a:extLst>
          </p:cNvPr>
          <p:cNvSpPr txBox="1"/>
          <p:nvPr/>
        </p:nvSpPr>
        <p:spPr>
          <a:xfrm>
            <a:off x="4822200" y="1390213"/>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0, 10)</a:t>
            </a:r>
            <a:endParaRPr sz="2000" dirty="0">
              <a:solidFill>
                <a:srgbClr val="4A86E8"/>
              </a:solidFill>
              <a:latin typeface="Calibri"/>
              <a:ea typeface="Calibri"/>
              <a:cs typeface="Calibri"/>
              <a:sym typeface="Calibri"/>
            </a:endParaRPr>
          </a:p>
        </p:txBody>
      </p:sp>
      <p:sp>
        <p:nvSpPr>
          <p:cNvPr id="307" name="Google Shape;307;g2791966677f_0_43">
            <a:extLst>
              <a:ext uri="{FF2B5EF4-FFF2-40B4-BE49-F238E27FC236}">
                <a16:creationId xmlns:a16="http://schemas.microsoft.com/office/drawing/2014/main" id="{A9923112-337A-F3FD-30B4-BE614F4CD3EB}"/>
              </a:ext>
            </a:extLst>
          </p:cNvPr>
          <p:cNvSpPr txBox="1"/>
          <p:nvPr/>
        </p:nvSpPr>
        <p:spPr>
          <a:xfrm>
            <a:off x="362225" y="2417263"/>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0, 3)</a:t>
            </a:r>
            <a:endParaRPr sz="2000" dirty="0">
              <a:solidFill>
                <a:srgbClr val="4A86E8"/>
              </a:solidFill>
              <a:latin typeface="Calibri"/>
              <a:ea typeface="Calibri"/>
              <a:cs typeface="Calibri"/>
              <a:sym typeface="Calibri"/>
            </a:endParaRPr>
          </a:p>
        </p:txBody>
      </p:sp>
      <p:sp>
        <p:nvSpPr>
          <p:cNvPr id="308" name="Google Shape;308;g2791966677f_0_43">
            <a:extLst>
              <a:ext uri="{FF2B5EF4-FFF2-40B4-BE49-F238E27FC236}">
                <a16:creationId xmlns:a16="http://schemas.microsoft.com/office/drawing/2014/main" id="{267C3109-036B-6497-F6E4-FF6A629EA8CD}"/>
              </a:ext>
            </a:extLst>
          </p:cNvPr>
          <p:cNvSpPr txBox="1"/>
          <p:nvPr/>
        </p:nvSpPr>
        <p:spPr>
          <a:xfrm>
            <a:off x="9320450" y="1311675"/>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5, 10)</a:t>
            </a:r>
            <a:endParaRPr sz="2000" dirty="0">
              <a:solidFill>
                <a:srgbClr val="4A86E8"/>
              </a:solidFill>
              <a:latin typeface="Calibri"/>
              <a:ea typeface="Calibri"/>
              <a:cs typeface="Calibri"/>
              <a:sym typeface="Calibri"/>
            </a:endParaRPr>
          </a:p>
        </p:txBody>
      </p:sp>
      <p:sp>
        <p:nvSpPr>
          <p:cNvPr id="309" name="Google Shape;309;g2791966677f_0_43">
            <a:extLst>
              <a:ext uri="{FF2B5EF4-FFF2-40B4-BE49-F238E27FC236}">
                <a16:creationId xmlns:a16="http://schemas.microsoft.com/office/drawing/2014/main" id="{8C012761-12F1-F3C8-7EAA-746619C3CEBC}"/>
              </a:ext>
            </a:extLst>
          </p:cNvPr>
          <p:cNvSpPr txBox="1"/>
          <p:nvPr/>
        </p:nvSpPr>
        <p:spPr>
          <a:xfrm>
            <a:off x="362225" y="2872714"/>
            <a:ext cx="2547600" cy="807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0, 3)</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a:solidFill>
                  <a:srgbClr val="38761D"/>
                </a:solidFill>
                <a:latin typeface="Calibri"/>
                <a:ea typeface="Calibri"/>
                <a:cs typeface="Calibri"/>
                <a:sym typeface="Calibri"/>
              </a:rPr>
              <a:t>pivot index= 1</a:t>
            </a:r>
            <a:endParaRPr sz="2000" dirty="0">
              <a:solidFill>
                <a:srgbClr val="38761D"/>
              </a:solidFill>
              <a:latin typeface="Calibri"/>
              <a:ea typeface="Calibri"/>
              <a:cs typeface="Calibri"/>
              <a:sym typeface="Calibri"/>
            </a:endParaRPr>
          </a:p>
        </p:txBody>
      </p:sp>
      <p:sp>
        <p:nvSpPr>
          <p:cNvPr id="310" name="Google Shape;310;g2791966677f_0_43">
            <a:extLst>
              <a:ext uri="{FF2B5EF4-FFF2-40B4-BE49-F238E27FC236}">
                <a16:creationId xmlns:a16="http://schemas.microsoft.com/office/drawing/2014/main" id="{EA4BEF8D-905C-0E88-151A-AF3BF7B17947}"/>
              </a:ext>
            </a:extLst>
          </p:cNvPr>
          <p:cNvSpPr txBox="1"/>
          <p:nvPr/>
        </p:nvSpPr>
        <p:spPr>
          <a:xfrm>
            <a:off x="253350" y="3643238"/>
            <a:ext cx="29220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0, 0) -DONE</a:t>
            </a:r>
            <a:endParaRPr sz="2000" dirty="0">
              <a:solidFill>
                <a:srgbClr val="FF0000"/>
              </a:solidFill>
              <a:latin typeface="Calibri"/>
              <a:ea typeface="Calibri"/>
              <a:cs typeface="Calibri"/>
              <a:sym typeface="Calibri"/>
            </a:endParaRPr>
          </a:p>
        </p:txBody>
      </p:sp>
      <p:sp>
        <p:nvSpPr>
          <p:cNvPr id="311" name="Google Shape;311;g2791966677f_0_43">
            <a:extLst>
              <a:ext uri="{FF2B5EF4-FFF2-40B4-BE49-F238E27FC236}">
                <a16:creationId xmlns:a16="http://schemas.microsoft.com/office/drawing/2014/main" id="{4FBCE5A6-CE63-06CB-4AA1-F0356AA36E05}"/>
              </a:ext>
            </a:extLst>
          </p:cNvPr>
          <p:cNvSpPr txBox="1"/>
          <p:nvPr/>
        </p:nvSpPr>
        <p:spPr>
          <a:xfrm>
            <a:off x="253350" y="4153220"/>
            <a:ext cx="2547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2, 3)</a:t>
            </a:r>
            <a:endParaRPr sz="2000" dirty="0">
              <a:solidFill>
                <a:srgbClr val="4A86E8"/>
              </a:solidFill>
              <a:latin typeface="Calibri"/>
              <a:ea typeface="Calibri"/>
              <a:cs typeface="Calibri"/>
              <a:sym typeface="Calibri"/>
            </a:endParaRPr>
          </a:p>
        </p:txBody>
      </p:sp>
      <p:sp>
        <p:nvSpPr>
          <p:cNvPr id="312" name="Google Shape;312;g2791966677f_0_43">
            <a:extLst>
              <a:ext uri="{FF2B5EF4-FFF2-40B4-BE49-F238E27FC236}">
                <a16:creationId xmlns:a16="http://schemas.microsoft.com/office/drawing/2014/main" id="{531F527F-9DA6-C97D-C7C1-C018F6AE4183}"/>
              </a:ext>
            </a:extLst>
          </p:cNvPr>
          <p:cNvSpPr txBox="1"/>
          <p:nvPr/>
        </p:nvSpPr>
        <p:spPr>
          <a:xfrm>
            <a:off x="313925" y="4610629"/>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2, 3)</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err="1">
                <a:solidFill>
                  <a:srgbClr val="38761D"/>
                </a:solidFill>
                <a:latin typeface="Calibri"/>
                <a:ea typeface="Calibri"/>
                <a:cs typeface="Calibri"/>
                <a:sym typeface="Calibri"/>
              </a:rPr>
              <a:t>PivotIndex</a:t>
            </a:r>
            <a:r>
              <a:rPr lang="en-US" sz="2000" dirty="0">
                <a:solidFill>
                  <a:srgbClr val="38761D"/>
                </a:solidFill>
                <a:latin typeface="Calibri"/>
                <a:ea typeface="Calibri"/>
                <a:cs typeface="Calibri"/>
                <a:sym typeface="Calibri"/>
              </a:rPr>
              <a:t>= 2</a:t>
            </a:r>
            <a:endParaRPr sz="2000" dirty="0">
              <a:solidFill>
                <a:srgbClr val="38761D"/>
              </a:solidFill>
              <a:latin typeface="Calibri"/>
              <a:ea typeface="Calibri"/>
              <a:cs typeface="Calibri"/>
              <a:sym typeface="Calibri"/>
            </a:endParaRPr>
          </a:p>
        </p:txBody>
      </p:sp>
      <p:sp>
        <p:nvSpPr>
          <p:cNvPr id="313" name="Google Shape;313;g2791966677f_0_43">
            <a:extLst>
              <a:ext uri="{FF2B5EF4-FFF2-40B4-BE49-F238E27FC236}">
                <a16:creationId xmlns:a16="http://schemas.microsoft.com/office/drawing/2014/main" id="{842AA2B6-97AC-47F2-E181-87D5DB0AA56B}"/>
              </a:ext>
            </a:extLst>
          </p:cNvPr>
          <p:cNvSpPr txBox="1"/>
          <p:nvPr/>
        </p:nvSpPr>
        <p:spPr>
          <a:xfrm>
            <a:off x="228450" y="5323425"/>
            <a:ext cx="28194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2, 1) - DONE</a:t>
            </a:r>
            <a:endParaRPr sz="2000" dirty="0">
              <a:solidFill>
                <a:srgbClr val="FF0000"/>
              </a:solidFill>
              <a:latin typeface="Calibri"/>
              <a:ea typeface="Calibri"/>
              <a:cs typeface="Calibri"/>
              <a:sym typeface="Calibri"/>
            </a:endParaRPr>
          </a:p>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3, 3)- DONE</a:t>
            </a:r>
            <a:endParaRPr sz="2000" dirty="0">
              <a:solidFill>
                <a:srgbClr val="FF0000"/>
              </a:solidFill>
              <a:latin typeface="Calibri"/>
              <a:ea typeface="Calibri"/>
              <a:cs typeface="Calibri"/>
              <a:sym typeface="Calibri"/>
            </a:endParaRPr>
          </a:p>
        </p:txBody>
      </p:sp>
      <p:sp>
        <p:nvSpPr>
          <p:cNvPr id="314" name="Google Shape;314;g2791966677f_0_43">
            <a:extLst>
              <a:ext uri="{FF2B5EF4-FFF2-40B4-BE49-F238E27FC236}">
                <a16:creationId xmlns:a16="http://schemas.microsoft.com/office/drawing/2014/main" id="{C53495CE-6A08-4294-82F9-3FE9DC76A09E}"/>
              </a:ext>
            </a:extLst>
          </p:cNvPr>
          <p:cNvSpPr txBox="1"/>
          <p:nvPr/>
        </p:nvSpPr>
        <p:spPr>
          <a:xfrm>
            <a:off x="3289718" y="6064999"/>
            <a:ext cx="5427032" cy="44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b="1" dirty="0">
                <a:highlight>
                  <a:srgbClr val="FFF2CC"/>
                </a:highlight>
                <a:latin typeface="Calibri"/>
                <a:ea typeface="Calibri"/>
                <a:cs typeface="Calibri"/>
                <a:sym typeface="Calibri"/>
              </a:rPr>
              <a:t>Note</a:t>
            </a:r>
            <a:r>
              <a:rPr lang="en-US" dirty="0">
                <a:highlight>
                  <a:srgbClr val="FFF2CC"/>
                </a:highlight>
                <a:latin typeface="Calibri"/>
                <a:ea typeface="Calibri"/>
                <a:cs typeface="Calibri"/>
                <a:sym typeface="Calibri"/>
              </a:rPr>
              <a:t>: Pivot chosen to be the right most element</a:t>
            </a:r>
            <a:endParaRPr dirty="0">
              <a:highlight>
                <a:srgbClr val="FFF2CC"/>
              </a:highlight>
              <a:latin typeface="Calibri"/>
              <a:ea typeface="Calibri"/>
              <a:cs typeface="Calibri"/>
              <a:sym typeface="Calibri"/>
            </a:endParaRPr>
          </a:p>
        </p:txBody>
      </p:sp>
      <p:sp>
        <p:nvSpPr>
          <p:cNvPr id="6" name="Title 2">
            <a:extLst>
              <a:ext uri="{FF2B5EF4-FFF2-40B4-BE49-F238E27FC236}">
                <a16:creationId xmlns:a16="http://schemas.microsoft.com/office/drawing/2014/main" id="{51AA6A79-65DD-85C6-67DB-6E6111E372AB}"/>
              </a:ext>
            </a:extLst>
          </p:cNvPr>
          <p:cNvSpPr txBox="1">
            <a:spLocks/>
          </p:cNvSpPr>
          <p:nvPr/>
        </p:nvSpPr>
        <p:spPr>
          <a:xfrm>
            <a:off x="838200" y="846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rPr>
              <a:t>Quick Sort: </a:t>
            </a:r>
            <a:r>
              <a:rPr lang="en-US" dirty="0">
                <a:solidFill>
                  <a:srgbClr val="C00000"/>
                </a:solidFill>
              </a:rPr>
              <a:t>Example</a:t>
            </a:r>
            <a:endParaRPr lang="en-US" dirty="0"/>
          </a:p>
        </p:txBody>
      </p:sp>
      <p:pic>
        <p:nvPicPr>
          <p:cNvPr id="8" name="Picture 7">
            <a:extLst>
              <a:ext uri="{FF2B5EF4-FFF2-40B4-BE49-F238E27FC236}">
                <a16:creationId xmlns:a16="http://schemas.microsoft.com/office/drawing/2014/main" id="{7325DCF1-B61C-62D3-AC0D-780BF2DAB416}"/>
              </a:ext>
            </a:extLst>
          </p:cNvPr>
          <p:cNvPicPr>
            <a:picLocks noChangeAspect="1"/>
          </p:cNvPicPr>
          <p:nvPr/>
        </p:nvPicPr>
        <p:blipFill>
          <a:blip r:embed="rId4"/>
          <a:stretch>
            <a:fillRect/>
          </a:stretch>
        </p:blipFill>
        <p:spPr>
          <a:xfrm>
            <a:off x="6323463" y="84650"/>
            <a:ext cx="5690164" cy="111615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aphicFrame>
        <p:nvGraphicFramePr>
          <p:cNvPr id="10" name="Google Shape;357;g2791966677f_0_79">
            <a:extLst>
              <a:ext uri="{FF2B5EF4-FFF2-40B4-BE49-F238E27FC236}">
                <a16:creationId xmlns:a16="http://schemas.microsoft.com/office/drawing/2014/main" id="{B0405AA3-D65C-0C6E-4D99-85AEA534C431}"/>
              </a:ext>
            </a:extLst>
          </p:cNvPr>
          <p:cNvGraphicFramePr/>
          <p:nvPr>
            <p:extLst>
              <p:ext uri="{D42A27DB-BD31-4B8C-83A1-F6EECF244321}">
                <p14:modId xmlns:p14="http://schemas.microsoft.com/office/powerpoint/2010/main" val="3861866503"/>
              </p:ext>
            </p:extLst>
          </p:nvPr>
        </p:nvGraphicFramePr>
        <p:xfrm>
          <a:off x="3382484" y="5448187"/>
          <a:ext cx="5241500" cy="457170"/>
        </p:xfrm>
        <a:graphic>
          <a:graphicData uri="http://schemas.openxmlformats.org/drawingml/2006/table">
            <a:tbl>
              <a:tblPr>
                <a:noFill/>
              </a:tblPr>
              <a:tblGrid>
                <a:gridCol w="476500">
                  <a:extLst>
                    <a:ext uri="{9D8B030D-6E8A-4147-A177-3AD203B41FA5}">
                      <a16:colId xmlns:a16="http://schemas.microsoft.com/office/drawing/2014/main" val="20000"/>
                    </a:ext>
                  </a:extLst>
                </a:gridCol>
                <a:gridCol w="476500">
                  <a:extLst>
                    <a:ext uri="{9D8B030D-6E8A-4147-A177-3AD203B41FA5}">
                      <a16:colId xmlns:a16="http://schemas.microsoft.com/office/drawing/2014/main" val="20001"/>
                    </a:ext>
                  </a:extLst>
                </a:gridCol>
                <a:gridCol w="476500">
                  <a:extLst>
                    <a:ext uri="{9D8B030D-6E8A-4147-A177-3AD203B41FA5}">
                      <a16:colId xmlns:a16="http://schemas.microsoft.com/office/drawing/2014/main" val="20002"/>
                    </a:ext>
                  </a:extLst>
                </a:gridCol>
                <a:gridCol w="476500">
                  <a:extLst>
                    <a:ext uri="{9D8B030D-6E8A-4147-A177-3AD203B41FA5}">
                      <a16:colId xmlns:a16="http://schemas.microsoft.com/office/drawing/2014/main" val="20003"/>
                    </a:ext>
                  </a:extLst>
                </a:gridCol>
                <a:gridCol w="476500">
                  <a:extLst>
                    <a:ext uri="{9D8B030D-6E8A-4147-A177-3AD203B41FA5}">
                      <a16:colId xmlns:a16="http://schemas.microsoft.com/office/drawing/2014/main" val="20004"/>
                    </a:ext>
                  </a:extLst>
                </a:gridCol>
                <a:gridCol w="476500">
                  <a:extLst>
                    <a:ext uri="{9D8B030D-6E8A-4147-A177-3AD203B41FA5}">
                      <a16:colId xmlns:a16="http://schemas.microsoft.com/office/drawing/2014/main" val="20005"/>
                    </a:ext>
                  </a:extLst>
                </a:gridCol>
                <a:gridCol w="476500">
                  <a:extLst>
                    <a:ext uri="{9D8B030D-6E8A-4147-A177-3AD203B41FA5}">
                      <a16:colId xmlns:a16="http://schemas.microsoft.com/office/drawing/2014/main" val="20006"/>
                    </a:ext>
                  </a:extLst>
                </a:gridCol>
                <a:gridCol w="476500">
                  <a:extLst>
                    <a:ext uri="{9D8B030D-6E8A-4147-A177-3AD203B41FA5}">
                      <a16:colId xmlns:a16="http://schemas.microsoft.com/office/drawing/2014/main" val="20007"/>
                    </a:ext>
                  </a:extLst>
                </a:gridCol>
                <a:gridCol w="476500">
                  <a:extLst>
                    <a:ext uri="{9D8B030D-6E8A-4147-A177-3AD203B41FA5}">
                      <a16:colId xmlns:a16="http://schemas.microsoft.com/office/drawing/2014/main" val="20008"/>
                    </a:ext>
                  </a:extLst>
                </a:gridCol>
                <a:gridCol w="476500">
                  <a:extLst>
                    <a:ext uri="{9D8B030D-6E8A-4147-A177-3AD203B41FA5}">
                      <a16:colId xmlns:a16="http://schemas.microsoft.com/office/drawing/2014/main" val="20009"/>
                    </a:ext>
                  </a:extLst>
                </a:gridCol>
                <a:gridCol w="476500">
                  <a:extLst>
                    <a:ext uri="{9D8B030D-6E8A-4147-A177-3AD203B41FA5}">
                      <a16:colId xmlns:a16="http://schemas.microsoft.com/office/drawing/2014/main" val="20010"/>
                    </a:ext>
                  </a:extLst>
                </a:gridCol>
              </a:tblGrid>
              <a:tr h="381000">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9" name="Rectangle 8">
            <a:extLst>
              <a:ext uri="{FF2B5EF4-FFF2-40B4-BE49-F238E27FC236}">
                <a16:creationId xmlns:a16="http://schemas.microsoft.com/office/drawing/2014/main" id="{0F49BB17-EE1F-79D1-3A54-9AB2B85C034E}"/>
              </a:ext>
            </a:extLst>
          </p:cNvPr>
          <p:cNvSpPr/>
          <p:nvPr/>
        </p:nvSpPr>
        <p:spPr>
          <a:xfrm>
            <a:off x="5268036" y="5455054"/>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5</a:t>
            </a:r>
          </a:p>
        </p:txBody>
      </p:sp>
      <p:sp>
        <p:nvSpPr>
          <p:cNvPr id="11" name="Rectangle 10">
            <a:extLst>
              <a:ext uri="{FF2B5EF4-FFF2-40B4-BE49-F238E27FC236}">
                <a16:creationId xmlns:a16="http://schemas.microsoft.com/office/drawing/2014/main" id="{2D754D66-2C9F-774D-2BD9-68F8B9FE9145}"/>
              </a:ext>
            </a:extLst>
          </p:cNvPr>
          <p:cNvSpPr/>
          <p:nvPr/>
        </p:nvSpPr>
        <p:spPr>
          <a:xfrm>
            <a:off x="3809745" y="5434549"/>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2</a:t>
            </a:r>
          </a:p>
        </p:txBody>
      </p:sp>
      <p:sp>
        <p:nvSpPr>
          <p:cNvPr id="12" name="Rectangle 11">
            <a:extLst>
              <a:ext uri="{FF2B5EF4-FFF2-40B4-BE49-F238E27FC236}">
                <a16:creationId xmlns:a16="http://schemas.microsoft.com/office/drawing/2014/main" id="{D3C5336C-9069-7624-E1F2-E6F0C690B83D}"/>
              </a:ext>
            </a:extLst>
          </p:cNvPr>
          <p:cNvSpPr/>
          <p:nvPr/>
        </p:nvSpPr>
        <p:spPr>
          <a:xfrm>
            <a:off x="3338288" y="5468566"/>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a:t>
            </a:r>
          </a:p>
        </p:txBody>
      </p:sp>
      <p:sp>
        <p:nvSpPr>
          <p:cNvPr id="13" name="Rectangle 12">
            <a:extLst>
              <a:ext uri="{FF2B5EF4-FFF2-40B4-BE49-F238E27FC236}">
                <a16:creationId xmlns:a16="http://schemas.microsoft.com/office/drawing/2014/main" id="{E23BCE9D-8282-0C28-43D2-C7EA4302C465}"/>
              </a:ext>
            </a:extLst>
          </p:cNvPr>
          <p:cNvSpPr/>
          <p:nvPr/>
        </p:nvSpPr>
        <p:spPr>
          <a:xfrm>
            <a:off x="4281132"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3</a:t>
            </a:r>
          </a:p>
        </p:txBody>
      </p:sp>
      <p:sp>
        <p:nvSpPr>
          <p:cNvPr id="14" name="Rectangle 13">
            <a:extLst>
              <a:ext uri="{FF2B5EF4-FFF2-40B4-BE49-F238E27FC236}">
                <a16:creationId xmlns:a16="http://schemas.microsoft.com/office/drawing/2014/main" id="{A93A447E-7BFF-660A-1B6F-55F66A019E6C}"/>
              </a:ext>
            </a:extLst>
          </p:cNvPr>
          <p:cNvSpPr/>
          <p:nvPr/>
        </p:nvSpPr>
        <p:spPr>
          <a:xfrm>
            <a:off x="4785559" y="5436820"/>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4</a:t>
            </a:r>
          </a:p>
        </p:txBody>
      </p:sp>
      <p:pic>
        <p:nvPicPr>
          <p:cNvPr id="2" name="Google Shape;328;g2791966677f_0_79">
            <a:extLst>
              <a:ext uri="{FF2B5EF4-FFF2-40B4-BE49-F238E27FC236}">
                <a16:creationId xmlns:a16="http://schemas.microsoft.com/office/drawing/2014/main" id="{E1CD9E96-5E86-7CC0-7836-BD3787E6DD50}"/>
              </a:ext>
            </a:extLst>
          </p:cNvPr>
          <p:cNvPicPr preferRelativeResize="0"/>
          <p:nvPr/>
        </p:nvPicPr>
        <p:blipFill rotWithShape="1">
          <a:blip r:embed="rId3">
            <a:alphaModFix/>
          </a:blip>
          <a:srcRect l="56536" t="32460" b="47774"/>
          <a:stretch>
            <a:fillRect/>
          </a:stretch>
        </p:blipFill>
        <p:spPr>
          <a:xfrm>
            <a:off x="6323463" y="3300325"/>
            <a:ext cx="2924735" cy="742526"/>
          </a:xfrm>
          <a:prstGeom prst="rect">
            <a:avLst/>
          </a:prstGeom>
          <a:noFill/>
          <a:ln>
            <a:noFill/>
          </a:ln>
        </p:spPr>
      </p:pic>
      <p:sp>
        <p:nvSpPr>
          <p:cNvPr id="3" name="Google Shape;337;g2791966677f_0_79">
            <a:extLst>
              <a:ext uri="{FF2B5EF4-FFF2-40B4-BE49-F238E27FC236}">
                <a16:creationId xmlns:a16="http://schemas.microsoft.com/office/drawing/2014/main" id="{913B4B86-6113-03EC-C823-41CA15CB36CA}"/>
              </a:ext>
            </a:extLst>
          </p:cNvPr>
          <p:cNvSpPr txBox="1"/>
          <p:nvPr/>
        </p:nvSpPr>
        <p:spPr>
          <a:xfrm>
            <a:off x="9397300" y="1828925"/>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a:solidFill>
                  <a:srgbClr val="4A86E8"/>
                </a:solidFill>
                <a:latin typeface="Calibri"/>
                <a:ea typeface="Calibri"/>
                <a:cs typeface="Calibri"/>
                <a:sym typeface="Calibri"/>
              </a:rPr>
              <a:t>Partition</a:t>
            </a:r>
            <a:r>
              <a:rPr lang="en-US" sz="2000">
                <a:solidFill>
                  <a:srgbClr val="4A86E8"/>
                </a:solidFill>
                <a:latin typeface="Calibri"/>
                <a:ea typeface="Calibri"/>
                <a:cs typeface="Calibri"/>
                <a:sym typeface="Calibri"/>
              </a:rPr>
              <a:t>(X, 5, 10)</a:t>
            </a:r>
            <a:endParaRPr sz="2000">
              <a:solidFill>
                <a:srgbClr val="4A86E8"/>
              </a:solidFill>
              <a:latin typeface="Calibri"/>
              <a:ea typeface="Calibri"/>
              <a:cs typeface="Calibri"/>
              <a:sym typeface="Calibri"/>
            </a:endParaRPr>
          </a:p>
          <a:p>
            <a:pPr marL="0" lvl="0" indent="0" algn="l" rtl="0">
              <a:spcBef>
                <a:spcPts val="0"/>
              </a:spcBef>
              <a:spcAft>
                <a:spcPts val="0"/>
              </a:spcAft>
              <a:buNone/>
            </a:pPr>
            <a:r>
              <a:rPr lang="en-US" sz="2000">
                <a:solidFill>
                  <a:srgbClr val="38761D"/>
                </a:solidFill>
                <a:latin typeface="Calibri"/>
                <a:ea typeface="Calibri"/>
                <a:cs typeface="Calibri"/>
                <a:sym typeface="Calibri"/>
              </a:rPr>
              <a:t>PivotIndex= 9</a:t>
            </a:r>
            <a:endParaRPr sz="2000">
              <a:solidFill>
                <a:srgbClr val="38761D"/>
              </a:solidFill>
              <a:latin typeface="Calibri"/>
              <a:ea typeface="Calibri"/>
              <a:cs typeface="Calibri"/>
              <a:sym typeface="Calibri"/>
            </a:endParaRPr>
          </a:p>
        </p:txBody>
      </p:sp>
      <p:sp>
        <p:nvSpPr>
          <p:cNvPr id="4" name="Google Shape;342;g2791966677f_0_79">
            <a:extLst>
              <a:ext uri="{FF2B5EF4-FFF2-40B4-BE49-F238E27FC236}">
                <a16:creationId xmlns:a16="http://schemas.microsoft.com/office/drawing/2014/main" id="{46558884-9B0E-7CD5-3044-697F61FFAD71}"/>
              </a:ext>
            </a:extLst>
          </p:cNvPr>
          <p:cNvSpPr txBox="1"/>
          <p:nvPr/>
        </p:nvSpPr>
        <p:spPr>
          <a:xfrm>
            <a:off x="9073300" y="6258450"/>
            <a:ext cx="3195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10, 10) -DONE</a:t>
            </a:r>
            <a:endParaRPr sz="2000" dirty="0">
              <a:solidFill>
                <a:srgbClr val="FF0000"/>
              </a:solidFill>
              <a:latin typeface="Calibri"/>
              <a:ea typeface="Calibri"/>
              <a:cs typeface="Calibri"/>
              <a:sym typeface="Calibri"/>
            </a:endParaRPr>
          </a:p>
        </p:txBody>
      </p:sp>
      <p:sp>
        <p:nvSpPr>
          <p:cNvPr id="5" name="Google Shape;345;g2791966677f_0_79">
            <a:extLst>
              <a:ext uri="{FF2B5EF4-FFF2-40B4-BE49-F238E27FC236}">
                <a16:creationId xmlns:a16="http://schemas.microsoft.com/office/drawing/2014/main" id="{7056AB1D-8229-587F-B84B-B12765DF9B50}"/>
              </a:ext>
            </a:extLst>
          </p:cNvPr>
          <p:cNvSpPr txBox="1"/>
          <p:nvPr/>
        </p:nvSpPr>
        <p:spPr>
          <a:xfrm>
            <a:off x="9166825" y="5804750"/>
            <a:ext cx="3195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9, 8) -DONE</a:t>
            </a:r>
            <a:endParaRPr sz="2000" dirty="0">
              <a:solidFill>
                <a:srgbClr val="FF0000"/>
              </a:solidFill>
              <a:latin typeface="Calibri"/>
              <a:ea typeface="Calibri"/>
              <a:cs typeface="Calibri"/>
              <a:sym typeface="Calibri"/>
            </a:endParaRPr>
          </a:p>
        </p:txBody>
      </p:sp>
      <p:sp>
        <p:nvSpPr>
          <p:cNvPr id="7" name="Google Shape;346;g2791966677f_0_79">
            <a:extLst>
              <a:ext uri="{FF2B5EF4-FFF2-40B4-BE49-F238E27FC236}">
                <a16:creationId xmlns:a16="http://schemas.microsoft.com/office/drawing/2014/main" id="{F85DCA99-4960-3EFF-5F60-4C9B0A230BEE}"/>
              </a:ext>
            </a:extLst>
          </p:cNvPr>
          <p:cNvSpPr txBox="1"/>
          <p:nvPr/>
        </p:nvSpPr>
        <p:spPr>
          <a:xfrm>
            <a:off x="9348800" y="3838120"/>
            <a:ext cx="2547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5, 7)</a:t>
            </a:r>
            <a:endParaRPr sz="2000" dirty="0">
              <a:solidFill>
                <a:srgbClr val="4A86E8"/>
              </a:solidFill>
              <a:latin typeface="Calibri"/>
              <a:ea typeface="Calibri"/>
              <a:cs typeface="Calibri"/>
              <a:sym typeface="Calibri"/>
            </a:endParaRPr>
          </a:p>
        </p:txBody>
      </p:sp>
      <p:sp>
        <p:nvSpPr>
          <p:cNvPr id="15" name="Google Shape;347;g2791966677f_0_79">
            <a:extLst>
              <a:ext uri="{FF2B5EF4-FFF2-40B4-BE49-F238E27FC236}">
                <a16:creationId xmlns:a16="http://schemas.microsoft.com/office/drawing/2014/main" id="{1CA8AA45-8F50-C16E-7ECF-86C9931CBFE4}"/>
              </a:ext>
            </a:extLst>
          </p:cNvPr>
          <p:cNvSpPr txBox="1"/>
          <p:nvPr/>
        </p:nvSpPr>
        <p:spPr>
          <a:xfrm>
            <a:off x="9348800" y="4261525"/>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5, 7)</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err="1">
                <a:solidFill>
                  <a:srgbClr val="38761D"/>
                </a:solidFill>
                <a:latin typeface="Calibri"/>
                <a:ea typeface="Calibri"/>
                <a:cs typeface="Calibri"/>
                <a:sym typeface="Calibri"/>
              </a:rPr>
              <a:t>PivotIndex</a:t>
            </a:r>
            <a:r>
              <a:rPr lang="en-US" sz="2000" dirty="0">
                <a:solidFill>
                  <a:srgbClr val="38761D"/>
                </a:solidFill>
                <a:latin typeface="Calibri"/>
                <a:ea typeface="Calibri"/>
                <a:cs typeface="Calibri"/>
                <a:sym typeface="Calibri"/>
              </a:rPr>
              <a:t>= 6</a:t>
            </a:r>
            <a:endParaRPr sz="2000" dirty="0">
              <a:solidFill>
                <a:srgbClr val="38761D"/>
              </a:solidFill>
              <a:latin typeface="Calibri"/>
              <a:ea typeface="Calibri"/>
              <a:cs typeface="Calibri"/>
              <a:sym typeface="Calibri"/>
            </a:endParaRPr>
          </a:p>
        </p:txBody>
      </p:sp>
      <p:sp>
        <p:nvSpPr>
          <p:cNvPr id="16" name="Google Shape;348;g2791966677f_0_79">
            <a:extLst>
              <a:ext uri="{FF2B5EF4-FFF2-40B4-BE49-F238E27FC236}">
                <a16:creationId xmlns:a16="http://schemas.microsoft.com/office/drawing/2014/main" id="{6B490D9F-AA61-C6DD-F1F5-B5CFBBE337DE}"/>
              </a:ext>
            </a:extLst>
          </p:cNvPr>
          <p:cNvSpPr txBox="1"/>
          <p:nvPr/>
        </p:nvSpPr>
        <p:spPr>
          <a:xfrm>
            <a:off x="9166825" y="4950250"/>
            <a:ext cx="3195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5, 5) -DONE</a:t>
            </a:r>
            <a:endParaRPr sz="2000" dirty="0">
              <a:solidFill>
                <a:srgbClr val="FF0000"/>
              </a:solidFill>
              <a:latin typeface="Calibri"/>
              <a:ea typeface="Calibri"/>
              <a:cs typeface="Calibri"/>
              <a:sym typeface="Calibri"/>
            </a:endParaRPr>
          </a:p>
        </p:txBody>
      </p:sp>
      <p:sp>
        <p:nvSpPr>
          <p:cNvPr id="17" name="Google Shape;349;g2791966677f_0_79">
            <a:extLst>
              <a:ext uri="{FF2B5EF4-FFF2-40B4-BE49-F238E27FC236}">
                <a16:creationId xmlns:a16="http://schemas.microsoft.com/office/drawing/2014/main" id="{5F7B97E2-787A-F380-16C9-B1ADA6A7927F}"/>
              </a:ext>
            </a:extLst>
          </p:cNvPr>
          <p:cNvSpPr txBox="1"/>
          <p:nvPr/>
        </p:nvSpPr>
        <p:spPr>
          <a:xfrm>
            <a:off x="9166825" y="5351050"/>
            <a:ext cx="3195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7, 7) -DONE</a:t>
            </a:r>
            <a:endParaRPr sz="2000" dirty="0">
              <a:solidFill>
                <a:srgbClr val="FF0000"/>
              </a:solidFill>
              <a:latin typeface="Calibri"/>
              <a:ea typeface="Calibri"/>
              <a:cs typeface="Calibri"/>
              <a:sym typeface="Calibri"/>
            </a:endParaRPr>
          </a:p>
        </p:txBody>
      </p:sp>
      <p:pic>
        <p:nvPicPr>
          <p:cNvPr id="18" name="Google Shape;355;g2791966677f_0_79">
            <a:extLst>
              <a:ext uri="{FF2B5EF4-FFF2-40B4-BE49-F238E27FC236}">
                <a16:creationId xmlns:a16="http://schemas.microsoft.com/office/drawing/2014/main" id="{8DD0F18B-BEDF-4B70-6878-66164C10834D}"/>
              </a:ext>
            </a:extLst>
          </p:cNvPr>
          <p:cNvPicPr preferRelativeResize="0"/>
          <p:nvPr/>
        </p:nvPicPr>
        <p:blipFill rotWithShape="1">
          <a:blip r:embed="rId3">
            <a:alphaModFix/>
          </a:blip>
          <a:srcRect l="50401" t="51583" r="17640" b="30968"/>
          <a:stretch>
            <a:fillRect/>
          </a:stretch>
        </p:blipFill>
        <p:spPr>
          <a:xfrm>
            <a:off x="5910774" y="4011007"/>
            <a:ext cx="2150504" cy="655475"/>
          </a:xfrm>
          <a:prstGeom prst="rect">
            <a:avLst/>
          </a:prstGeom>
          <a:noFill/>
          <a:ln>
            <a:noFill/>
          </a:ln>
        </p:spPr>
      </p:pic>
      <p:pic>
        <p:nvPicPr>
          <p:cNvPr id="19" name="Google Shape;356;g2791966677f_0_79">
            <a:extLst>
              <a:ext uri="{FF2B5EF4-FFF2-40B4-BE49-F238E27FC236}">
                <a16:creationId xmlns:a16="http://schemas.microsoft.com/office/drawing/2014/main" id="{A99AA154-CA5A-0612-E4DD-7BD32817599C}"/>
              </a:ext>
            </a:extLst>
          </p:cNvPr>
          <p:cNvPicPr preferRelativeResize="0"/>
          <p:nvPr/>
        </p:nvPicPr>
        <p:blipFill rotWithShape="1">
          <a:blip r:embed="rId3">
            <a:alphaModFix/>
          </a:blip>
          <a:srcRect l="47657" t="69798" r="27913" b="16405"/>
          <a:stretch>
            <a:fillRect/>
          </a:stretch>
        </p:blipFill>
        <p:spPr>
          <a:xfrm>
            <a:off x="5725925" y="4680804"/>
            <a:ext cx="1643875" cy="518324"/>
          </a:xfrm>
          <a:prstGeom prst="rect">
            <a:avLst/>
          </a:prstGeom>
          <a:noFill/>
          <a:ln>
            <a:noFill/>
          </a:ln>
        </p:spPr>
      </p:pic>
      <p:sp>
        <p:nvSpPr>
          <p:cNvPr id="20" name="Google Shape;343;g2791966677f_0_79">
            <a:extLst>
              <a:ext uri="{FF2B5EF4-FFF2-40B4-BE49-F238E27FC236}">
                <a16:creationId xmlns:a16="http://schemas.microsoft.com/office/drawing/2014/main" id="{75484577-4454-A45D-0B53-809BAE320780}"/>
              </a:ext>
            </a:extLst>
          </p:cNvPr>
          <p:cNvSpPr txBox="1"/>
          <p:nvPr/>
        </p:nvSpPr>
        <p:spPr>
          <a:xfrm>
            <a:off x="9320450" y="2672920"/>
            <a:ext cx="2547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5, 8)</a:t>
            </a:r>
            <a:endParaRPr sz="2000" dirty="0">
              <a:solidFill>
                <a:srgbClr val="4A86E8"/>
              </a:solidFill>
              <a:latin typeface="Calibri"/>
              <a:ea typeface="Calibri"/>
              <a:cs typeface="Calibri"/>
              <a:sym typeface="Calibri"/>
            </a:endParaRPr>
          </a:p>
        </p:txBody>
      </p:sp>
      <p:sp>
        <p:nvSpPr>
          <p:cNvPr id="21" name="Google Shape;344;g2791966677f_0_79">
            <a:extLst>
              <a:ext uri="{FF2B5EF4-FFF2-40B4-BE49-F238E27FC236}">
                <a16:creationId xmlns:a16="http://schemas.microsoft.com/office/drawing/2014/main" id="{71BE464C-C0A8-5222-7208-AB64E3656557}"/>
              </a:ext>
            </a:extLst>
          </p:cNvPr>
          <p:cNvSpPr txBox="1"/>
          <p:nvPr/>
        </p:nvSpPr>
        <p:spPr>
          <a:xfrm>
            <a:off x="9365000" y="3096325"/>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5, 8)</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err="1">
                <a:solidFill>
                  <a:srgbClr val="38761D"/>
                </a:solidFill>
                <a:latin typeface="Calibri"/>
                <a:ea typeface="Calibri"/>
                <a:cs typeface="Calibri"/>
                <a:sym typeface="Calibri"/>
              </a:rPr>
              <a:t>PivotIndex</a:t>
            </a:r>
            <a:r>
              <a:rPr lang="en-US" sz="2000" dirty="0">
                <a:solidFill>
                  <a:srgbClr val="38761D"/>
                </a:solidFill>
                <a:latin typeface="Calibri"/>
                <a:ea typeface="Calibri"/>
                <a:cs typeface="Calibri"/>
                <a:sym typeface="Calibri"/>
              </a:rPr>
              <a:t>= 8</a:t>
            </a:r>
            <a:endParaRPr sz="2000" dirty="0">
              <a:solidFill>
                <a:srgbClr val="38761D"/>
              </a:solidFill>
              <a:latin typeface="Calibri"/>
              <a:ea typeface="Calibri"/>
              <a:cs typeface="Calibri"/>
              <a:sym typeface="Calibri"/>
            </a:endParaRPr>
          </a:p>
        </p:txBody>
      </p:sp>
      <p:sp>
        <p:nvSpPr>
          <p:cNvPr id="22" name="Rectangle 21">
            <a:extLst>
              <a:ext uri="{FF2B5EF4-FFF2-40B4-BE49-F238E27FC236}">
                <a16:creationId xmlns:a16="http://schemas.microsoft.com/office/drawing/2014/main" id="{C3D8C723-6DC5-DB52-5350-8A670E76DDDF}"/>
              </a:ext>
            </a:extLst>
          </p:cNvPr>
          <p:cNvSpPr/>
          <p:nvPr/>
        </p:nvSpPr>
        <p:spPr>
          <a:xfrm>
            <a:off x="7634011"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10</a:t>
            </a:r>
          </a:p>
        </p:txBody>
      </p:sp>
      <p:sp>
        <p:nvSpPr>
          <p:cNvPr id="23" name="Rectangle 22">
            <a:extLst>
              <a:ext uri="{FF2B5EF4-FFF2-40B4-BE49-F238E27FC236}">
                <a16:creationId xmlns:a16="http://schemas.microsoft.com/office/drawing/2014/main" id="{8D315598-C2A4-06A6-8758-C4C065C577AD}"/>
              </a:ext>
            </a:extLst>
          </p:cNvPr>
          <p:cNvSpPr/>
          <p:nvPr/>
        </p:nvSpPr>
        <p:spPr>
          <a:xfrm>
            <a:off x="7193019" y="5455006"/>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9</a:t>
            </a:r>
          </a:p>
        </p:txBody>
      </p:sp>
      <p:sp>
        <p:nvSpPr>
          <p:cNvPr id="24" name="Rectangle 23">
            <a:extLst>
              <a:ext uri="{FF2B5EF4-FFF2-40B4-BE49-F238E27FC236}">
                <a16:creationId xmlns:a16="http://schemas.microsoft.com/office/drawing/2014/main" id="{1DA70D23-1CDE-0652-1C4A-4E21AAECAD57}"/>
              </a:ext>
            </a:extLst>
          </p:cNvPr>
          <p:cNvSpPr/>
          <p:nvPr/>
        </p:nvSpPr>
        <p:spPr>
          <a:xfrm>
            <a:off x="6217205"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7</a:t>
            </a:r>
          </a:p>
        </p:txBody>
      </p:sp>
      <p:sp>
        <p:nvSpPr>
          <p:cNvPr id="25" name="Rectangle 24">
            <a:extLst>
              <a:ext uri="{FF2B5EF4-FFF2-40B4-BE49-F238E27FC236}">
                <a16:creationId xmlns:a16="http://schemas.microsoft.com/office/drawing/2014/main" id="{3EA584B7-E6BB-E36D-D7D8-63CBB821D6CE}"/>
              </a:ext>
            </a:extLst>
          </p:cNvPr>
          <p:cNvSpPr/>
          <p:nvPr/>
        </p:nvSpPr>
        <p:spPr>
          <a:xfrm>
            <a:off x="5721878" y="542780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6</a:t>
            </a:r>
          </a:p>
        </p:txBody>
      </p:sp>
      <p:sp>
        <p:nvSpPr>
          <p:cNvPr id="26" name="Rectangle 25">
            <a:extLst>
              <a:ext uri="{FF2B5EF4-FFF2-40B4-BE49-F238E27FC236}">
                <a16:creationId xmlns:a16="http://schemas.microsoft.com/office/drawing/2014/main" id="{3CB0010A-F21C-8C96-15D0-D44B1311DD87}"/>
              </a:ext>
            </a:extLst>
          </p:cNvPr>
          <p:cNvSpPr/>
          <p:nvPr/>
        </p:nvSpPr>
        <p:spPr>
          <a:xfrm>
            <a:off x="6677504"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8</a:t>
            </a:r>
          </a:p>
        </p:txBody>
      </p:sp>
      <p:sp>
        <p:nvSpPr>
          <p:cNvPr id="27" name="Rectangle 26">
            <a:extLst>
              <a:ext uri="{FF2B5EF4-FFF2-40B4-BE49-F238E27FC236}">
                <a16:creationId xmlns:a16="http://schemas.microsoft.com/office/drawing/2014/main" id="{9B3E1450-CED6-E5B1-935F-0DFB28B81F7E}"/>
              </a:ext>
            </a:extLst>
          </p:cNvPr>
          <p:cNvSpPr/>
          <p:nvPr/>
        </p:nvSpPr>
        <p:spPr>
          <a:xfrm>
            <a:off x="6847526" y="3270666"/>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5</a:t>
            </a:r>
          </a:p>
        </p:txBody>
      </p:sp>
      <p:sp>
        <p:nvSpPr>
          <p:cNvPr id="28" name="Rectangle 27">
            <a:extLst>
              <a:ext uri="{FF2B5EF4-FFF2-40B4-BE49-F238E27FC236}">
                <a16:creationId xmlns:a16="http://schemas.microsoft.com/office/drawing/2014/main" id="{2EA25552-E131-0B53-9275-EA465AEE3D2C}"/>
              </a:ext>
            </a:extLst>
          </p:cNvPr>
          <p:cNvSpPr/>
          <p:nvPr/>
        </p:nvSpPr>
        <p:spPr>
          <a:xfrm>
            <a:off x="8979736" y="3235720"/>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10</a:t>
            </a:r>
          </a:p>
        </p:txBody>
      </p:sp>
      <p:sp>
        <p:nvSpPr>
          <p:cNvPr id="29" name="Rectangle 28">
            <a:extLst>
              <a:ext uri="{FF2B5EF4-FFF2-40B4-BE49-F238E27FC236}">
                <a16:creationId xmlns:a16="http://schemas.microsoft.com/office/drawing/2014/main" id="{34193D8B-60E9-EC10-7C51-B9D80581A0E3}"/>
              </a:ext>
            </a:extLst>
          </p:cNvPr>
          <p:cNvSpPr/>
          <p:nvPr/>
        </p:nvSpPr>
        <p:spPr>
          <a:xfrm>
            <a:off x="6436588" y="3999790"/>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5</a:t>
            </a:r>
          </a:p>
        </p:txBody>
      </p:sp>
      <p:sp>
        <p:nvSpPr>
          <p:cNvPr id="30" name="Rectangle 29">
            <a:extLst>
              <a:ext uri="{FF2B5EF4-FFF2-40B4-BE49-F238E27FC236}">
                <a16:creationId xmlns:a16="http://schemas.microsoft.com/office/drawing/2014/main" id="{A0F09515-8E40-2330-0F34-3A03B5E49BD0}"/>
              </a:ext>
            </a:extLst>
          </p:cNvPr>
          <p:cNvSpPr/>
          <p:nvPr/>
        </p:nvSpPr>
        <p:spPr>
          <a:xfrm>
            <a:off x="7442654" y="3990628"/>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8</a:t>
            </a:r>
          </a:p>
        </p:txBody>
      </p:sp>
      <p:sp>
        <p:nvSpPr>
          <p:cNvPr id="31" name="Rectangle 30">
            <a:extLst>
              <a:ext uri="{FF2B5EF4-FFF2-40B4-BE49-F238E27FC236}">
                <a16:creationId xmlns:a16="http://schemas.microsoft.com/office/drawing/2014/main" id="{69E4BF61-3F7E-8B61-AC98-4D5610296BA8}"/>
              </a:ext>
            </a:extLst>
          </p:cNvPr>
          <p:cNvSpPr/>
          <p:nvPr/>
        </p:nvSpPr>
        <p:spPr>
          <a:xfrm>
            <a:off x="8383683" y="4017986"/>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10</a:t>
            </a:r>
          </a:p>
        </p:txBody>
      </p:sp>
      <p:sp>
        <p:nvSpPr>
          <p:cNvPr id="288" name="Rectangle 287">
            <a:extLst>
              <a:ext uri="{FF2B5EF4-FFF2-40B4-BE49-F238E27FC236}">
                <a16:creationId xmlns:a16="http://schemas.microsoft.com/office/drawing/2014/main" id="{722ED465-ECFF-DBDB-B7EF-4885012B8D9B}"/>
              </a:ext>
            </a:extLst>
          </p:cNvPr>
          <p:cNvSpPr/>
          <p:nvPr/>
        </p:nvSpPr>
        <p:spPr>
          <a:xfrm>
            <a:off x="6031924" y="4622298"/>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5</a:t>
            </a:r>
          </a:p>
        </p:txBody>
      </p:sp>
      <p:sp>
        <p:nvSpPr>
          <p:cNvPr id="289" name="Rectangle 288">
            <a:extLst>
              <a:ext uri="{FF2B5EF4-FFF2-40B4-BE49-F238E27FC236}">
                <a16:creationId xmlns:a16="http://schemas.microsoft.com/office/drawing/2014/main" id="{79ECFCBB-E7EA-93DF-7CAA-3513F4C2C3EC}"/>
              </a:ext>
            </a:extLst>
          </p:cNvPr>
          <p:cNvSpPr/>
          <p:nvPr/>
        </p:nvSpPr>
        <p:spPr>
          <a:xfrm>
            <a:off x="6839801" y="4602841"/>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7</a:t>
            </a:r>
          </a:p>
        </p:txBody>
      </p:sp>
      <p:sp>
        <p:nvSpPr>
          <p:cNvPr id="290" name="Rectangle 289">
            <a:extLst>
              <a:ext uri="{FF2B5EF4-FFF2-40B4-BE49-F238E27FC236}">
                <a16:creationId xmlns:a16="http://schemas.microsoft.com/office/drawing/2014/main" id="{39CED32F-A7FA-7257-334F-AE9F07C4E83D}"/>
              </a:ext>
            </a:extLst>
          </p:cNvPr>
          <p:cNvSpPr/>
          <p:nvPr/>
        </p:nvSpPr>
        <p:spPr>
          <a:xfrm>
            <a:off x="8103114" y="5438402"/>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11</a:t>
            </a:r>
          </a:p>
        </p:txBody>
      </p:sp>
    </p:spTree>
    <p:extLst>
      <p:ext uri="{BB962C8B-B14F-4D97-AF65-F5344CB8AC3E}">
        <p14:creationId xmlns:p14="http://schemas.microsoft.com/office/powerpoint/2010/main" val="30866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p:bldP spid="25" grpId="0"/>
      <p:bldP spid="26" grpId="0"/>
      <p:bldP spid="29" grpId="0"/>
      <p:bldP spid="30" grpId="0"/>
      <p:bldP spid="31" grpId="0"/>
      <p:bldP spid="288" grpId="0"/>
      <p:bldP spid="289" grpId="0"/>
      <p:bldP spid="29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a:extLst>
            <a:ext uri="{FF2B5EF4-FFF2-40B4-BE49-F238E27FC236}">
              <a16:creationId xmlns:a16="http://schemas.microsoft.com/office/drawing/2014/main" id="{43C672F9-7741-C1B0-FF10-37C6E55B59FB}"/>
            </a:ext>
          </a:extLst>
        </p:cNvPr>
        <p:cNvGrpSpPr/>
        <p:nvPr/>
      </p:nvGrpSpPr>
      <p:grpSpPr>
        <a:xfrm>
          <a:off x="0" y="0"/>
          <a:ext cx="0" cy="0"/>
          <a:chOff x="0" y="0"/>
          <a:chExt cx="0" cy="0"/>
        </a:xfrm>
      </p:grpSpPr>
      <p:sp>
        <p:nvSpPr>
          <p:cNvPr id="382" name="Google Shape;382;g277de705e21_0_206">
            <a:extLst>
              <a:ext uri="{FF2B5EF4-FFF2-40B4-BE49-F238E27FC236}">
                <a16:creationId xmlns:a16="http://schemas.microsoft.com/office/drawing/2014/main" id="{256B44DB-CDC1-5CEB-14D9-614736954E5B}"/>
              </a:ext>
            </a:extLst>
          </p:cNvPr>
          <p:cNvSpPr txBox="1"/>
          <p:nvPr/>
        </p:nvSpPr>
        <p:spPr>
          <a:xfrm>
            <a:off x="3949437" y="5718116"/>
            <a:ext cx="4050039" cy="849061"/>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b="1" dirty="0" err="1">
                <a:solidFill>
                  <a:srgbClr val="FF0000"/>
                </a:solidFill>
                <a:latin typeface="Calibri"/>
                <a:ea typeface="Calibri"/>
                <a:cs typeface="Calibri"/>
                <a:sym typeface="Calibri"/>
              </a:rPr>
              <a:t>boundaryIndex</a:t>
            </a:r>
            <a:r>
              <a:rPr lang="en-US" b="1" dirty="0">
                <a:solidFill>
                  <a:srgbClr val="FF0000"/>
                </a:solidFill>
                <a:latin typeface="Calibri"/>
                <a:ea typeface="Calibri"/>
                <a:cs typeface="Calibri"/>
                <a:sym typeface="Calibri"/>
              </a:rPr>
              <a:t> </a:t>
            </a:r>
            <a:r>
              <a:rPr lang="en-US" b="1" dirty="0">
                <a:latin typeface="Calibri"/>
                <a:ea typeface="Calibri"/>
                <a:cs typeface="Calibri"/>
                <a:sym typeface="Calibri"/>
              </a:rPr>
              <a:t>tracks the start of elements greater than the pivot</a:t>
            </a:r>
          </a:p>
        </p:txBody>
      </p:sp>
      <p:sp>
        <p:nvSpPr>
          <p:cNvPr id="4" name="Title 2">
            <a:extLst>
              <a:ext uri="{FF2B5EF4-FFF2-40B4-BE49-F238E27FC236}">
                <a16:creationId xmlns:a16="http://schemas.microsoft.com/office/drawing/2014/main" id="{D3FCD8A4-1A8F-BBB8-61CB-1ACD54E5BA89}"/>
              </a:ext>
            </a:extLst>
          </p:cNvPr>
          <p:cNvSpPr txBox="1">
            <a:spLocks/>
          </p:cNvSpPr>
          <p:nvPr/>
        </p:nvSpPr>
        <p:spPr>
          <a:xfrm>
            <a:off x="528851" y="85658"/>
            <a:ext cx="6145933"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rPr>
              <a:t>Quick Sort: </a:t>
            </a:r>
            <a:r>
              <a:rPr lang="en-US" dirty="0">
                <a:solidFill>
                  <a:srgbClr val="C00000"/>
                </a:solidFill>
              </a:rPr>
              <a:t>Partitioning </a:t>
            </a:r>
          </a:p>
          <a:p>
            <a:r>
              <a:rPr lang="en-US" sz="3600" dirty="0">
                <a:solidFill>
                  <a:srgbClr val="C00000"/>
                </a:solidFill>
              </a:rPr>
              <a:t>(Using last element as the Pivot)</a:t>
            </a:r>
            <a:endParaRPr lang="en-US" sz="3600" dirty="0"/>
          </a:p>
        </p:txBody>
      </p:sp>
      <p:pic>
        <p:nvPicPr>
          <p:cNvPr id="3" name="Picture 2">
            <a:extLst>
              <a:ext uri="{FF2B5EF4-FFF2-40B4-BE49-F238E27FC236}">
                <a16:creationId xmlns:a16="http://schemas.microsoft.com/office/drawing/2014/main" id="{614D32B4-1623-97F3-D8FD-5B1A53E21FB7}"/>
              </a:ext>
            </a:extLst>
          </p:cNvPr>
          <p:cNvPicPr>
            <a:picLocks noChangeAspect="1"/>
          </p:cNvPicPr>
          <p:nvPr/>
        </p:nvPicPr>
        <p:blipFill>
          <a:blip r:embed="rId3"/>
          <a:stretch>
            <a:fillRect/>
          </a:stretch>
        </p:blipFill>
        <p:spPr>
          <a:xfrm>
            <a:off x="3645808" y="1830501"/>
            <a:ext cx="4618172" cy="3834732"/>
          </a:xfrm>
          <a:prstGeom prst="rect">
            <a:avLst/>
          </a:prstGeom>
        </p:spPr>
      </p:pic>
      <p:sp>
        <p:nvSpPr>
          <p:cNvPr id="355" name="TextBox 354">
            <a:extLst>
              <a:ext uri="{FF2B5EF4-FFF2-40B4-BE49-F238E27FC236}">
                <a16:creationId xmlns:a16="http://schemas.microsoft.com/office/drawing/2014/main" id="{4104D864-08A4-97BF-6D82-0D0D8D2F0FC8}"/>
              </a:ext>
            </a:extLst>
          </p:cNvPr>
          <p:cNvSpPr txBox="1"/>
          <p:nvPr/>
        </p:nvSpPr>
        <p:spPr>
          <a:xfrm>
            <a:off x="3659797" y="1364655"/>
            <a:ext cx="3693994" cy="461665"/>
          </a:xfrm>
          <a:prstGeom prst="rect">
            <a:avLst/>
          </a:prstGeom>
          <a:noFill/>
        </p:spPr>
        <p:txBody>
          <a:bodyPr wrap="square" rtlCol="0">
            <a:spAutoFit/>
          </a:bodyPr>
          <a:lstStyle/>
          <a:p>
            <a:r>
              <a:rPr lang="en-US" sz="2400" b="1" u="sng" dirty="0"/>
              <a:t>Pseudocode</a:t>
            </a:r>
          </a:p>
        </p:txBody>
      </p:sp>
    </p:spTree>
    <p:extLst>
      <p:ext uri="{BB962C8B-B14F-4D97-AF65-F5344CB8AC3E}">
        <p14:creationId xmlns:p14="http://schemas.microsoft.com/office/powerpoint/2010/main" val="2592890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40372F7B-FFF2-5CE9-C8ED-385126209456}"/>
              </a:ext>
            </a:extLst>
          </p:cNvPr>
          <p:cNvSpPr txBox="1">
            <a:spLocks/>
          </p:cNvSpPr>
          <p:nvPr/>
        </p:nvSpPr>
        <p:spPr>
          <a:xfrm>
            <a:off x="528851" y="85658"/>
            <a:ext cx="8534301"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rPr>
              <a:t>Quick Sort: </a:t>
            </a:r>
            <a:r>
              <a:rPr lang="en-US" dirty="0">
                <a:solidFill>
                  <a:srgbClr val="C00000"/>
                </a:solidFill>
              </a:rPr>
              <a:t>Partitioning Example1</a:t>
            </a:r>
          </a:p>
          <a:p>
            <a:r>
              <a:rPr lang="en-US" sz="3600" dirty="0">
                <a:solidFill>
                  <a:srgbClr val="C00000"/>
                </a:solidFill>
              </a:rPr>
              <a:t>(Using last element as the Pivot)</a:t>
            </a:r>
            <a:endParaRPr lang="en-US" sz="3600" dirty="0"/>
          </a:p>
        </p:txBody>
      </p:sp>
      <p:pic>
        <p:nvPicPr>
          <p:cNvPr id="8" name="Picture 7">
            <a:extLst>
              <a:ext uri="{FF2B5EF4-FFF2-40B4-BE49-F238E27FC236}">
                <a16:creationId xmlns:a16="http://schemas.microsoft.com/office/drawing/2014/main" id="{293B79B3-3390-25AF-169C-F6B56338DAD3}"/>
              </a:ext>
            </a:extLst>
          </p:cNvPr>
          <p:cNvPicPr>
            <a:picLocks noChangeAspect="1"/>
          </p:cNvPicPr>
          <p:nvPr/>
        </p:nvPicPr>
        <p:blipFill>
          <a:blip r:embed="rId3"/>
          <a:srcRect l="981" t="48889" r="16932"/>
          <a:stretch>
            <a:fillRect/>
          </a:stretch>
        </p:blipFill>
        <p:spPr>
          <a:xfrm>
            <a:off x="6501690" y="1721323"/>
            <a:ext cx="5147679" cy="4974966"/>
          </a:xfrm>
          <a:prstGeom prst="rect">
            <a:avLst/>
          </a:prstGeom>
        </p:spPr>
      </p:pic>
      <p:pic>
        <p:nvPicPr>
          <p:cNvPr id="9" name="Picture 8">
            <a:extLst>
              <a:ext uri="{FF2B5EF4-FFF2-40B4-BE49-F238E27FC236}">
                <a16:creationId xmlns:a16="http://schemas.microsoft.com/office/drawing/2014/main" id="{D3830EE3-6020-ACF2-A952-0D65FE51D3A9}"/>
              </a:ext>
            </a:extLst>
          </p:cNvPr>
          <p:cNvPicPr>
            <a:picLocks noChangeAspect="1"/>
          </p:cNvPicPr>
          <p:nvPr/>
        </p:nvPicPr>
        <p:blipFill>
          <a:blip r:embed="rId3"/>
          <a:srcRect l="71491" t="13527" r="1443" b="73751"/>
          <a:stretch>
            <a:fillRect/>
          </a:stretch>
        </p:blipFill>
        <p:spPr>
          <a:xfrm>
            <a:off x="9857510" y="233585"/>
            <a:ext cx="1891144" cy="1379806"/>
          </a:xfrm>
          <a:prstGeom prst="rect">
            <a:avLst/>
          </a:prstGeom>
        </p:spPr>
      </p:pic>
      <p:grpSp>
        <p:nvGrpSpPr>
          <p:cNvPr id="12" name="Group 11">
            <a:extLst>
              <a:ext uri="{FF2B5EF4-FFF2-40B4-BE49-F238E27FC236}">
                <a16:creationId xmlns:a16="http://schemas.microsoft.com/office/drawing/2014/main" id="{1F39975C-8288-AB27-D294-362BFE5F0CF2}"/>
              </a:ext>
            </a:extLst>
          </p:cNvPr>
          <p:cNvGrpSpPr/>
          <p:nvPr/>
        </p:nvGrpSpPr>
        <p:grpSpPr>
          <a:xfrm>
            <a:off x="678871" y="2173128"/>
            <a:ext cx="5223165" cy="4172254"/>
            <a:chOff x="678871" y="2173128"/>
            <a:chExt cx="5223165" cy="4172254"/>
          </a:xfrm>
        </p:grpSpPr>
        <p:pic>
          <p:nvPicPr>
            <p:cNvPr id="6" name="Picture 5">
              <a:extLst>
                <a:ext uri="{FF2B5EF4-FFF2-40B4-BE49-F238E27FC236}">
                  <a16:creationId xmlns:a16="http://schemas.microsoft.com/office/drawing/2014/main" id="{E3D4AF81-6ECD-806B-97E0-6171CBED5F5D}"/>
                </a:ext>
              </a:extLst>
            </p:cNvPr>
            <p:cNvPicPr>
              <a:picLocks noChangeAspect="1"/>
            </p:cNvPicPr>
            <p:nvPr/>
          </p:nvPicPr>
          <p:blipFill>
            <a:blip r:embed="rId3"/>
            <a:srcRect l="895" t="7705" r="22406" b="51156"/>
            <a:stretch>
              <a:fillRect/>
            </a:stretch>
          </p:blipFill>
          <p:spPr>
            <a:xfrm>
              <a:off x="678871" y="2173128"/>
              <a:ext cx="5011441" cy="4172254"/>
            </a:xfrm>
            <a:prstGeom prst="rect">
              <a:avLst/>
            </a:prstGeom>
          </p:spPr>
        </p:pic>
        <p:sp>
          <p:nvSpPr>
            <p:cNvPr id="11" name="Rectangle 10">
              <a:extLst>
                <a:ext uri="{FF2B5EF4-FFF2-40B4-BE49-F238E27FC236}">
                  <a16:creationId xmlns:a16="http://schemas.microsoft.com/office/drawing/2014/main" id="{D291AA85-B4A5-4B63-8620-67C54051F758}"/>
                </a:ext>
              </a:extLst>
            </p:cNvPr>
            <p:cNvSpPr/>
            <p:nvPr/>
          </p:nvSpPr>
          <p:spPr>
            <a:xfrm>
              <a:off x="5188528" y="2396836"/>
              <a:ext cx="713508" cy="181494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6792DDA8-226A-88B7-4BC8-61750FCEF9C7}"/>
              </a:ext>
            </a:extLst>
          </p:cNvPr>
          <p:cNvSpPr/>
          <p:nvPr/>
        </p:nvSpPr>
        <p:spPr>
          <a:xfrm>
            <a:off x="4953663" y="3085106"/>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3C76BF8E-9101-BA1E-A2BB-A5D8F4730841}"/>
              </a:ext>
            </a:extLst>
          </p:cNvPr>
          <p:cNvPicPr>
            <a:picLocks noChangeAspect="1"/>
          </p:cNvPicPr>
          <p:nvPr/>
        </p:nvPicPr>
        <p:blipFill>
          <a:blip r:embed="rId4"/>
          <a:srcRect b="60551"/>
          <a:stretch>
            <a:fillRect/>
          </a:stretch>
        </p:blipFill>
        <p:spPr>
          <a:xfrm>
            <a:off x="967277" y="5884632"/>
            <a:ext cx="886703" cy="142457"/>
          </a:xfrm>
          <a:prstGeom prst="rect">
            <a:avLst/>
          </a:prstGeom>
        </p:spPr>
      </p:pic>
      <p:pic>
        <p:nvPicPr>
          <p:cNvPr id="24" name="Picture 23">
            <a:extLst>
              <a:ext uri="{FF2B5EF4-FFF2-40B4-BE49-F238E27FC236}">
                <a16:creationId xmlns:a16="http://schemas.microsoft.com/office/drawing/2014/main" id="{4BA57AAB-AC0D-4074-8CA8-A1F45F3729B8}"/>
              </a:ext>
            </a:extLst>
          </p:cNvPr>
          <p:cNvPicPr>
            <a:picLocks noChangeAspect="1"/>
          </p:cNvPicPr>
          <p:nvPr/>
        </p:nvPicPr>
        <p:blipFill>
          <a:blip r:embed="rId4"/>
          <a:srcRect l="-1" t="35160" r="25591" b="-28621"/>
          <a:stretch>
            <a:fillRect/>
          </a:stretch>
        </p:blipFill>
        <p:spPr>
          <a:xfrm>
            <a:off x="1714518" y="5955860"/>
            <a:ext cx="841827" cy="430613"/>
          </a:xfrm>
          <a:prstGeom prst="rect">
            <a:avLst/>
          </a:prstGeom>
        </p:spPr>
      </p:pic>
      <p:pic>
        <p:nvPicPr>
          <p:cNvPr id="26" name="Picture 25">
            <a:extLst>
              <a:ext uri="{FF2B5EF4-FFF2-40B4-BE49-F238E27FC236}">
                <a16:creationId xmlns:a16="http://schemas.microsoft.com/office/drawing/2014/main" id="{08B15638-3CFB-1BC1-FA27-6A94F066FD46}"/>
              </a:ext>
            </a:extLst>
          </p:cNvPr>
          <p:cNvPicPr>
            <a:picLocks noChangeAspect="1"/>
          </p:cNvPicPr>
          <p:nvPr/>
        </p:nvPicPr>
        <p:blipFill>
          <a:blip r:embed="rId5"/>
          <a:stretch>
            <a:fillRect/>
          </a:stretch>
        </p:blipFill>
        <p:spPr>
          <a:xfrm>
            <a:off x="1064718" y="4492695"/>
            <a:ext cx="708424" cy="328112"/>
          </a:xfrm>
          <a:prstGeom prst="rect">
            <a:avLst/>
          </a:prstGeom>
        </p:spPr>
      </p:pic>
      <p:sp>
        <p:nvSpPr>
          <p:cNvPr id="27" name="Rectangle 26">
            <a:extLst>
              <a:ext uri="{FF2B5EF4-FFF2-40B4-BE49-F238E27FC236}">
                <a16:creationId xmlns:a16="http://schemas.microsoft.com/office/drawing/2014/main" id="{7862A613-B423-147A-AA90-FB62D3E7A381}"/>
              </a:ext>
            </a:extLst>
          </p:cNvPr>
          <p:cNvSpPr/>
          <p:nvPr/>
        </p:nvSpPr>
        <p:spPr>
          <a:xfrm>
            <a:off x="1695257" y="4594195"/>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FE59BBB5-986A-01FE-2592-824B29EB8F61}"/>
              </a:ext>
            </a:extLst>
          </p:cNvPr>
          <p:cNvSpPr/>
          <p:nvPr/>
        </p:nvSpPr>
        <p:spPr>
          <a:xfrm>
            <a:off x="1286603" y="4795294"/>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975B575-5FDA-ECAD-4F4F-DB2F41C060B6}"/>
              </a:ext>
            </a:extLst>
          </p:cNvPr>
          <p:cNvSpPr/>
          <p:nvPr/>
        </p:nvSpPr>
        <p:spPr>
          <a:xfrm>
            <a:off x="2387379" y="5932377"/>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B0812C69-75C0-4D80-4C40-24C4F68E6700}"/>
              </a:ext>
            </a:extLst>
          </p:cNvPr>
          <p:cNvPicPr>
            <a:picLocks noChangeAspect="1"/>
          </p:cNvPicPr>
          <p:nvPr/>
        </p:nvPicPr>
        <p:blipFill>
          <a:blip r:embed="rId5"/>
          <a:srcRect b="38227"/>
          <a:stretch>
            <a:fillRect/>
          </a:stretch>
        </p:blipFill>
        <p:spPr>
          <a:xfrm>
            <a:off x="6830738" y="2608102"/>
            <a:ext cx="708424" cy="202684"/>
          </a:xfrm>
          <a:prstGeom prst="rect">
            <a:avLst/>
          </a:prstGeom>
        </p:spPr>
      </p:pic>
      <p:pic>
        <p:nvPicPr>
          <p:cNvPr id="31" name="Picture 30">
            <a:extLst>
              <a:ext uri="{FF2B5EF4-FFF2-40B4-BE49-F238E27FC236}">
                <a16:creationId xmlns:a16="http://schemas.microsoft.com/office/drawing/2014/main" id="{58CF3DF9-A25C-83E9-96F3-9EF2494C6EEA}"/>
              </a:ext>
            </a:extLst>
          </p:cNvPr>
          <p:cNvPicPr>
            <a:picLocks noChangeAspect="1"/>
          </p:cNvPicPr>
          <p:nvPr/>
        </p:nvPicPr>
        <p:blipFill>
          <a:blip r:embed="rId5"/>
          <a:srcRect t="55514"/>
          <a:stretch>
            <a:fillRect/>
          </a:stretch>
        </p:blipFill>
        <p:spPr>
          <a:xfrm>
            <a:off x="7747727" y="2663687"/>
            <a:ext cx="915219" cy="188572"/>
          </a:xfrm>
          <a:prstGeom prst="rect">
            <a:avLst/>
          </a:prstGeom>
        </p:spPr>
      </p:pic>
      <p:sp>
        <p:nvSpPr>
          <p:cNvPr id="32" name="Rectangle 31">
            <a:extLst>
              <a:ext uri="{FF2B5EF4-FFF2-40B4-BE49-F238E27FC236}">
                <a16:creationId xmlns:a16="http://schemas.microsoft.com/office/drawing/2014/main" id="{5D94CAB4-6204-9346-3EB6-DA8051D5CE30}"/>
              </a:ext>
            </a:extLst>
          </p:cNvPr>
          <p:cNvSpPr/>
          <p:nvPr/>
        </p:nvSpPr>
        <p:spPr>
          <a:xfrm>
            <a:off x="8407512" y="2625647"/>
            <a:ext cx="569511" cy="3163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7D2FBF0-F368-04A4-B2E4-392A1B3FB3E1}"/>
              </a:ext>
            </a:extLst>
          </p:cNvPr>
          <p:cNvSpPr/>
          <p:nvPr/>
        </p:nvSpPr>
        <p:spPr>
          <a:xfrm>
            <a:off x="8087802" y="2831357"/>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Picture 34">
            <a:extLst>
              <a:ext uri="{FF2B5EF4-FFF2-40B4-BE49-F238E27FC236}">
                <a16:creationId xmlns:a16="http://schemas.microsoft.com/office/drawing/2014/main" id="{62120C98-D695-4588-D52E-3C902BDC4AE0}"/>
              </a:ext>
            </a:extLst>
          </p:cNvPr>
          <p:cNvPicPr>
            <a:picLocks noChangeAspect="1"/>
          </p:cNvPicPr>
          <p:nvPr/>
        </p:nvPicPr>
        <p:blipFill>
          <a:blip r:embed="rId6"/>
          <a:srcRect r="26244" b="30494"/>
          <a:stretch>
            <a:fillRect/>
          </a:stretch>
        </p:blipFill>
        <p:spPr>
          <a:xfrm>
            <a:off x="7194605" y="5766520"/>
            <a:ext cx="1868547" cy="622355"/>
          </a:xfrm>
          <a:prstGeom prst="rect">
            <a:avLst/>
          </a:prstGeom>
        </p:spPr>
      </p:pic>
      <p:pic>
        <p:nvPicPr>
          <p:cNvPr id="37" name="Picture 36">
            <a:extLst>
              <a:ext uri="{FF2B5EF4-FFF2-40B4-BE49-F238E27FC236}">
                <a16:creationId xmlns:a16="http://schemas.microsoft.com/office/drawing/2014/main" id="{165AB6CE-7A32-13E1-7649-F7C5B8F8BF6D}"/>
              </a:ext>
            </a:extLst>
          </p:cNvPr>
          <p:cNvPicPr>
            <a:picLocks noChangeAspect="1"/>
          </p:cNvPicPr>
          <p:nvPr/>
        </p:nvPicPr>
        <p:blipFill>
          <a:blip r:embed="rId7"/>
          <a:stretch>
            <a:fillRect/>
          </a:stretch>
        </p:blipFill>
        <p:spPr>
          <a:xfrm>
            <a:off x="6762584" y="5790344"/>
            <a:ext cx="621181" cy="759688"/>
          </a:xfrm>
          <a:prstGeom prst="rect">
            <a:avLst/>
          </a:prstGeom>
        </p:spPr>
      </p:pic>
      <p:sp>
        <p:nvSpPr>
          <p:cNvPr id="38" name="Rectangle 37">
            <a:extLst>
              <a:ext uri="{FF2B5EF4-FFF2-40B4-BE49-F238E27FC236}">
                <a16:creationId xmlns:a16="http://schemas.microsoft.com/office/drawing/2014/main" id="{75FB9E5F-EDF3-A56F-B39F-C5A710E1FA28}"/>
              </a:ext>
            </a:extLst>
          </p:cNvPr>
          <p:cNvSpPr/>
          <p:nvPr/>
        </p:nvSpPr>
        <p:spPr>
          <a:xfrm>
            <a:off x="11135442" y="4795294"/>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Picture 39">
            <a:extLst>
              <a:ext uri="{FF2B5EF4-FFF2-40B4-BE49-F238E27FC236}">
                <a16:creationId xmlns:a16="http://schemas.microsoft.com/office/drawing/2014/main" id="{4CFC1FB9-8ACB-C886-95DC-BF38DC591393}"/>
              </a:ext>
            </a:extLst>
          </p:cNvPr>
          <p:cNvPicPr>
            <a:picLocks noChangeAspect="1"/>
          </p:cNvPicPr>
          <p:nvPr/>
        </p:nvPicPr>
        <p:blipFill>
          <a:blip r:embed="rId8"/>
          <a:stretch>
            <a:fillRect/>
          </a:stretch>
        </p:blipFill>
        <p:spPr>
          <a:xfrm>
            <a:off x="6463427" y="4317849"/>
            <a:ext cx="5285227" cy="2397423"/>
          </a:xfrm>
          <a:prstGeom prst="rect">
            <a:avLst/>
          </a:prstGeom>
        </p:spPr>
      </p:pic>
    </p:spTree>
    <p:extLst>
      <p:ext uri="{BB962C8B-B14F-4D97-AF65-F5344CB8AC3E}">
        <p14:creationId xmlns:p14="http://schemas.microsoft.com/office/powerpoint/2010/main" val="37572536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049B4-0E47-8E9D-A800-C03F2F3E723D}"/>
              </a:ext>
            </a:extLst>
          </p:cNvPr>
          <p:cNvSpPr>
            <a:spLocks noGrp="1"/>
          </p:cNvSpPr>
          <p:nvPr>
            <p:ph type="title"/>
          </p:nvPr>
        </p:nvSpPr>
        <p:spPr/>
        <p:txBody>
          <a:bodyPr>
            <a:normAutofit/>
          </a:bodyPr>
          <a:lstStyle/>
          <a:p>
            <a:r>
              <a:rPr lang="en-US" sz="4000" b="1" dirty="0">
                <a:solidFill>
                  <a:srgbClr val="C00000"/>
                </a:solidFill>
              </a:rPr>
              <a:t>Quick Sort: </a:t>
            </a:r>
            <a:r>
              <a:rPr lang="en-US" sz="4000" dirty="0">
                <a:solidFill>
                  <a:srgbClr val="C00000"/>
                </a:solidFill>
              </a:rPr>
              <a:t>Partitioning Example2</a:t>
            </a:r>
            <a:br>
              <a:rPr lang="en-US" sz="4000" dirty="0">
                <a:solidFill>
                  <a:srgbClr val="C00000"/>
                </a:solidFill>
              </a:rPr>
            </a:br>
            <a:r>
              <a:rPr lang="en-US" sz="4000" dirty="0">
                <a:solidFill>
                  <a:srgbClr val="C00000"/>
                </a:solidFill>
              </a:rPr>
              <a:t>(Using last element as the Pivot)</a:t>
            </a:r>
            <a:endParaRPr lang="en-US" sz="4000" dirty="0"/>
          </a:p>
        </p:txBody>
      </p:sp>
      <p:pic>
        <p:nvPicPr>
          <p:cNvPr id="27" name="Picture 26">
            <a:extLst>
              <a:ext uri="{FF2B5EF4-FFF2-40B4-BE49-F238E27FC236}">
                <a16:creationId xmlns:a16="http://schemas.microsoft.com/office/drawing/2014/main" id="{A8C313BC-A40A-78D0-49E7-BDAD10F9DF20}"/>
              </a:ext>
            </a:extLst>
          </p:cNvPr>
          <p:cNvPicPr>
            <a:picLocks noChangeAspect="1"/>
          </p:cNvPicPr>
          <p:nvPr/>
        </p:nvPicPr>
        <p:blipFill>
          <a:blip r:embed="rId2"/>
          <a:stretch>
            <a:fillRect/>
          </a:stretch>
        </p:blipFill>
        <p:spPr>
          <a:xfrm>
            <a:off x="674798" y="1978925"/>
            <a:ext cx="3124238" cy="1659265"/>
          </a:xfrm>
          <a:prstGeom prst="rect">
            <a:avLst/>
          </a:prstGeom>
        </p:spPr>
      </p:pic>
      <p:pic>
        <p:nvPicPr>
          <p:cNvPr id="29" name="Picture 28">
            <a:extLst>
              <a:ext uri="{FF2B5EF4-FFF2-40B4-BE49-F238E27FC236}">
                <a16:creationId xmlns:a16="http://schemas.microsoft.com/office/drawing/2014/main" id="{CCA269A4-F650-26D1-DEBD-6AB47070B283}"/>
              </a:ext>
            </a:extLst>
          </p:cNvPr>
          <p:cNvPicPr>
            <a:picLocks noChangeAspect="1"/>
          </p:cNvPicPr>
          <p:nvPr/>
        </p:nvPicPr>
        <p:blipFill>
          <a:blip r:embed="rId3"/>
          <a:stretch>
            <a:fillRect/>
          </a:stretch>
        </p:blipFill>
        <p:spPr>
          <a:xfrm>
            <a:off x="654994" y="4347405"/>
            <a:ext cx="3060565" cy="1471091"/>
          </a:xfrm>
          <a:prstGeom prst="rect">
            <a:avLst/>
          </a:prstGeom>
        </p:spPr>
      </p:pic>
      <p:pic>
        <p:nvPicPr>
          <p:cNvPr id="31" name="Picture 30">
            <a:extLst>
              <a:ext uri="{FF2B5EF4-FFF2-40B4-BE49-F238E27FC236}">
                <a16:creationId xmlns:a16="http://schemas.microsoft.com/office/drawing/2014/main" id="{8AF22E6D-EC2A-2966-A31F-E6193D503E06}"/>
              </a:ext>
            </a:extLst>
          </p:cNvPr>
          <p:cNvPicPr>
            <a:picLocks noChangeAspect="1"/>
          </p:cNvPicPr>
          <p:nvPr/>
        </p:nvPicPr>
        <p:blipFill>
          <a:blip r:embed="rId4"/>
          <a:stretch>
            <a:fillRect/>
          </a:stretch>
        </p:blipFill>
        <p:spPr>
          <a:xfrm>
            <a:off x="4548423" y="1957194"/>
            <a:ext cx="3206792" cy="1680996"/>
          </a:xfrm>
          <a:prstGeom prst="rect">
            <a:avLst/>
          </a:prstGeom>
        </p:spPr>
      </p:pic>
      <p:pic>
        <p:nvPicPr>
          <p:cNvPr id="33" name="Picture 32">
            <a:extLst>
              <a:ext uri="{FF2B5EF4-FFF2-40B4-BE49-F238E27FC236}">
                <a16:creationId xmlns:a16="http://schemas.microsoft.com/office/drawing/2014/main" id="{9661E14A-BB7C-6AAF-756C-9C7DBDB1DADA}"/>
              </a:ext>
            </a:extLst>
          </p:cNvPr>
          <p:cNvPicPr>
            <a:picLocks noChangeAspect="1"/>
          </p:cNvPicPr>
          <p:nvPr/>
        </p:nvPicPr>
        <p:blipFill>
          <a:blip r:embed="rId5"/>
          <a:stretch>
            <a:fillRect/>
          </a:stretch>
        </p:blipFill>
        <p:spPr>
          <a:xfrm>
            <a:off x="4599433" y="4412176"/>
            <a:ext cx="3240599" cy="1680996"/>
          </a:xfrm>
          <a:prstGeom prst="rect">
            <a:avLst/>
          </a:prstGeom>
        </p:spPr>
      </p:pic>
      <p:pic>
        <p:nvPicPr>
          <p:cNvPr id="35" name="Picture 34">
            <a:extLst>
              <a:ext uri="{FF2B5EF4-FFF2-40B4-BE49-F238E27FC236}">
                <a16:creationId xmlns:a16="http://schemas.microsoft.com/office/drawing/2014/main" id="{E6D1A2DD-0BE8-6F30-6D27-50A97558C35D}"/>
              </a:ext>
            </a:extLst>
          </p:cNvPr>
          <p:cNvPicPr>
            <a:picLocks noChangeAspect="1"/>
          </p:cNvPicPr>
          <p:nvPr/>
        </p:nvPicPr>
        <p:blipFill>
          <a:blip r:embed="rId6"/>
          <a:stretch>
            <a:fillRect/>
          </a:stretch>
        </p:blipFill>
        <p:spPr>
          <a:xfrm>
            <a:off x="8577040" y="510571"/>
            <a:ext cx="3339193" cy="1564722"/>
          </a:xfrm>
          <a:prstGeom prst="rect">
            <a:avLst/>
          </a:prstGeom>
        </p:spPr>
      </p:pic>
      <p:pic>
        <p:nvPicPr>
          <p:cNvPr id="37" name="Picture 36">
            <a:extLst>
              <a:ext uri="{FF2B5EF4-FFF2-40B4-BE49-F238E27FC236}">
                <a16:creationId xmlns:a16="http://schemas.microsoft.com/office/drawing/2014/main" id="{F39007D9-1F46-4EE6-1BEA-560EB767151C}"/>
              </a:ext>
            </a:extLst>
          </p:cNvPr>
          <p:cNvPicPr>
            <a:picLocks noChangeAspect="1"/>
          </p:cNvPicPr>
          <p:nvPr/>
        </p:nvPicPr>
        <p:blipFill>
          <a:blip r:embed="rId7"/>
          <a:stretch>
            <a:fillRect/>
          </a:stretch>
        </p:blipFill>
        <p:spPr>
          <a:xfrm>
            <a:off x="8660424" y="2512757"/>
            <a:ext cx="3261346" cy="1550172"/>
          </a:xfrm>
          <a:prstGeom prst="rect">
            <a:avLst/>
          </a:prstGeom>
        </p:spPr>
      </p:pic>
      <p:pic>
        <p:nvPicPr>
          <p:cNvPr id="39" name="Picture 38">
            <a:extLst>
              <a:ext uri="{FF2B5EF4-FFF2-40B4-BE49-F238E27FC236}">
                <a16:creationId xmlns:a16="http://schemas.microsoft.com/office/drawing/2014/main" id="{5A4CA546-8C63-BFF6-ABA8-CAE761D1228F}"/>
              </a:ext>
            </a:extLst>
          </p:cNvPr>
          <p:cNvPicPr>
            <a:picLocks noChangeAspect="1"/>
          </p:cNvPicPr>
          <p:nvPr/>
        </p:nvPicPr>
        <p:blipFill>
          <a:blip r:embed="rId8"/>
          <a:stretch>
            <a:fillRect/>
          </a:stretch>
        </p:blipFill>
        <p:spPr>
          <a:xfrm>
            <a:off x="8577041" y="4572466"/>
            <a:ext cx="3312285" cy="1774964"/>
          </a:xfrm>
          <a:prstGeom prst="rect">
            <a:avLst/>
          </a:prstGeom>
        </p:spPr>
      </p:pic>
      <p:sp>
        <p:nvSpPr>
          <p:cNvPr id="3" name="TextBox 2">
            <a:extLst>
              <a:ext uri="{FF2B5EF4-FFF2-40B4-BE49-F238E27FC236}">
                <a16:creationId xmlns:a16="http://schemas.microsoft.com/office/drawing/2014/main" id="{D59C37AF-F6BC-D4EE-5CF7-AB3F6A1F5CF9}"/>
              </a:ext>
            </a:extLst>
          </p:cNvPr>
          <p:cNvSpPr txBox="1"/>
          <p:nvPr/>
        </p:nvSpPr>
        <p:spPr>
          <a:xfrm>
            <a:off x="143201" y="2539938"/>
            <a:ext cx="650544" cy="646331"/>
          </a:xfrm>
          <a:prstGeom prst="rect">
            <a:avLst/>
          </a:prstGeom>
          <a:noFill/>
        </p:spPr>
        <p:txBody>
          <a:bodyPr wrap="square" rtlCol="0">
            <a:spAutoFit/>
          </a:bodyPr>
          <a:lstStyle/>
          <a:p>
            <a:r>
              <a:rPr lang="en-US" sz="3600" b="1" dirty="0">
                <a:solidFill>
                  <a:srgbClr val="FF0000"/>
                </a:solidFill>
              </a:rPr>
              <a:t>1)</a:t>
            </a:r>
          </a:p>
        </p:txBody>
      </p:sp>
      <p:sp>
        <p:nvSpPr>
          <p:cNvPr id="4" name="TextBox 3">
            <a:extLst>
              <a:ext uri="{FF2B5EF4-FFF2-40B4-BE49-F238E27FC236}">
                <a16:creationId xmlns:a16="http://schemas.microsoft.com/office/drawing/2014/main" id="{0C619B85-BCBE-0632-43B7-726B91DFC85D}"/>
              </a:ext>
            </a:extLst>
          </p:cNvPr>
          <p:cNvSpPr txBox="1"/>
          <p:nvPr/>
        </p:nvSpPr>
        <p:spPr>
          <a:xfrm>
            <a:off x="70991" y="4755108"/>
            <a:ext cx="650544" cy="646331"/>
          </a:xfrm>
          <a:prstGeom prst="rect">
            <a:avLst/>
          </a:prstGeom>
          <a:noFill/>
        </p:spPr>
        <p:txBody>
          <a:bodyPr wrap="square" rtlCol="0">
            <a:spAutoFit/>
          </a:bodyPr>
          <a:lstStyle/>
          <a:p>
            <a:r>
              <a:rPr lang="en-US" sz="3600" b="1" dirty="0">
                <a:solidFill>
                  <a:srgbClr val="FF0000"/>
                </a:solidFill>
              </a:rPr>
              <a:t>2)</a:t>
            </a:r>
          </a:p>
        </p:txBody>
      </p:sp>
      <p:sp>
        <p:nvSpPr>
          <p:cNvPr id="5" name="TextBox 4">
            <a:extLst>
              <a:ext uri="{FF2B5EF4-FFF2-40B4-BE49-F238E27FC236}">
                <a16:creationId xmlns:a16="http://schemas.microsoft.com/office/drawing/2014/main" id="{9C20712C-2BF6-5C5B-59E0-0088C4145F90}"/>
              </a:ext>
            </a:extLst>
          </p:cNvPr>
          <p:cNvSpPr txBox="1"/>
          <p:nvPr/>
        </p:nvSpPr>
        <p:spPr>
          <a:xfrm>
            <a:off x="4050115" y="2518519"/>
            <a:ext cx="650544" cy="646331"/>
          </a:xfrm>
          <a:prstGeom prst="rect">
            <a:avLst/>
          </a:prstGeom>
          <a:noFill/>
        </p:spPr>
        <p:txBody>
          <a:bodyPr wrap="square" rtlCol="0">
            <a:spAutoFit/>
          </a:bodyPr>
          <a:lstStyle/>
          <a:p>
            <a:r>
              <a:rPr lang="en-US" sz="3600" b="1" dirty="0">
                <a:solidFill>
                  <a:srgbClr val="FF0000"/>
                </a:solidFill>
              </a:rPr>
              <a:t>3)</a:t>
            </a:r>
          </a:p>
        </p:txBody>
      </p:sp>
      <p:sp>
        <p:nvSpPr>
          <p:cNvPr id="6" name="TextBox 5">
            <a:extLst>
              <a:ext uri="{FF2B5EF4-FFF2-40B4-BE49-F238E27FC236}">
                <a16:creationId xmlns:a16="http://schemas.microsoft.com/office/drawing/2014/main" id="{40E145DE-FF1F-0022-5911-AFCE86E1098A}"/>
              </a:ext>
            </a:extLst>
          </p:cNvPr>
          <p:cNvSpPr txBox="1"/>
          <p:nvPr/>
        </p:nvSpPr>
        <p:spPr>
          <a:xfrm>
            <a:off x="4050115" y="4813617"/>
            <a:ext cx="650544" cy="646331"/>
          </a:xfrm>
          <a:prstGeom prst="rect">
            <a:avLst/>
          </a:prstGeom>
          <a:noFill/>
        </p:spPr>
        <p:txBody>
          <a:bodyPr wrap="square" rtlCol="0">
            <a:spAutoFit/>
          </a:bodyPr>
          <a:lstStyle/>
          <a:p>
            <a:r>
              <a:rPr lang="en-US" sz="3600" b="1" dirty="0">
                <a:solidFill>
                  <a:srgbClr val="FF0000"/>
                </a:solidFill>
              </a:rPr>
              <a:t>4)</a:t>
            </a:r>
          </a:p>
        </p:txBody>
      </p:sp>
      <p:sp>
        <p:nvSpPr>
          <p:cNvPr id="7" name="TextBox 6">
            <a:extLst>
              <a:ext uri="{FF2B5EF4-FFF2-40B4-BE49-F238E27FC236}">
                <a16:creationId xmlns:a16="http://schemas.microsoft.com/office/drawing/2014/main" id="{F4EE2E68-8577-CA1D-92D2-57D7A8093BF5}"/>
              </a:ext>
            </a:extLst>
          </p:cNvPr>
          <p:cNvSpPr txBox="1"/>
          <p:nvPr/>
        </p:nvSpPr>
        <p:spPr>
          <a:xfrm>
            <a:off x="8009880" y="1194263"/>
            <a:ext cx="650544" cy="646331"/>
          </a:xfrm>
          <a:prstGeom prst="rect">
            <a:avLst/>
          </a:prstGeom>
          <a:noFill/>
        </p:spPr>
        <p:txBody>
          <a:bodyPr wrap="square" rtlCol="0">
            <a:spAutoFit/>
          </a:bodyPr>
          <a:lstStyle/>
          <a:p>
            <a:r>
              <a:rPr lang="en-US" sz="3600" b="1" dirty="0">
                <a:solidFill>
                  <a:srgbClr val="FF0000"/>
                </a:solidFill>
              </a:rPr>
              <a:t>5)</a:t>
            </a:r>
          </a:p>
        </p:txBody>
      </p:sp>
      <p:sp>
        <p:nvSpPr>
          <p:cNvPr id="8" name="TextBox 7">
            <a:extLst>
              <a:ext uri="{FF2B5EF4-FFF2-40B4-BE49-F238E27FC236}">
                <a16:creationId xmlns:a16="http://schemas.microsoft.com/office/drawing/2014/main" id="{967033CB-FA0B-3407-34E1-F6AF923CD407}"/>
              </a:ext>
            </a:extLst>
          </p:cNvPr>
          <p:cNvSpPr txBox="1"/>
          <p:nvPr/>
        </p:nvSpPr>
        <p:spPr>
          <a:xfrm>
            <a:off x="8067694" y="3164850"/>
            <a:ext cx="650544" cy="646331"/>
          </a:xfrm>
          <a:prstGeom prst="rect">
            <a:avLst/>
          </a:prstGeom>
          <a:noFill/>
        </p:spPr>
        <p:txBody>
          <a:bodyPr wrap="square" rtlCol="0">
            <a:spAutoFit/>
          </a:bodyPr>
          <a:lstStyle/>
          <a:p>
            <a:r>
              <a:rPr lang="en-US" sz="3600" b="1" dirty="0">
                <a:solidFill>
                  <a:srgbClr val="FF0000"/>
                </a:solidFill>
              </a:rPr>
              <a:t>6)</a:t>
            </a:r>
          </a:p>
        </p:txBody>
      </p:sp>
      <p:sp>
        <p:nvSpPr>
          <p:cNvPr id="9" name="TextBox 8">
            <a:extLst>
              <a:ext uri="{FF2B5EF4-FFF2-40B4-BE49-F238E27FC236}">
                <a16:creationId xmlns:a16="http://schemas.microsoft.com/office/drawing/2014/main" id="{91BA8172-F21B-684D-2EE3-7AA6CA5B7A65}"/>
              </a:ext>
            </a:extLst>
          </p:cNvPr>
          <p:cNvSpPr txBox="1"/>
          <p:nvPr/>
        </p:nvSpPr>
        <p:spPr>
          <a:xfrm>
            <a:off x="8009880" y="5078273"/>
            <a:ext cx="650544" cy="646331"/>
          </a:xfrm>
          <a:prstGeom prst="rect">
            <a:avLst/>
          </a:prstGeom>
          <a:noFill/>
        </p:spPr>
        <p:txBody>
          <a:bodyPr wrap="square" rtlCol="0">
            <a:spAutoFit/>
          </a:bodyPr>
          <a:lstStyle/>
          <a:p>
            <a:r>
              <a:rPr lang="en-US" sz="3600" b="1" dirty="0">
                <a:solidFill>
                  <a:srgbClr val="FF0000"/>
                </a:solidFill>
              </a:rPr>
              <a:t>7)</a:t>
            </a:r>
          </a:p>
        </p:txBody>
      </p:sp>
    </p:spTree>
    <p:extLst>
      <p:ext uri="{BB962C8B-B14F-4D97-AF65-F5344CB8AC3E}">
        <p14:creationId xmlns:p14="http://schemas.microsoft.com/office/powerpoint/2010/main" val="41044613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320FC-49D4-31C4-D226-4D309B4163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56D054-C262-E20B-688C-904747FFE8A9}"/>
              </a:ext>
            </a:extLst>
          </p:cNvPr>
          <p:cNvSpPr>
            <a:spLocks noGrp="1"/>
          </p:cNvSpPr>
          <p:nvPr>
            <p:ph type="title"/>
          </p:nvPr>
        </p:nvSpPr>
        <p:spPr>
          <a:xfrm>
            <a:off x="429531" y="270523"/>
            <a:ext cx="10515600" cy="1325563"/>
          </a:xfrm>
        </p:spPr>
        <p:txBody>
          <a:bodyPr>
            <a:normAutofit/>
          </a:bodyPr>
          <a:lstStyle/>
          <a:p>
            <a:r>
              <a:rPr lang="en-US" sz="4000" b="1" dirty="0">
                <a:solidFill>
                  <a:srgbClr val="C00000"/>
                </a:solidFill>
              </a:rPr>
              <a:t>Quick Sort: </a:t>
            </a:r>
            <a:r>
              <a:rPr lang="en-US" sz="4000" dirty="0">
                <a:solidFill>
                  <a:srgbClr val="C00000"/>
                </a:solidFill>
              </a:rPr>
              <a:t>Partitioning Example2 </a:t>
            </a:r>
            <a:br>
              <a:rPr lang="en-US" sz="4000" dirty="0">
                <a:solidFill>
                  <a:srgbClr val="C00000"/>
                </a:solidFill>
              </a:rPr>
            </a:br>
            <a:r>
              <a:rPr lang="en-US" sz="4000" dirty="0">
                <a:solidFill>
                  <a:srgbClr val="C00000"/>
                </a:solidFill>
              </a:rPr>
              <a:t>(Using last element as the Pivot)</a:t>
            </a:r>
            <a:endParaRPr lang="en-US" sz="4000" dirty="0"/>
          </a:p>
        </p:txBody>
      </p:sp>
      <p:pic>
        <p:nvPicPr>
          <p:cNvPr id="4" name="Picture 3">
            <a:extLst>
              <a:ext uri="{FF2B5EF4-FFF2-40B4-BE49-F238E27FC236}">
                <a16:creationId xmlns:a16="http://schemas.microsoft.com/office/drawing/2014/main" id="{D215FD6C-D27E-00D9-2A29-537781884906}"/>
              </a:ext>
            </a:extLst>
          </p:cNvPr>
          <p:cNvPicPr>
            <a:picLocks noChangeAspect="1"/>
          </p:cNvPicPr>
          <p:nvPr/>
        </p:nvPicPr>
        <p:blipFill>
          <a:blip r:embed="rId2"/>
          <a:stretch>
            <a:fillRect/>
          </a:stretch>
        </p:blipFill>
        <p:spPr>
          <a:xfrm>
            <a:off x="4290526" y="4003465"/>
            <a:ext cx="3376357" cy="1815927"/>
          </a:xfrm>
          <a:prstGeom prst="rect">
            <a:avLst/>
          </a:prstGeom>
        </p:spPr>
      </p:pic>
      <p:pic>
        <p:nvPicPr>
          <p:cNvPr id="6" name="Picture 5">
            <a:extLst>
              <a:ext uri="{FF2B5EF4-FFF2-40B4-BE49-F238E27FC236}">
                <a16:creationId xmlns:a16="http://schemas.microsoft.com/office/drawing/2014/main" id="{19B908A4-17A5-D9DA-BB62-44BBBA9E2735}"/>
              </a:ext>
            </a:extLst>
          </p:cNvPr>
          <p:cNvPicPr>
            <a:picLocks noChangeAspect="1"/>
          </p:cNvPicPr>
          <p:nvPr/>
        </p:nvPicPr>
        <p:blipFill>
          <a:blip r:embed="rId3"/>
          <a:stretch>
            <a:fillRect/>
          </a:stretch>
        </p:blipFill>
        <p:spPr>
          <a:xfrm>
            <a:off x="8286140" y="307124"/>
            <a:ext cx="3540861" cy="2023350"/>
          </a:xfrm>
          <a:prstGeom prst="rect">
            <a:avLst/>
          </a:prstGeom>
        </p:spPr>
      </p:pic>
      <p:pic>
        <p:nvPicPr>
          <p:cNvPr id="12" name="Picture 11">
            <a:extLst>
              <a:ext uri="{FF2B5EF4-FFF2-40B4-BE49-F238E27FC236}">
                <a16:creationId xmlns:a16="http://schemas.microsoft.com/office/drawing/2014/main" id="{A7E9FCE9-60CF-B0C4-8B74-EE1862D9B46A}"/>
              </a:ext>
            </a:extLst>
          </p:cNvPr>
          <p:cNvPicPr>
            <a:picLocks noChangeAspect="1"/>
          </p:cNvPicPr>
          <p:nvPr/>
        </p:nvPicPr>
        <p:blipFill>
          <a:blip r:embed="rId4"/>
          <a:stretch>
            <a:fillRect/>
          </a:stretch>
        </p:blipFill>
        <p:spPr>
          <a:xfrm>
            <a:off x="8198180" y="2464921"/>
            <a:ext cx="3665213" cy="1946355"/>
          </a:xfrm>
          <a:prstGeom prst="rect">
            <a:avLst/>
          </a:prstGeom>
        </p:spPr>
      </p:pic>
      <p:pic>
        <p:nvPicPr>
          <p:cNvPr id="14" name="Picture 13">
            <a:extLst>
              <a:ext uri="{FF2B5EF4-FFF2-40B4-BE49-F238E27FC236}">
                <a16:creationId xmlns:a16="http://schemas.microsoft.com/office/drawing/2014/main" id="{FCADCA8A-3E83-4F8B-0B8B-5877BC2B7629}"/>
              </a:ext>
            </a:extLst>
          </p:cNvPr>
          <p:cNvPicPr>
            <a:picLocks noChangeAspect="1"/>
          </p:cNvPicPr>
          <p:nvPr/>
        </p:nvPicPr>
        <p:blipFill>
          <a:blip r:embed="rId5"/>
          <a:stretch>
            <a:fillRect/>
          </a:stretch>
        </p:blipFill>
        <p:spPr>
          <a:xfrm>
            <a:off x="8252614" y="4596143"/>
            <a:ext cx="3665213" cy="2034663"/>
          </a:xfrm>
          <a:prstGeom prst="rect">
            <a:avLst/>
          </a:prstGeom>
        </p:spPr>
      </p:pic>
      <p:pic>
        <p:nvPicPr>
          <p:cNvPr id="41" name="Picture 40">
            <a:extLst>
              <a:ext uri="{FF2B5EF4-FFF2-40B4-BE49-F238E27FC236}">
                <a16:creationId xmlns:a16="http://schemas.microsoft.com/office/drawing/2014/main" id="{4E138780-5E45-2097-5FFF-1F30D3734337}"/>
              </a:ext>
            </a:extLst>
          </p:cNvPr>
          <p:cNvPicPr>
            <a:picLocks noChangeAspect="1"/>
          </p:cNvPicPr>
          <p:nvPr/>
        </p:nvPicPr>
        <p:blipFill>
          <a:blip r:embed="rId6"/>
          <a:stretch>
            <a:fillRect/>
          </a:stretch>
        </p:blipFill>
        <p:spPr>
          <a:xfrm>
            <a:off x="454393" y="1698246"/>
            <a:ext cx="3232753" cy="1774964"/>
          </a:xfrm>
          <a:prstGeom prst="rect">
            <a:avLst/>
          </a:prstGeom>
        </p:spPr>
      </p:pic>
      <p:pic>
        <p:nvPicPr>
          <p:cNvPr id="43" name="Picture 42">
            <a:extLst>
              <a:ext uri="{FF2B5EF4-FFF2-40B4-BE49-F238E27FC236}">
                <a16:creationId xmlns:a16="http://schemas.microsoft.com/office/drawing/2014/main" id="{22DB5F89-13AC-81CA-C273-A54AD0A54E3D}"/>
              </a:ext>
            </a:extLst>
          </p:cNvPr>
          <p:cNvPicPr>
            <a:picLocks noChangeAspect="1"/>
          </p:cNvPicPr>
          <p:nvPr/>
        </p:nvPicPr>
        <p:blipFill>
          <a:blip r:embed="rId7"/>
          <a:stretch>
            <a:fillRect/>
          </a:stretch>
        </p:blipFill>
        <p:spPr>
          <a:xfrm>
            <a:off x="479274" y="4165616"/>
            <a:ext cx="3195500" cy="1585538"/>
          </a:xfrm>
          <a:prstGeom prst="rect">
            <a:avLst/>
          </a:prstGeom>
        </p:spPr>
      </p:pic>
      <p:pic>
        <p:nvPicPr>
          <p:cNvPr id="45" name="Picture 44">
            <a:extLst>
              <a:ext uri="{FF2B5EF4-FFF2-40B4-BE49-F238E27FC236}">
                <a16:creationId xmlns:a16="http://schemas.microsoft.com/office/drawing/2014/main" id="{794B1A9D-CCCD-7EFA-CF87-275FD4CCCC83}"/>
              </a:ext>
            </a:extLst>
          </p:cNvPr>
          <p:cNvPicPr>
            <a:picLocks noChangeAspect="1"/>
          </p:cNvPicPr>
          <p:nvPr/>
        </p:nvPicPr>
        <p:blipFill>
          <a:blip r:embed="rId8"/>
          <a:stretch>
            <a:fillRect/>
          </a:stretch>
        </p:blipFill>
        <p:spPr>
          <a:xfrm>
            <a:off x="4236261" y="1756012"/>
            <a:ext cx="3390617" cy="1672988"/>
          </a:xfrm>
          <a:prstGeom prst="rect">
            <a:avLst/>
          </a:prstGeom>
        </p:spPr>
      </p:pic>
      <p:sp>
        <p:nvSpPr>
          <p:cNvPr id="3" name="TextBox 2">
            <a:extLst>
              <a:ext uri="{FF2B5EF4-FFF2-40B4-BE49-F238E27FC236}">
                <a16:creationId xmlns:a16="http://schemas.microsoft.com/office/drawing/2014/main" id="{A6004AE9-6C21-7FED-C434-02C8C00D8F09}"/>
              </a:ext>
            </a:extLst>
          </p:cNvPr>
          <p:cNvSpPr txBox="1"/>
          <p:nvPr/>
        </p:nvSpPr>
        <p:spPr>
          <a:xfrm>
            <a:off x="0" y="2312329"/>
            <a:ext cx="650544" cy="646331"/>
          </a:xfrm>
          <a:prstGeom prst="rect">
            <a:avLst/>
          </a:prstGeom>
          <a:noFill/>
        </p:spPr>
        <p:txBody>
          <a:bodyPr wrap="square" rtlCol="0">
            <a:spAutoFit/>
          </a:bodyPr>
          <a:lstStyle/>
          <a:p>
            <a:r>
              <a:rPr lang="en-US" sz="3600" b="1" dirty="0">
                <a:solidFill>
                  <a:srgbClr val="FF0000"/>
                </a:solidFill>
              </a:rPr>
              <a:t>8)</a:t>
            </a:r>
          </a:p>
        </p:txBody>
      </p:sp>
      <p:sp>
        <p:nvSpPr>
          <p:cNvPr id="5" name="TextBox 4">
            <a:extLst>
              <a:ext uri="{FF2B5EF4-FFF2-40B4-BE49-F238E27FC236}">
                <a16:creationId xmlns:a16="http://schemas.microsoft.com/office/drawing/2014/main" id="{634CB12C-AAE6-A26D-2C60-D9C48E258A49}"/>
              </a:ext>
            </a:extLst>
          </p:cNvPr>
          <p:cNvSpPr txBox="1"/>
          <p:nvPr/>
        </p:nvSpPr>
        <p:spPr>
          <a:xfrm>
            <a:off x="0" y="4793894"/>
            <a:ext cx="650544" cy="646331"/>
          </a:xfrm>
          <a:prstGeom prst="rect">
            <a:avLst/>
          </a:prstGeom>
          <a:noFill/>
        </p:spPr>
        <p:txBody>
          <a:bodyPr wrap="square" rtlCol="0">
            <a:spAutoFit/>
          </a:bodyPr>
          <a:lstStyle/>
          <a:p>
            <a:r>
              <a:rPr lang="en-US" sz="3600" b="1" dirty="0">
                <a:solidFill>
                  <a:srgbClr val="FF0000"/>
                </a:solidFill>
              </a:rPr>
              <a:t>9)</a:t>
            </a:r>
          </a:p>
        </p:txBody>
      </p:sp>
      <p:sp>
        <p:nvSpPr>
          <p:cNvPr id="7" name="TextBox 6">
            <a:extLst>
              <a:ext uri="{FF2B5EF4-FFF2-40B4-BE49-F238E27FC236}">
                <a16:creationId xmlns:a16="http://schemas.microsoft.com/office/drawing/2014/main" id="{6E9E843A-84F9-CF84-5C2B-B91D7946DE66}"/>
              </a:ext>
            </a:extLst>
          </p:cNvPr>
          <p:cNvSpPr txBox="1"/>
          <p:nvPr/>
        </p:nvSpPr>
        <p:spPr>
          <a:xfrm>
            <a:off x="3632868" y="2443431"/>
            <a:ext cx="954058" cy="646331"/>
          </a:xfrm>
          <a:prstGeom prst="rect">
            <a:avLst/>
          </a:prstGeom>
          <a:noFill/>
        </p:spPr>
        <p:txBody>
          <a:bodyPr wrap="square" rtlCol="0">
            <a:spAutoFit/>
          </a:bodyPr>
          <a:lstStyle/>
          <a:p>
            <a:r>
              <a:rPr lang="en-US" sz="3600" b="1" dirty="0">
                <a:solidFill>
                  <a:srgbClr val="FF0000"/>
                </a:solidFill>
              </a:rPr>
              <a:t>10)</a:t>
            </a:r>
          </a:p>
        </p:txBody>
      </p:sp>
      <p:sp>
        <p:nvSpPr>
          <p:cNvPr id="8" name="TextBox 7">
            <a:extLst>
              <a:ext uri="{FF2B5EF4-FFF2-40B4-BE49-F238E27FC236}">
                <a16:creationId xmlns:a16="http://schemas.microsoft.com/office/drawing/2014/main" id="{EECBAFCB-4750-63DB-4B84-EEF7CEE3DDA5}"/>
              </a:ext>
            </a:extLst>
          </p:cNvPr>
          <p:cNvSpPr txBox="1"/>
          <p:nvPr/>
        </p:nvSpPr>
        <p:spPr>
          <a:xfrm>
            <a:off x="3566045" y="4793893"/>
            <a:ext cx="954058" cy="646331"/>
          </a:xfrm>
          <a:prstGeom prst="rect">
            <a:avLst/>
          </a:prstGeom>
          <a:noFill/>
        </p:spPr>
        <p:txBody>
          <a:bodyPr wrap="square" rtlCol="0">
            <a:spAutoFit/>
          </a:bodyPr>
          <a:lstStyle/>
          <a:p>
            <a:r>
              <a:rPr lang="en-US" sz="3600" b="1" dirty="0">
                <a:solidFill>
                  <a:srgbClr val="FF0000"/>
                </a:solidFill>
              </a:rPr>
              <a:t>11)</a:t>
            </a:r>
          </a:p>
        </p:txBody>
      </p:sp>
      <p:sp>
        <p:nvSpPr>
          <p:cNvPr id="9" name="TextBox 8">
            <a:extLst>
              <a:ext uri="{FF2B5EF4-FFF2-40B4-BE49-F238E27FC236}">
                <a16:creationId xmlns:a16="http://schemas.microsoft.com/office/drawing/2014/main" id="{C87FF551-CA2E-58BA-5D1C-100760E71156}"/>
              </a:ext>
            </a:extLst>
          </p:cNvPr>
          <p:cNvSpPr txBox="1"/>
          <p:nvPr/>
        </p:nvSpPr>
        <p:spPr>
          <a:xfrm>
            <a:off x="7517072" y="1109681"/>
            <a:ext cx="954058" cy="646331"/>
          </a:xfrm>
          <a:prstGeom prst="rect">
            <a:avLst/>
          </a:prstGeom>
          <a:noFill/>
        </p:spPr>
        <p:txBody>
          <a:bodyPr wrap="square" rtlCol="0">
            <a:spAutoFit/>
          </a:bodyPr>
          <a:lstStyle/>
          <a:p>
            <a:r>
              <a:rPr lang="en-US" sz="3600" b="1" dirty="0">
                <a:solidFill>
                  <a:srgbClr val="FF0000"/>
                </a:solidFill>
              </a:rPr>
              <a:t>12)</a:t>
            </a:r>
          </a:p>
        </p:txBody>
      </p:sp>
      <p:sp>
        <p:nvSpPr>
          <p:cNvPr id="10" name="TextBox 9">
            <a:extLst>
              <a:ext uri="{FF2B5EF4-FFF2-40B4-BE49-F238E27FC236}">
                <a16:creationId xmlns:a16="http://schemas.microsoft.com/office/drawing/2014/main" id="{C37378FF-81AE-A1D5-F345-A2B7CB3FA222}"/>
              </a:ext>
            </a:extLst>
          </p:cNvPr>
          <p:cNvSpPr txBox="1"/>
          <p:nvPr/>
        </p:nvSpPr>
        <p:spPr>
          <a:xfrm>
            <a:off x="7517072" y="3240281"/>
            <a:ext cx="954058" cy="646331"/>
          </a:xfrm>
          <a:prstGeom prst="rect">
            <a:avLst/>
          </a:prstGeom>
          <a:noFill/>
        </p:spPr>
        <p:txBody>
          <a:bodyPr wrap="square" rtlCol="0">
            <a:spAutoFit/>
          </a:bodyPr>
          <a:lstStyle/>
          <a:p>
            <a:r>
              <a:rPr lang="en-US" sz="3600" b="1" dirty="0">
                <a:solidFill>
                  <a:srgbClr val="FF0000"/>
                </a:solidFill>
              </a:rPr>
              <a:t>13)</a:t>
            </a:r>
          </a:p>
        </p:txBody>
      </p:sp>
      <p:sp>
        <p:nvSpPr>
          <p:cNvPr id="11" name="TextBox 10">
            <a:extLst>
              <a:ext uri="{FF2B5EF4-FFF2-40B4-BE49-F238E27FC236}">
                <a16:creationId xmlns:a16="http://schemas.microsoft.com/office/drawing/2014/main" id="{2A0C0DA7-40EF-5294-8B35-DA0C34499E9B}"/>
              </a:ext>
            </a:extLst>
          </p:cNvPr>
          <p:cNvSpPr txBox="1"/>
          <p:nvPr/>
        </p:nvSpPr>
        <p:spPr>
          <a:xfrm>
            <a:off x="7517072" y="5388773"/>
            <a:ext cx="954058" cy="646331"/>
          </a:xfrm>
          <a:prstGeom prst="rect">
            <a:avLst/>
          </a:prstGeom>
          <a:noFill/>
        </p:spPr>
        <p:txBody>
          <a:bodyPr wrap="square" rtlCol="0">
            <a:spAutoFit/>
          </a:bodyPr>
          <a:lstStyle/>
          <a:p>
            <a:r>
              <a:rPr lang="en-US" sz="3600" b="1" dirty="0">
                <a:solidFill>
                  <a:srgbClr val="FF0000"/>
                </a:solidFill>
              </a:rPr>
              <a:t>14)</a:t>
            </a:r>
          </a:p>
        </p:txBody>
      </p:sp>
    </p:spTree>
    <p:extLst>
      <p:ext uri="{BB962C8B-B14F-4D97-AF65-F5344CB8AC3E}">
        <p14:creationId xmlns:p14="http://schemas.microsoft.com/office/powerpoint/2010/main" val="12622849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22">
          <a:extLst>
            <a:ext uri="{FF2B5EF4-FFF2-40B4-BE49-F238E27FC236}">
              <a16:creationId xmlns:a16="http://schemas.microsoft.com/office/drawing/2014/main" id="{3B054776-00BC-6B3D-413D-9F3AC4D8C321}"/>
            </a:ext>
          </a:extLst>
        </p:cNvPr>
        <p:cNvGrpSpPr/>
        <p:nvPr/>
      </p:nvGrpSpPr>
      <p:grpSpPr>
        <a:xfrm>
          <a:off x="0" y="0"/>
          <a:ext cx="0" cy="0"/>
          <a:chOff x="0" y="0"/>
          <a:chExt cx="0" cy="0"/>
        </a:xfrm>
      </p:grpSpPr>
      <p:sp>
        <p:nvSpPr>
          <p:cNvPr id="444" name="Google Shape;444;g23b567092ca_0_272">
            <a:extLst>
              <a:ext uri="{FF2B5EF4-FFF2-40B4-BE49-F238E27FC236}">
                <a16:creationId xmlns:a16="http://schemas.microsoft.com/office/drawing/2014/main" id="{D0737E12-4D7F-EAA2-D5CF-8880EDD5C92B}"/>
              </a:ext>
            </a:extLst>
          </p:cNvPr>
          <p:cNvSpPr txBox="1"/>
          <p:nvPr/>
        </p:nvSpPr>
        <p:spPr>
          <a:xfrm>
            <a:off x="4782000" y="6031400"/>
            <a:ext cx="2628000" cy="52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000" dirty="0">
                <a:solidFill>
                  <a:srgbClr val="4A86E8"/>
                </a:solidFill>
                <a:latin typeface="Calibri"/>
                <a:ea typeface="Calibri"/>
                <a:cs typeface="Calibri"/>
                <a:sym typeface="Calibri"/>
              </a:rPr>
              <a:t>O(n): n comparisons at each iteration/level</a:t>
            </a:r>
            <a:endParaRPr sz="2000" dirty="0">
              <a:solidFill>
                <a:srgbClr val="4A86E8"/>
              </a:solidFill>
              <a:latin typeface="Calibri"/>
              <a:ea typeface="Calibri"/>
              <a:cs typeface="Calibri"/>
              <a:sym typeface="Calibri"/>
            </a:endParaRPr>
          </a:p>
        </p:txBody>
      </p:sp>
      <p:cxnSp>
        <p:nvCxnSpPr>
          <p:cNvPr id="448" name="Google Shape;448;g23b567092ca_0_272">
            <a:extLst>
              <a:ext uri="{FF2B5EF4-FFF2-40B4-BE49-F238E27FC236}">
                <a16:creationId xmlns:a16="http://schemas.microsoft.com/office/drawing/2014/main" id="{9DE7A307-CF52-9582-F4FB-1B6BDC64545A}"/>
              </a:ext>
            </a:extLst>
          </p:cNvPr>
          <p:cNvCxnSpPr/>
          <p:nvPr/>
        </p:nvCxnSpPr>
        <p:spPr>
          <a:xfrm>
            <a:off x="6215165" y="1619759"/>
            <a:ext cx="0" cy="3972300"/>
          </a:xfrm>
          <a:prstGeom prst="straightConnector1">
            <a:avLst/>
          </a:prstGeom>
          <a:noFill/>
          <a:ln w="19050" cap="flat" cmpd="sng">
            <a:solidFill>
              <a:schemeClr val="dk2"/>
            </a:solidFill>
            <a:prstDash val="solid"/>
            <a:round/>
            <a:headEnd type="none" w="med" len="med"/>
            <a:tailEnd type="none" w="med" len="med"/>
          </a:ln>
        </p:spPr>
      </p:cxnSp>
      <p:sp>
        <p:nvSpPr>
          <p:cNvPr id="5" name="Title 2">
            <a:extLst>
              <a:ext uri="{FF2B5EF4-FFF2-40B4-BE49-F238E27FC236}">
                <a16:creationId xmlns:a16="http://schemas.microsoft.com/office/drawing/2014/main" id="{C508FE3C-84A9-BC85-B5C0-71E262A6E269}"/>
              </a:ext>
            </a:extLst>
          </p:cNvPr>
          <p:cNvSpPr>
            <a:spLocks noGrp="1"/>
          </p:cNvSpPr>
          <p:nvPr>
            <p:ph type="title"/>
          </p:nvPr>
        </p:nvSpPr>
        <p:spPr>
          <a:xfrm>
            <a:off x="838200" y="84662"/>
            <a:ext cx="10515600" cy="1325563"/>
          </a:xfrm>
        </p:spPr>
        <p:txBody>
          <a:bodyPr/>
          <a:lstStyle/>
          <a:p>
            <a:r>
              <a:rPr lang="en-US" b="1" dirty="0">
                <a:solidFill>
                  <a:srgbClr val="C00000"/>
                </a:solidFill>
              </a:rPr>
              <a:t>Quick Sort: </a:t>
            </a:r>
            <a:r>
              <a:rPr lang="en-US" dirty="0">
                <a:solidFill>
                  <a:srgbClr val="C00000"/>
                </a:solidFill>
              </a:rPr>
              <a:t>Theoretical Time Complexity</a:t>
            </a:r>
            <a:endParaRPr lang="en-US" dirty="0"/>
          </a:p>
        </p:txBody>
      </p:sp>
      <p:pic>
        <p:nvPicPr>
          <p:cNvPr id="3" name="Picture 2">
            <a:extLst>
              <a:ext uri="{FF2B5EF4-FFF2-40B4-BE49-F238E27FC236}">
                <a16:creationId xmlns:a16="http://schemas.microsoft.com/office/drawing/2014/main" id="{07516343-BB94-4208-1B52-20AE491188B3}"/>
              </a:ext>
            </a:extLst>
          </p:cNvPr>
          <p:cNvPicPr>
            <a:picLocks noChangeAspect="1"/>
          </p:cNvPicPr>
          <p:nvPr/>
        </p:nvPicPr>
        <p:blipFill>
          <a:blip r:embed="rId3"/>
          <a:srcRect l="3063" t="13356" r="12861" b="36535"/>
          <a:stretch>
            <a:fillRect/>
          </a:stretch>
        </p:blipFill>
        <p:spPr>
          <a:xfrm>
            <a:off x="266729" y="2268757"/>
            <a:ext cx="5829271" cy="2131827"/>
          </a:xfrm>
          <a:prstGeom prst="rect">
            <a:avLst/>
          </a:prstGeom>
        </p:spPr>
      </p:pic>
      <p:pic>
        <p:nvPicPr>
          <p:cNvPr id="6" name="Picture 5">
            <a:extLst>
              <a:ext uri="{FF2B5EF4-FFF2-40B4-BE49-F238E27FC236}">
                <a16:creationId xmlns:a16="http://schemas.microsoft.com/office/drawing/2014/main" id="{375071C4-AB7B-48F2-B662-A7B80B2453E8}"/>
              </a:ext>
            </a:extLst>
          </p:cNvPr>
          <p:cNvPicPr>
            <a:picLocks noChangeAspect="1"/>
          </p:cNvPicPr>
          <p:nvPr/>
        </p:nvPicPr>
        <p:blipFill>
          <a:blip r:embed="rId4"/>
          <a:srcRect t="9643" r="8823" b="33376"/>
          <a:stretch>
            <a:fillRect/>
          </a:stretch>
        </p:blipFill>
        <p:spPr>
          <a:xfrm>
            <a:off x="6440931" y="2027004"/>
            <a:ext cx="5523529" cy="2505009"/>
          </a:xfrm>
          <a:prstGeom prst="rect">
            <a:avLst/>
          </a:prstGeom>
        </p:spPr>
      </p:pic>
      <p:pic>
        <p:nvPicPr>
          <p:cNvPr id="8" name="Picture 7">
            <a:extLst>
              <a:ext uri="{FF2B5EF4-FFF2-40B4-BE49-F238E27FC236}">
                <a16:creationId xmlns:a16="http://schemas.microsoft.com/office/drawing/2014/main" id="{C9D49D06-E4E8-9769-A40E-2048C6FCBD78}"/>
              </a:ext>
            </a:extLst>
          </p:cNvPr>
          <p:cNvPicPr>
            <a:picLocks noChangeAspect="1"/>
          </p:cNvPicPr>
          <p:nvPr/>
        </p:nvPicPr>
        <p:blipFill>
          <a:blip r:embed="rId3"/>
          <a:srcRect l="5519" t="72976" r="40807" b="5229"/>
          <a:stretch>
            <a:fillRect/>
          </a:stretch>
        </p:blipFill>
        <p:spPr>
          <a:xfrm>
            <a:off x="969793" y="4649932"/>
            <a:ext cx="4543656" cy="1132120"/>
          </a:xfrm>
          <a:prstGeom prst="rect">
            <a:avLst/>
          </a:prstGeom>
        </p:spPr>
      </p:pic>
      <p:sp>
        <p:nvSpPr>
          <p:cNvPr id="9" name="TextBox 8">
            <a:extLst>
              <a:ext uri="{FF2B5EF4-FFF2-40B4-BE49-F238E27FC236}">
                <a16:creationId xmlns:a16="http://schemas.microsoft.com/office/drawing/2014/main" id="{D31C85BC-9C1C-5871-4824-A933A6C81880}"/>
              </a:ext>
            </a:extLst>
          </p:cNvPr>
          <p:cNvSpPr txBox="1"/>
          <p:nvPr/>
        </p:nvSpPr>
        <p:spPr>
          <a:xfrm>
            <a:off x="1409033" y="1447420"/>
            <a:ext cx="3535326" cy="461665"/>
          </a:xfrm>
          <a:prstGeom prst="rect">
            <a:avLst/>
          </a:prstGeom>
          <a:noFill/>
        </p:spPr>
        <p:txBody>
          <a:bodyPr wrap="square" rtlCol="0">
            <a:spAutoFit/>
          </a:bodyPr>
          <a:lstStyle/>
          <a:p>
            <a:pPr algn="ctr"/>
            <a:r>
              <a:rPr lang="en-US" sz="2400" b="1" dirty="0">
                <a:solidFill>
                  <a:schemeClr val="accent3"/>
                </a:solidFill>
              </a:rPr>
              <a:t>Best Case</a:t>
            </a:r>
          </a:p>
        </p:txBody>
      </p:sp>
      <p:pic>
        <p:nvPicPr>
          <p:cNvPr id="10" name="Picture 9">
            <a:extLst>
              <a:ext uri="{FF2B5EF4-FFF2-40B4-BE49-F238E27FC236}">
                <a16:creationId xmlns:a16="http://schemas.microsoft.com/office/drawing/2014/main" id="{A4402B0A-9237-8F50-BA07-793561CBBF7F}"/>
              </a:ext>
            </a:extLst>
          </p:cNvPr>
          <p:cNvPicPr>
            <a:picLocks noChangeAspect="1"/>
          </p:cNvPicPr>
          <p:nvPr/>
        </p:nvPicPr>
        <p:blipFill>
          <a:blip r:embed="rId4"/>
          <a:srcRect l="3350" t="75071" r="37159" b="2045"/>
          <a:stretch>
            <a:fillRect/>
          </a:stretch>
        </p:blipFill>
        <p:spPr>
          <a:xfrm>
            <a:off x="7148981" y="4649932"/>
            <a:ext cx="4371363" cy="1220235"/>
          </a:xfrm>
          <a:prstGeom prst="rect">
            <a:avLst/>
          </a:prstGeom>
        </p:spPr>
      </p:pic>
      <p:sp>
        <p:nvSpPr>
          <p:cNvPr id="11" name="TextBox 10">
            <a:extLst>
              <a:ext uri="{FF2B5EF4-FFF2-40B4-BE49-F238E27FC236}">
                <a16:creationId xmlns:a16="http://schemas.microsoft.com/office/drawing/2014/main" id="{539CE0CC-DDB9-8C06-44C7-2E5B0FE2BE0D}"/>
              </a:ext>
            </a:extLst>
          </p:cNvPr>
          <p:cNvSpPr txBox="1"/>
          <p:nvPr/>
        </p:nvSpPr>
        <p:spPr>
          <a:xfrm>
            <a:off x="7566999" y="1447420"/>
            <a:ext cx="3535326" cy="461665"/>
          </a:xfrm>
          <a:prstGeom prst="rect">
            <a:avLst/>
          </a:prstGeom>
          <a:noFill/>
        </p:spPr>
        <p:txBody>
          <a:bodyPr wrap="square" rtlCol="0">
            <a:spAutoFit/>
          </a:bodyPr>
          <a:lstStyle/>
          <a:p>
            <a:pPr algn="ctr"/>
            <a:r>
              <a:rPr lang="en-US" sz="2400" b="1" dirty="0">
                <a:solidFill>
                  <a:srgbClr val="FF0000"/>
                </a:solidFill>
              </a:rPr>
              <a:t>Worst Case</a:t>
            </a:r>
          </a:p>
        </p:txBody>
      </p:sp>
    </p:spTree>
    <p:extLst>
      <p:ext uri="{BB962C8B-B14F-4D97-AF65-F5344CB8AC3E}">
        <p14:creationId xmlns:p14="http://schemas.microsoft.com/office/powerpoint/2010/main" val="3394453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11534</TotalTime>
  <Words>1327</Words>
  <Application>Microsoft Office PowerPoint</Application>
  <PresentationFormat>Widescreen</PresentationFormat>
  <Paragraphs>181</Paragraphs>
  <Slides>12</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vt:i4>
      </vt:variant>
    </vt:vector>
  </HeadingPairs>
  <TitlesOfParts>
    <vt:vector size="21" baseType="lpstr">
      <vt:lpstr>-apple-system</vt:lpstr>
      <vt:lpstr>Aptos</vt:lpstr>
      <vt:lpstr>Aptos Display</vt:lpstr>
      <vt:lpstr>Arial</vt:lpstr>
      <vt:lpstr>Calibri</vt:lpstr>
      <vt:lpstr>Roboto</vt:lpstr>
      <vt:lpstr>Söhne</vt:lpstr>
      <vt:lpstr>Whitney-Light</vt:lpstr>
      <vt:lpstr>Office Theme</vt:lpstr>
      <vt:lpstr>Searching Algorithms</vt:lpstr>
      <vt:lpstr>PowerPoint Presentation</vt:lpstr>
      <vt:lpstr>PowerPoint Presentation</vt:lpstr>
      <vt:lpstr>PowerPoint Presentation</vt:lpstr>
      <vt:lpstr>Sorting</vt:lpstr>
      <vt:lpstr>PowerPoint Presentation</vt:lpstr>
      <vt:lpstr>PowerPoint Presentation</vt:lpstr>
      <vt:lpstr>PowerPoint Presentation</vt:lpstr>
      <vt:lpstr>PowerPoint Presentation</vt:lpstr>
      <vt:lpstr>Quick Sort: Partitioning Example2 (Using last element as the Pivot)</vt:lpstr>
      <vt:lpstr>Quick Sort: Partitioning Example2  (Using last element as the Pivot)</vt:lpstr>
      <vt:lpstr>Quick Sort: Theoretical Time Complexity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Hend Gedawy</dc:creator>
  <cp:lastModifiedBy>Hend Gedawy</cp:lastModifiedBy>
  <cp:revision>5</cp:revision>
  <cp:lastPrinted>2025-11-19T07:46:14Z</cp:lastPrinted>
  <dcterms:created xsi:type="dcterms:W3CDTF">2025-11-16T09:43:10Z</dcterms:created>
  <dcterms:modified xsi:type="dcterms:W3CDTF">2025-11-26T09:30:01Z</dcterms:modified>
</cp:coreProperties>
</file>