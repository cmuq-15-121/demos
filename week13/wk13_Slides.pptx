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659" r:id="rId3"/>
    <p:sldId id="661" r:id="rId4"/>
    <p:sldId id="667" r:id="rId5"/>
    <p:sldId id="258" r:id="rId6"/>
    <p:sldId id="271" r:id="rId7"/>
    <p:sldId id="670" r:id="rId8"/>
    <p:sldId id="671" r:id="rId9"/>
    <p:sldId id="673" r:id="rId10"/>
    <p:sldId id="675" r:id="rId11"/>
    <p:sldId id="676" r:id="rId12"/>
    <p:sldId id="674" r:id="rId13"/>
  </p:sldIdLst>
  <p:sldSz cx="12192000" cy="6858000"/>
  <p:notesSz cx="9928225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263" autoAdjust="0"/>
  </p:normalViewPr>
  <p:slideViewPr>
    <p:cSldViewPr snapToGrid="0">
      <p:cViewPr varScale="1">
        <p:scale>
          <a:sx n="137" d="100"/>
          <a:sy n="137" d="100"/>
        </p:scale>
        <p:origin x="116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3698" y="0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239D95-6F15-4DDC-A810-C9575B2200B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823" y="3271381"/>
            <a:ext cx="794258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3698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A42B46-65B9-4B53-A88B-B399C78A3A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459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42B46-65B9-4B53-A88B-B399C78A3A7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825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81037-3846-0EBB-F1AF-450DDD79D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C3BD22-4361-069A-E494-5D1845B1CB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E34269-FA87-DB6A-DB50-D60A302865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C9FAC6-F05E-EDD1-E96B-62BB103DA5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7C0301-1442-4BAA-84C7-59F08E51B62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2978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5E8D3-BE31-A083-B594-96994A5E8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56E629-DE86-C4F8-DEDD-027CE5BC1E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C50DBF-7420-A1B4-4D73-3BAF570BDE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505382-3B6A-AA63-AC5A-92A2E189D2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7C0301-1442-4BAA-84C7-59F08E51B62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2790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58F64-B45D-61E7-CA7B-BADF91B51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7B114A-4A78-492F-8E31-6361887B0B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701466-DFFD-AF95-C0E7-58CF31240B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3B130-6B05-16FF-B882-C8BA6AE56E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7C0301-1442-4BAA-84C7-59F08E51B62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6931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791966677f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2791966677f_0_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 dirty="0">
                <a:latin typeface="Arial"/>
                <a:ea typeface="Arial"/>
                <a:cs typeface="Arial"/>
                <a:sym typeface="Arial"/>
              </a:rPr>
              <a:t>https://www.enjoyalgorithms.com/blog/quick-sort-algorithm</a:t>
            </a:r>
            <a:endParaRPr sz="10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/>
              <a:t> </a:t>
            </a:r>
            <a:endParaRPr sz="1000" dirty="0"/>
          </a:p>
        </p:txBody>
      </p:sp>
      <p:sp>
        <p:nvSpPr>
          <p:cNvPr id="296" name="Google Shape;296;g2791966677f_0_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>
          <a:extLst>
            <a:ext uri="{FF2B5EF4-FFF2-40B4-BE49-F238E27FC236}">
              <a16:creationId xmlns:a16="http://schemas.microsoft.com/office/drawing/2014/main" id="{13DDA498-5122-3145-9FB5-FEB8ACC3A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791966677f_0_43:notes">
            <a:extLst>
              <a:ext uri="{FF2B5EF4-FFF2-40B4-BE49-F238E27FC236}">
                <a16:creationId xmlns:a16="http://schemas.microsoft.com/office/drawing/2014/main" id="{D638B9F1-656A-1CED-CBD0-E6C559FB9B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2791966677f_0_43:notes">
            <a:extLst>
              <a:ext uri="{FF2B5EF4-FFF2-40B4-BE49-F238E27FC236}">
                <a16:creationId xmlns:a16="http://schemas.microsoft.com/office/drawing/2014/main" id="{5A0057A8-9208-04A5-4908-5F18BA2210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 dirty="0">
                <a:latin typeface="Arial"/>
                <a:ea typeface="Arial"/>
                <a:cs typeface="Arial"/>
                <a:sym typeface="Arial"/>
              </a:rPr>
              <a:t>https://www.enjoyalgorithms.com/blog/quick-sort-algorithm</a:t>
            </a:r>
            <a:endParaRPr sz="10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/>
              <a:t> </a:t>
            </a:r>
            <a:endParaRPr sz="1000" dirty="0"/>
          </a:p>
        </p:txBody>
      </p:sp>
      <p:sp>
        <p:nvSpPr>
          <p:cNvPr id="296" name="Google Shape;296;g2791966677f_0_43:notes">
            <a:extLst>
              <a:ext uri="{FF2B5EF4-FFF2-40B4-BE49-F238E27FC236}">
                <a16:creationId xmlns:a16="http://schemas.microsoft.com/office/drawing/2014/main" id="{46616F3B-0E5B-BB81-0A1A-09BB99ACF01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556763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>
          <a:extLst>
            <a:ext uri="{FF2B5EF4-FFF2-40B4-BE49-F238E27FC236}">
              <a16:creationId xmlns:a16="http://schemas.microsoft.com/office/drawing/2014/main" id="{D1AC088C-0600-3B46-285B-96545A879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277de705e21_0_206:notes">
            <a:extLst>
              <a:ext uri="{FF2B5EF4-FFF2-40B4-BE49-F238E27FC236}">
                <a16:creationId xmlns:a16="http://schemas.microsoft.com/office/drawing/2014/main" id="{53719884-045B-6840-E411-512BEE1AC6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360" name="Google Shape;360;g277de705e21_0_206:notes">
            <a:extLst>
              <a:ext uri="{FF2B5EF4-FFF2-40B4-BE49-F238E27FC236}">
                <a16:creationId xmlns:a16="http://schemas.microsoft.com/office/drawing/2014/main" id="{EB1441B0-4E25-C1A3-6024-BF43B30084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523737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42B46-65B9-4B53-A88B-B399C78A3A7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9804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>
          <a:extLst>
            <a:ext uri="{FF2B5EF4-FFF2-40B4-BE49-F238E27FC236}">
              <a16:creationId xmlns:a16="http://schemas.microsoft.com/office/drawing/2014/main" id="{C6E2F058-0D9E-3C83-77A8-3698681A5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23b567092ca_0_272:notes">
            <a:extLst>
              <a:ext uri="{FF2B5EF4-FFF2-40B4-BE49-F238E27FC236}">
                <a16:creationId xmlns:a16="http://schemas.microsoft.com/office/drawing/2014/main" id="{1038A595-02A3-000F-ED8F-5491F0C694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0" name="Google Shape;420;g23b567092ca_0_272:notes">
            <a:extLst>
              <a:ext uri="{FF2B5EF4-FFF2-40B4-BE49-F238E27FC236}">
                <a16:creationId xmlns:a16="http://schemas.microsoft.com/office/drawing/2014/main" id="{9921BD51-FF74-B8A5-695D-703E3C84C6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25400" lvl="0" indent="0" algn="l" rtl="0">
              <a:lnSpc>
                <a:spcPct val="156250"/>
              </a:lnSpc>
              <a:spcBef>
                <a:spcPts val="1500"/>
              </a:spcBef>
              <a:spcAft>
                <a:spcPts val="1200"/>
              </a:spcAft>
              <a:buNone/>
            </a:pPr>
            <a:endParaRPr dirty="0"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g23b567092ca_0_272:notes">
            <a:extLst>
              <a:ext uri="{FF2B5EF4-FFF2-40B4-BE49-F238E27FC236}">
                <a16:creationId xmlns:a16="http://schemas.microsoft.com/office/drawing/2014/main" id="{F4EC0AC4-C6BF-9A20-BF40-6F8C31CF160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556727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6A1AF-0E5F-5FCA-BC06-6908FC8755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39E3A8-DCF6-C912-4307-F95ADEABB6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8528E5-AB04-D753-C15B-99F421D15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0A1B6-8E74-4EDC-9EB9-3D3FE115FB03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69BBC2-5BA5-86D8-5AD5-3110C4123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21CBC0-D123-6CF2-93F9-2C1B3534A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FBAA3-F1ED-44FF-8A57-E2EF522AB6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032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465B7-A65C-DED3-56D4-1D4F05E62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ED5156-72B3-074C-E0F4-5D1DF8FE93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AC4911-70FD-008B-98B7-370BA008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0A1B6-8E74-4EDC-9EB9-3D3FE115FB03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5BF1C8-D548-9840-17FF-D944E658C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DE6027-9E68-020E-A262-335058FF9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FBAA3-F1ED-44FF-8A57-E2EF522AB6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681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56BBC-8DC8-0DBF-4DE8-D89D02566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DF736C-D392-3204-2DB1-A9150C0921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575C20-DC42-75BA-8BAA-0696E5AAA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0A1B6-8E74-4EDC-9EB9-3D3FE115FB03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7D900-D911-E7D6-406C-B79684485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2023C3-1199-55BB-15B2-BBFC5D9C6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FBAA3-F1ED-44FF-8A57-E2EF522AB6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731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58BD5-BCBE-51DE-569F-86E7AD816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826F16-FA6C-0575-1C42-935EFBE26E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13D3B0-CDD0-CF34-FA4D-A9E9F8817D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54E230-BFD6-C614-D999-0808CDE99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0A1B6-8E74-4EDC-9EB9-3D3FE115FB03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80E93B-19B0-1FBB-B638-238AE6715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CAF152-9DC6-C6F2-889E-30F96FDC6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FBAA3-F1ED-44FF-8A57-E2EF522AB6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603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7F654-04B4-55CC-9C94-6C26245A3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0267FE-C811-479A-9279-1A39AF6E00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37D1BB-923A-C7E1-F392-FFEFDA32F0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BDF495-24A3-DC0A-BA80-2A0EFF1ED0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D67537-FB35-71CC-17F3-BCDA51C639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4F9576-99A9-4FE1-DBB3-43A44CE9E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0A1B6-8E74-4EDC-9EB9-3D3FE115FB03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D51316-64A4-F3D6-0DCA-7C05AB51D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9E98B6-B888-A601-0996-E74405EF9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FBAA3-F1ED-44FF-8A57-E2EF522AB6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01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2CBB5-0A96-8C59-E88B-03D2E9C48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BA89E3-DE9C-84F1-BF99-9BF32DA64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0A1B6-8E74-4EDC-9EB9-3D3FE115FB03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6049EF-B6CF-327A-0C38-599CA0903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AD4B29-928B-C8AA-0A3A-7C38577CB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FBAA3-F1ED-44FF-8A57-E2EF522AB6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434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CBEDC1-1C50-04E7-0C69-36B51AC2E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0A1B6-8E74-4EDC-9EB9-3D3FE115FB03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1F3F3F-EFE4-C7D7-2A7E-5FF9FEF89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BBD434-1486-53DC-F64F-BEC88C86B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FBAA3-F1ED-44FF-8A57-E2EF522AB6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420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6BE30-CBB1-9A82-0874-C12B2103B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4ED159-A917-7B0E-CA29-26017B024E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949EBA-2739-009F-BEE7-D0F23ADB43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7FF240-AD0F-1CD0-470A-64F4D4D53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0A1B6-8E74-4EDC-9EB9-3D3FE115FB03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EFC9A7-84E9-31DF-9623-BAAB57147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6B0646-9CE8-0348-7192-57AEED772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FBAA3-F1ED-44FF-8A57-E2EF522AB6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520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F8953-E1B4-5C33-FE18-A884B8B5F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CFAE02-C093-2C18-B00D-F08FF72D08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BC0ADB-1606-1087-CBFB-0ACFE1693C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E090B1-225A-4AA7-AF3D-7F631C427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0A1B6-8E74-4EDC-9EB9-3D3FE115FB03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0B1AEC-F75A-C4F6-DE5D-CA0421880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09FF60-B020-E7A6-D6E1-E68854423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FBAA3-F1ED-44FF-8A57-E2EF522AB6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483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3323E-1A7C-5D1B-1D2E-5F73939F7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459DCB-F41B-B2CE-507C-1DF1A1CD07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E750F-265E-04A6-54BA-BAF0E9350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0A1B6-8E74-4EDC-9EB9-3D3FE115FB03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89168-2C72-5949-C187-47FE4ECD2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0F84D-76E6-F197-CE05-7149FCDB4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FBAA3-F1ED-44FF-8A57-E2EF522AB6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653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81024B-C865-0F43-4C4A-8B28D3365D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089DE7-C89C-4E43-F964-F09023A4C4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18F82C-D0A1-5FD0-0059-FDAB8EBAA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0A1B6-8E74-4EDC-9EB9-3D3FE115FB03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CF7AA8-108E-2D8F-44AE-199049D3D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ABE19-663F-60DC-1AE5-E0E0C81D8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FBAA3-F1ED-44FF-8A57-E2EF522AB6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794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158C15-9BD3-277C-8303-7268CC8FC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AA9ED9-BAAD-BCED-1935-EF3FDE5185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A952DD-822B-DFAD-6445-C00726CA2B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10A1B6-8E74-4EDC-9EB9-3D3FE115FB03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495CEF-BB03-D7E8-D75C-E3FEE6A525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BB5F32-91AA-DB29-EFFD-367874CDDE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1FBAA3-F1ED-44FF-8A57-E2EF522AB6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33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54D1103-0D4B-8E2A-CFC4-0626525B60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654393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Searching Algorithms</a:t>
            </a:r>
          </a:p>
        </p:txBody>
      </p:sp>
      <p:pic>
        <p:nvPicPr>
          <p:cNvPr id="3074" name="Picture 2" descr="Understanding Searching Algorithms in C++: Guide to Linear and Binary Search  | by Rishabh Singh | Medium">
            <a:extLst>
              <a:ext uri="{FF2B5EF4-FFF2-40B4-BE49-F238E27FC236}">
                <a16:creationId xmlns:a16="http://schemas.microsoft.com/office/drawing/2014/main" id="{3622E48C-8DCA-F806-BD90-4C56B79DD8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889" r="48591"/>
          <a:stretch>
            <a:fillRect/>
          </a:stretch>
        </p:blipFill>
        <p:spPr bwMode="auto">
          <a:xfrm>
            <a:off x="4377391" y="2873187"/>
            <a:ext cx="3315335" cy="3617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66538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653E5-1AEE-7897-EAF9-4D9C241E2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EE1EE0C-DF0C-68CF-0F6D-CC301E6EB962}"/>
              </a:ext>
            </a:extLst>
          </p:cNvPr>
          <p:cNvSpPr txBox="1">
            <a:spLocks/>
          </p:cNvSpPr>
          <p:nvPr/>
        </p:nvSpPr>
        <p:spPr>
          <a:xfrm>
            <a:off x="838200" y="260757"/>
            <a:ext cx="10515600" cy="8573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C00000"/>
                </a:solidFill>
                <a:latin typeface="Whitney-Light" panose="02000603040000020003" pitchFamily="2" charset="0"/>
              </a:rPr>
              <a:t>Linear Search </a:t>
            </a:r>
            <a:endParaRPr lang="en-US" b="1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06E46B-171D-1325-F153-60812233A1F6}"/>
              </a:ext>
            </a:extLst>
          </p:cNvPr>
          <p:cNvCxnSpPr>
            <a:cxnSpLocks/>
          </p:cNvCxnSpPr>
          <p:nvPr/>
        </p:nvCxnSpPr>
        <p:spPr>
          <a:xfrm>
            <a:off x="838200" y="1146354"/>
            <a:ext cx="10372041" cy="0"/>
          </a:xfrm>
          <a:prstGeom prst="line">
            <a:avLst/>
          </a:prstGeom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64BF1810-E954-76D8-98A8-73ED279674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3498" y="1323962"/>
            <a:ext cx="7405003" cy="536355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CC8005E-8E42-6273-2F17-4D1DB520E38E}"/>
              </a:ext>
            </a:extLst>
          </p:cNvPr>
          <p:cNvSpPr/>
          <p:nvPr/>
        </p:nvSpPr>
        <p:spPr>
          <a:xfrm>
            <a:off x="6261410" y="6330672"/>
            <a:ext cx="1678258" cy="3568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EB5D6EB-E259-C9D7-1CDE-91E0884032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6167" t="17971" r="3292" b="46685"/>
          <a:stretch>
            <a:fillRect/>
          </a:stretch>
        </p:blipFill>
        <p:spPr>
          <a:xfrm rot="5400000">
            <a:off x="7838820" y="3847782"/>
            <a:ext cx="382269" cy="2762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830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5720E-BFC9-55D1-01A7-62295ABF9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EF4D794-A4A1-F088-3580-B0B3892C7925}"/>
              </a:ext>
            </a:extLst>
          </p:cNvPr>
          <p:cNvSpPr txBox="1">
            <a:spLocks/>
          </p:cNvSpPr>
          <p:nvPr/>
        </p:nvSpPr>
        <p:spPr>
          <a:xfrm>
            <a:off x="838200" y="260757"/>
            <a:ext cx="10515600" cy="8573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C00000"/>
                </a:solidFill>
                <a:latin typeface="Whitney-Light" panose="02000603040000020003" pitchFamily="2" charset="0"/>
              </a:rPr>
              <a:t>Binary Search (Example 1)</a:t>
            </a:r>
            <a:endParaRPr lang="en-US" b="1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A53226E-01E6-DF62-543F-AF78496683B7}"/>
              </a:ext>
            </a:extLst>
          </p:cNvPr>
          <p:cNvCxnSpPr>
            <a:cxnSpLocks/>
          </p:cNvCxnSpPr>
          <p:nvPr/>
        </p:nvCxnSpPr>
        <p:spPr>
          <a:xfrm>
            <a:off x="838200" y="1146354"/>
            <a:ext cx="10372041" cy="0"/>
          </a:xfrm>
          <a:prstGeom prst="line">
            <a:avLst/>
          </a:prstGeom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49A6B18B-8EDF-9574-B373-B75A77C945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8799" y="1356627"/>
            <a:ext cx="7299486" cy="501059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07E37ED-C2CA-24EE-9264-6F3772299B7D}"/>
              </a:ext>
            </a:extLst>
          </p:cNvPr>
          <p:cNvSpPr/>
          <p:nvPr/>
        </p:nvSpPr>
        <p:spPr>
          <a:xfrm>
            <a:off x="2457356" y="2732074"/>
            <a:ext cx="419450" cy="1608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FF0000"/>
                </a:solidFill>
              </a:rPr>
              <a:t>low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65556E-3FCA-2BFF-DADD-1BD3877E4A3C}"/>
              </a:ext>
            </a:extLst>
          </p:cNvPr>
          <p:cNvSpPr/>
          <p:nvPr/>
        </p:nvSpPr>
        <p:spPr>
          <a:xfrm>
            <a:off x="5563299" y="2719150"/>
            <a:ext cx="485164" cy="1608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FF0000"/>
                </a:solidFill>
              </a:rPr>
              <a:t>high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2BB1F9C-7163-B364-7441-0EBE4120868B}"/>
              </a:ext>
            </a:extLst>
          </p:cNvPr>
          <p:cNvSpPr/>
          <p:nvPr/>
        </p:nvSpPr>
        <p:spPr>
          <a:xfrm>
            <a:off x="4396611" y="4079558"/>
            <a:ext cx="419450" cy="1608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accent6">
                    <a:lumMod val="75000"/>
                  </a:schemeClr>
                </a:solidFill>
              </a:rPr>
              <a:t>low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316A0DB-5E9B-7561-E3C1-BE969CDBE3C3}"/>
              </a:ext>
            </a:extLst>
          </p:cNvPr>
          <p:cNvSpPr/>
          <p:nvPr/>
        </p:nvSpPr>
        <p:spPr>
          <a:xfrm>
            <a:off x="5610836" y="4094597"/>
            <a:ext cx="485164" cy="1608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accent6">
                    <a:lumMod val="75000"/>
                  </a:schemeClr>
                </a:solidFill>
              </a:rPr>
              <a:t>high</a:t>
            </a:r>
          </a:p>
        </p:txBody>
      </p:sp>
    </p:spTree>
    <p:extLst>
      <p:ext uri="{BB962C8B-B14F-4D97-AF65-F5344CB8AC3E}">
        <p14:creationId xmlns:p14="http://schemas.microsoft.com/office/powerpoint/2010/main" val="2542242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8590D-5767-17DE-DED9-271D34CEE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>
            <a:extLst>
              <a:ext uri="{FF2B5EF4-FFF2-40B4-BE49-F238E27FC236}">
                <a16:creationId xmlns:a16="http://schemas.microsoft.com/office/drawing/2014/main" id="{F9783C55-16FD-CC8B-C318-87E3530A34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9846" y="1297344"/>
            <a:ext cx="5330944" cy="546789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E3A258DA-EE1F-DC0B-B548-8A171B460A3E}"/>
              </a:ext>
            </a:extLst>
          </p:cNvPr>
          <p:cNvSpPr txBox="1">
            <a:spLocks/>
          </p:cNvSpPr>
          <p:nvPr/>
        </p:nvSpPr>
        <p:spPr>
          <a:xfrm>
            <a:off x="838200" y="260757"/>
            <a:ext cx="10515600" cy="8573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C00000"/>
                </a:solidFill>
                <a:latin typeface="Whitney-Light" panose="02000603040000020003" pitchFamily="2" charset="0"/>
              </a:rPr>
              <a:t>Binary Search (Example 2) </a:t>
            </a:r>
            <a:endParaRPr lang="en-US" b="1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A313F5C-2F14-591B-EBB5-BB17CF2517B9}"/>
              </a:ext>
            </a:extLst>
          </p:cNvPr>
          <p:cNvCxnSpPr>
            <a:cxnSpLocks/>
          </p:cNvCxnSpPr>
          <p:nvPr/>
        </p:nvCxnSpPr>
        <p:spPr>
          <a:xfrm>
            <a:off x="838200" y="1146354"/>
            <a:ext cx="10372041" cy="0"/>
          </a:xfrm>
          <a:prstGeom prst="line">
            <a:avLst/>
          </a:prstGeom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E137C8A2-7B5F-C968-2CF2-036ACA3CFC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739" y="2016501"/>
            <a:ext cx="4422376" cy="323451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0E4FA2DB-2D36-1355-C2CA-8AD47831AD2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1258" t="4559" r="-1423" b="89160"/>
          <a:stretch>
            <a:fillRect/>
          </a:stretch>
        </p:blipFill>
        <p:spPr>
          <a:xfrm>
            <a:off x="9384107" y="1919319"/>
            <a:ext cx="1391478" cy="34676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F27CC91C-4652-499F-3288-52B8C7D46B6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1258" t="4559" r="706" b="89160"/>
          <a:stretch>
            <a:fillRect/>
          </a:stretch>
        </p:blipFill>
        <p:spPr>
          <a:xfrm>
            <a:off x="9557788" y="2054094"/>
            <a:ext cx="1303688" cy="34676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A7E8BAD-D7E1-0E80-AF29-3733C57DD1D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1258" t="4559" r="-1423" b="89160"/>
          <a:stretch>
            <a:fillRect/>
          </a:stretch>
        </p:blipFill>
        <p:spPr>
          <a:xfrm>
            <a:off x="9402817" y="2936314"/>
            <a:ext cx="1503017" cy="492686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A140C575-D0C5-0AD3-2793-2724081FBB0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1258" t="4559" r="-1423" b="89160"/>
          <a:stretch>
            <a:fillRect/>
          </a:stretch>
        </p:blipFill>
        <p:spPr>
          <a:xfrm>
            <a:off x="9469998" y="4005478"/>
            <a:ext cx="1391478" cy="482813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D5A27932-4DCD-E313-5457-16E9B58D10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3887" y="2734711"/>
            <a:ext cx="1117747" cy="23696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7DF5C1C-C5E1-7A51-561A-456BBE8A6E1B}"/>
              </a:ext>
            </a:extLst>
          </p:cNvPr>
          <p:cNvSpPr txBox="1"/>
          <p:nvPr/>
        </p:nvSpPr>
        <p:spPr>
          <a:xfrm>
            <a:off x="9713563" y="3003720"/>
            <a:ext cx="7325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37 &lt; </a:t>
            </a:r>
            <a:r>
              <a:rPr lang="en-US" sz="1400" b="1" dirty="0">
                <a:solidFill>
                  <a:srgbClr val="FF0000"/>
                </a:solidFill>
              </a:rPr>
              <a:t>68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E0629EE-84BE-3535-2D23-5F394F0455CE}"/>
              </a:ext>
            </a:extLst>
          </p:cNvPr>
          <p:cNvSpPr txBox="1"/>
          <p:nvPr/>
        </p:nvSpPr>
        <p:spPr>
          <a:xfrm>
            <a:off x="9664322" y="2025694"/>
            <a:ext cx="7325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37 &gt; </a:t>
            </a:r>
            <a:r>
              <a:rPr lang="en-US" sz="1400" b="1" dirty="0">
                <a:solidFill>
                  <a:srgbClr val="FF0000"/>
                </a:solidFill>
              </a:rPr>
              <a:t>35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6A88F60E-0738-C107-E89B-6461F467E6A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59119" y="3784518"/>
            <a:ext cx="1117747" cy="20362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27F01D5-B79B-8A5A-4988-139BBCBCC9AB}"/>
              </a:ext>
            </a:extLst>
          </p:cNvPr>
          <p:cNvSpPr txBox="1"/>
          <p:nvPr/>
        </p:nvSpPr>
        <p:spPr>
          <a:xfrm>
            <a:off x="9737610" y="3964455"/>
            <a:ext cx="7325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37 &lt; </a:t>
            </a:r>
            <a:r>
              <a:rPr lang="en-US" sz="1400" b="1" dirty="0">
                <a:solidFill>
                  <a:srgbClr val="FF0000"/>
                </a:solidFill>
              </a:rPr>
              <a:t>51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0D672062-D8A3-C4EF-9F0A-C433EEEE952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1258" t="4559" r="-1423" b="89160"/>
          <a:stretch>
            <a:fillRect/>
          </a:stretch>
        </p:blipFill>
        <p:spPr>
          <a:xfrm>
            <a:off x="9514355" y="5009609"/>
            <a:ext cx="1423105" cy="482813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B72AF409-4A0A-25D6-9993-CD0BC783A9E7}"/>
              </a:ext>
            </a:extLst>
          </p:cNvPr>
          <p:cNvSpPr txBox="1"/>
          <p:nvPr/>
        </p:nvSpPr>
        <p:spPr>
          <a:xfrm>
            <a:off x="9781968" y="4968586"/>
            <a:ext cx="7325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37 &lt; </a:t>
            </a:r>
            <a:r>
              <a:rPr lang="en-US" sz="1400" b="1" dirty="0">
                <a:solidFill>
                  <a:srgbClr val="FF0000"/>
                </a:solidFill>
              </a:rPr>
              <a:t>42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09839DC2-E05E-B5D0-B3A4-D2144DEEF9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405" t="45991" r="68884" b="51300"/>
          <a:stretch>
            <a:fillRect/>
          </a:stretch>
        </p:blipFill>
        <p:spPr>
          <a:xfrm>
            <a:off x="9542885" y="4479633"/>
            <a:ext cx="968299" cy="123937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6816B801-9FB1-5BB0-A82D-1B8BEB36980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1806" t="83469" r="12955" b="14190"/>
          <a:stretch>
            <a:fillRect/>
          </a:stretch>
        </p:blipFill>
        <p:spPr>
          <a:xfrm>
            <a:off x="9497828" y="4624514"/>
            <a:ext cx="812363" cy="128013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64D32500-C5CC-28D8-3C56-F5EB56F675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3655" t="86572" r="19416" b="10999"/>
          <a:stretch>
            <a:fillRect/>
          </a:stretch>
        </p:blipFill>
        <p:spPr>
          <a:xfrm>
            <a:off x="9940810" y="4649631"/>
            <a:ext cx="369381" cy="132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3476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13C12-AC4D-C41E-3CFA-2AB5584D0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A5E06-BF59-FC21-5AF7-FFB0BBC1C7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654393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Sorting</a:t>
            </a:r>
          </a:p>
        </p:txBody>
      </p:sp>
      <p:pic>
        <p:nvPicPr>
          <p:cNvPr id="2052" name="Picture 4" descr="Sorting | Sorting in C | Types of sorting | C sorting algorithm">
            <a:extLst>
              <a:ext uri="{FF2B5EF4-FFF2-40B4-BE49-F238E27FC236}">
                <a16:creationId xmlns:a16="http://schemas.microsoft.com/office/drawing/2014/main" id="{0953FE93-5386-3748-6907-BB963547EA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5443" y="2875920"/>
            <a:ext cx="5398083" cy="2947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0999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g2791966677f_0_43"/>
          <p:cNvPicPr preferRelativeResize="0"/>
          <p:nvPr/>
        </p:nvPicPr>
        <p:blipFill rotWithShape="1">
          <a:blip r:embed="rId3">
            <a:alphaModFix/>
          </a:blip>
          <a:srcRect l="18822" r="15911" b="86476"/>
          <a:stretch/>
        </p:blipFill>
        <p:spPr>
          <a:xfrm>
            <a:off x="2656275" y="1752325"/>
            <a:ext cx="6302602" cy="712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g2791966677f_0_43"/>
          <p:cNvPicPr preferRelativeResize="0"/>
          <p:nvPr/>
        </p:nvPicPr>
        <p:blipFill rotWithShape="1">
          <a:blip r:embed="rId3">
            <a:alphaModFix/>
          </a:blip>
          <a:srcRect t="13617" b="68313"/>
          <a:stretch>
            <a:fillRect/>
          </a:stretch>
        </p:blipFill>
        <p:spPr>
          <a:xfrm>
            <a:off x="1650875" y="2465250"/>
            <a:ext cx="8465577" cy="83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g2791966677f_0_43"/>
          <p:cNvPicPr preferRelativeResize="0"/>
          <p:nvPr/>
        </p:nvPicPr>
        <p:blipFill rotWithShape="1">
          <a:blip r:embed="rId3">
            <a:alphaModFix/>
          </a:blip>
          <a:srcRect t="33001" r="55634" b="48566"/>
          <a:stretch>
            <a:fillRect/>
          </a:stretch>
        </p:blipFill>
        <p:spPr>
          <a:xfrm>
            <a:off x="2519126" y="3320705"/>
            <a:ext cx="2985472" cy="6924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g2791966677f_0_43"/>
          <p:cNvPicPr preferRelativeResize="0"/>
          <p:nvPr/>
        </p:nvPicPr>
        <p:blipFill rotWithShape="1">
          <a:blip r:embed="rId3">
            <a:alphaModFix/>
          </a:blip>
          <a:srcRect l="24761" t="51277" r="56242" b="30536"/>
          <a:stretch>
            <a:fillRect/>
          </a:stretch>
        </p:blipFill>
        <p:spPr>
          <a:xfrm>
            <a:off x="4185313" y="4013122"/>
            <a:ext cx="1278341" cy="683196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g2791966677f_0_43"/>
          <p:cNvSpPr txBox="1"/>
          <p:nvPr/>
        </p:nvSpPr>
        <p:spPr>
          <a:xfrm>
            <a:off x="1786950" y="2781025"/>
            <a:ext cx="1388400" cy="5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g2791966677f_0_43"/>
          <p:cNvSpPr txBox="1"/>
          <p:nvPr/>
        </p:nvSpPr>
        <p:spPr>
          <a:xfrm>
            <a:off x="362225" y="1744614"/>
            <a:ext cx="2547600" cy="8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4A86E8"/>
                </a:solidFill>
                <a:latin typeface="Calibri"/>
                <a:ea typeface="Calibri"/>
                <a:cs typeface="Calibri"/>
                <a:sym typeface="Calibri"/>
              </a:rPr>
              <a:t>partition</a:t>
            </a:r>
            <a:r>
              <a:rPr lang="en-US" sz="2000" dirty="0">
                <a:solidFill>
                  <a:srgbClr val="4A86E8"/>
                </a:solidFill>
                <a:latin typeface="Calibri"/>
                <a:ea typeface="Calibri"/>
                <a:cs typeface="Calibri"/>
                <a:sym typeface="Calibri"/>
              </a:rPr>
              <a:t>(X, 0, 10) &gt;&gt;</a:t>
            </a:r>
            <a:endParaRPr sz="2000" dirty="0">
              <a:solidFill>
                <a:srgbClr val="4A86E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38761D"/>
                </a:solidFill>
                <a:latin typeface="Calibri"/>
                <a:ea typeface="Calibri"/>
                <a:cs typeface="Calibri"/>
                <a:sym typeface="Calibri"/>
              </a:rPr>
              <a:t>pivot index=4</a:t>
            </a:r>
            <a:endParaRPr sz="2000" dirty="0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g2791966677f_0_43"/>
          <p:cNvSpPr txBox="1"/>
          <p:nvPr/>
        </p:nvSpPr>
        <p:spPr>
          <a:xfrm>
            <a:off x="4822200" y="1390213"/>
            <a:ext cx="25476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u="sng" dirty="0" err="1">
                <a:solidFill>
                  <a:srgbClr val="4A86E8"/>
                </a:solidFill>
                <a:latin typeface="Calibri"/>
                <a:ea typeface="Calibri"/>
                <a:cs typeface="Calibri"/>
                <a:sym typeface="Calibri"/>
              </a:rPr>
              <a:t>QuickSort</a:t>
            </a:r>
            <a:r>
              <a:rPr lang="en-US" sz="2000" dirty="0">
                <a:solidFill>
                  <a:srgbClr val="4A86E8"/>
                </a:solidFill>
                <a:latin typeface="Calibri"/>
                <a:ea typeface="Calibri"/>
                <a:cs typeface="Calibri"/>
                <a:sym typeface="Calibri"/>
              </a:rPr>
              <a:t>(X, 0, 10)</a:t>
            </a:r>
            <a:endParaRPr sz="2000" dirty="0">
              <a:solidFill>
                <a:srgbClr val="4A86E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g2791966677f_0_43"/>
          <p:cNvSpPr txBox="1"/>
          <p:nvPr/>
        </p:nvSpPr>
        <p:spPr>
          <a:xfrm>
            <a:off x="362225" y="2417263"/>
            <a:ext cx="25476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u="sng" dirty="0" err="1">
                <a:solidFill>
                  <a:srgbClr val="4A86E8"/>
                </a:solidFill>
                <a:latin typeface="Calibri"/>
                <a:ea typeface="Calibri"/>
                <a:cs typeface="Calibri"/>
                <a:sym typeface="Calibri"/>
              </a:rPr>
              <a:t>QuickSort</a:t>
            </a:r>
            <a:r>
              <a:rPr lang="en-US" sz="2000" dirty="0">
                <a:solidFill>
                  <a:srgbClr val="4A86E8"/>
                </a:solidFill>
                <a:latin typeface="Calibri"/>
                <a:ea typeface="Calibri"/>
                <a:cs typeface="Calibri"/>
                <a:sym typeface="Calibri"/>
              </a:rPr>
              <a:t>(X, 0, 3)</a:t>
            </a:r>
            <a:endParaRPr sz="2000" dirty="0">
              <a:solidFill>
                <a:srgbClr val="4A86E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g2791966677f_0_43"/>
          <p:cNvSpPr txBox="1"/>
          <p:nvPr/>
        </p:nvSpPr>
        <p:spPr>
          <a:xfrm>
            <a:off x="362225" y="2872714"/>
            <a:ext cx="2547600" cy="8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4A86E8"/>
                </a:solidFill>
                <a:latin typeface="Calibri"/>
                <a:ea typeface="Calibri"/>
                <a:cs typeface="Calibri"/>
                <a:sym typeface="Calibri"/>
              </a:rPr>
              <a:t>Partition</a:t>
            </a:r>
            <a:r>
              <a:rPr lang="en-US" sz="2000" dirty="0">
                <a:solidFill>
                  <a:srgbClr val="4A86E8"/>
                </a:solidFill>
                <a:latin typeface="Calibri"/>
                <a:ea typeface="Calibri"/>
                <a:cs typeface="Calibri"/>
                <a:sym typeface="Calibri"/>
              </a:rPr>
              <a:t>(X, 0, 3)</a:t>
            </a:r>
            <a:endParaRPr sz="2000" dirty="0">
              <a:solidFill>
                <a:srgbClr val="4A86E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38761D"/>
                </a:solidFill>
                <a:latin typeface="Calibri"/>
                <a:ea typeface="Calibri"/>
                <a:cs typeface="Calibri"/>
                <a:sym typeface="Calibri"/>
              </a:rPr>
              <a:t>pivot index= 1</a:t>
            </a:r>
            <a:endParaRPr sz="2000" dirty="0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g2791966677f_0_43"/>
          <p:cNvSpPr txBox="1"/>
          <p:nvPr/>
        </p:nvSpPr>
        <p:spPr>
          <a:xfrm>
            <a:off x="253350" y="3643238"/>
            <a:ext cx="2922000" cy="4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u="sng" dirty="0" err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QuickSort</a:t>
            </a:r>
            <a:r>
              <a:rPr lang="en-US" sz="20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(X, 0, 0) -DONE</a:t>
            </a:r>
            <a:endParaRPr sz="2000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g2791966677f_0_43"/>
          <p:cNvSpPr txBox="1"/>
          <p:nvPr/>
        </p:nvSpPr>
        <p:spPr>
          <a:xfrm>
            <a:off x="253350" y="4153220"/>
            <a:ext cx="2547600" cy="4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u="sng" dirty="0" err="1">
                <a:solidFill>
                  <a:srgbClr val="4A86E8"/>
                </a:solidFill>
                <a:latin typeface="Calibri"/>
                <a:ea typeface="Calibri"/>
                <a:cs typeface="Calibri"/>
                <a:sym typeface="Calibri"/>
              </a:rPr>
              <a:t>QuickSort</a:t>
            </a:r>
            <a:r>
              <a:rPr lang="en-US" sz="2000" dirty="0">
                <a:solidFill>
                  <a:srgbClr val="4A86E8"/>
                </a:solidFill>
                <a:latin typeface="Calibri"/>
                <a:ea typeface="Calibri"/>
                <a:cs typeface="Calibri"/>
                <a:sym typeface="Calibri"/>
              </a:rPr>
              <a:t>(X, 2, 3)</a:t>
            </a:r>
            <a:endParaRPr sz="2000" dirty="0">
              <a:solidFill>
                <a:srgbClr val="4A86E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g2791966677f_0_43"/>
          <p:cNvSpPr txBox="1"/>
          <p:nvPr/>
        </p:nvSpPr>
        <p:spPr>
          <a:xfrm>
            <a:off x="313925" y="4610629"/>
            <a:ext cx="2547600" cy="7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4A86E8"/>
                </a:solidFill>
                <a:latin typeface="Calibri"/>
                <a:ea typeface="Calibri"/>
                <a:cs typeface="Calibri"/>
                <a:sym typeface="Calibri"/>
              </a:rPr>
              <a:t>Partition</a:t>
            </a:r>
            <a:r>
              <a:rPr lang="en-US" sz="2000" dirty="0">
                <a:solidFill>
                  <a:srgbClr val="4A86E8"/>
                </a:solidFill>
                <a:latin typeface="Calibri"/>
                <a:ea typeface="Calibri"/>
                <a:cs typeface="Calibri"/>
                <a:sym typeface="Calibri"/>
              </a:rPr>
              <a:t>(X, 2, 3)</a:t>
            </a:r>
            <a:endParaRPr sz="2000" dirty="0">
              <a:solidFill>
                <a:srgbClr val="4A86E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solidFill>
                  <a:srgbClr val="38761D"/>
                </a:solidFill>
                <a:latin typeface="Calibri"/>
                <a:ea typeface="Calibri"/>
                <a:cs typeface="Calibri"/>
                <a:sym typeface="Calibri"/>
              </a:rPr>
              <a:t>PivotIndex</a:t>
            </a:r>
            <a:r>
              <a:rPr lang="en-US" sz="2000" dirty="0">
                <a:solidFill>
                  <a:srgbClr val="38761D"/>
                </a:solidFill>
                <a:latin typeface="Calibri"/>
                <a:ea typeface="Calibri"/>
                <a:cs typeface="Calibri"/>
                <a:sym typeface="Calibri"/>
              </a:rPr>
              <a:t>= 2</a:t>
            </a:r>
            <a:endParaRPr sz="2000" dirty="0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g2791966677f_0_43"/>
          <p:cNvSpPr txBox="1"/>
          <p:nvPr/>
        </p:nvSpPr>
        <p:spPr>
          <a:xfrm>
            <a:off x="228450" y="5323425"/>
            <a:ext cx="2819400" cy="7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u="sng" dirty="0" err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QuickSort</a:t>
            </a:r>
            <a:r>
              <a:rPr lang="en-US" sz="20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(X, 2, 1) - DONE</a:t>
            </a:r>
            <a:endParaRPr sz="2000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u="sng" dirty="0" err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QuickSort</a:t>
            </a:r>
            <a:r>
              <a:rPr lang="en-US" sz="20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(X, 3, 3)- DONE</a:t>
            </a:r>
            <a:endParaRPr sz="2000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g2791966677f_0_43"/>
          <p:cNvSpPr txBox="1"/>
          <p:nvPr/>
        </p:nvSpPr>
        <p:spPr>
          <a:xfrm>
            <a:off x="3289718" y="6113563"/>
            <a:ext cx="5427032" cy="4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Note</a:t>
            </a:r>
            <a:r>
              <a:rPr lang="en-US" dirty="0"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: Pivot chosen to be the right most element</a:t>
            </a:r>
            <a:endParaRPr dirty="0">
              <a:highlight>
                <a:srgbClr val="FFF2CC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884FD232-2A26-C34B-841A-1CBBB551683C}"/>
              </a:ext>
            </a:extLst>
          </p:cNvPr>
          <p:cNvSpPr txBox="1">
            <a:spLocks/>
          </p:cNvSpPr>
          <p:nvPr/>
        </p:nvSpPr>
        <p:spPr>
          <a:xfrm>
            <a:off x="838200" y="8466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C00000"/>
                </a:solidFill>
              </a:rPr>
              <a:t>Quick Sort: </a:t>
            </a:r>
            <a:r>
              <a:rPr lang="en-US" dirty="0">
                <a:solidFill>
                  <a:srgbClr val="C00000"/>
                </a:solidFill>
              </a:rPr>
              <a:t>Example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979FEC-494F-7862-8B76-EA395785AC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3463" y="84650"/>
            <a:ext cx="5690164" cy="111615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aphicFrame>
        <p:nvGraphicFramePr>
          <p:cNvPr id="10" name="Google Shape;357;g2791966677f_0_79">
            <a:extLst>
              <a:ext uri="{FF2B5EF4-FFF2-40B4-BE49-F238E27FC236}">
                <a16:creationId xmlns:a16="http://schemas.microsoft.com/office/drawing/2014/main" id="{74935FCD-A008-FB3C-4485-4A5EB106860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05351255"/>
              </p:ext>
            </p:extLst>
          </p:nvPr>
        </p:nvGraphicFramePr>
        <p:xfrm>
          <a:off x="3382484" y="5448187"/>
          <a:ext cx="5241500" cy="4571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7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6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6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6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6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6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65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65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765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3E31F02A-10FF-D42D-5407-2404D58C0E45}"/>
              </a:ext>
            </a:extLst>
          </p:cNvPr>
          <p:cNvSpPr/>
          <p:nvPr/>
        </p:nvSpPr>
        <p:spPr>
          <a:xfrm>
            <a:off x="5268036" y="5455054"/>
            <a:ext cx="515515" cy="4571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0DB232-579E-DDE6-DEB4-843424424F77}"/>
              </a:ext>
            </a:extLst>
          </p:cNvPr>
          <p:cNvSpPr/>
          <p:nvPr/>
        </p:nvSpPr>
        <p:spPr>
          <a:xfrm>
            <a:off x="3809745" y="5434549"/>
            <a:ext cx="515515" cy="4571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F3A6358-3B56-A34D-6250-8B0F3D6FDA15}"/>
              </a:ext>
            </a:extLst>
          </p:cNvPr>
          <p:cNvSpPr/>
          <p:nvPr/>
        </p:nvSpPr>
        <p:spPr>
          <a:xfrm>
            <a:off x="3338288" y="5468566"/>
            <a:ext cx="515515" cy="4571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3DF68A-F47E-AC3C-C7FC-8CE48D600D2B}"/>
              </a:ext>
            </a:extLst>
          </p:cNvPr>
          <p:cNvSpPr/>
          <p:nvPr/>
        </p:nvSpPr>
        <p:spPr>
          <a:xfrm>
            <a:off x="4281132" y="5441368"/>
            <a:ext cx="515515" cy="4571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4E1120-343F-B2F4-CA7D-11EF5BD72CAE}"/>
              </a:ext>
            </a:extLst>
          </p:cNvPr>
          <p:cNvSpPr/>
          <p:nvPr/>
        </p:nvSpPr>
        <p:spPr>
          <a:xfrm>
            <a:off x="4785559" y="5436820"/>
            <a:ext cx="515515" cy="4571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3C837EB-7354-595C-8D58-891B3C698A14}"/>
              </a:ext>
            </a:extLst>
          </p:cNvPr>
          <p:cNvSpPr/>
          <p:nvPr/>
        </p:nvSpPr>
        <p:spPr>
          <a:xfrm>
            <a:off x="3193675" y="3240270"/>
            <a:ext cx="377617" cy="2771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08387CE-F205-D517-5323-9253F4EF7403}"/>
              </a:ext>
            </a:extLst>
          </p:cNvPr>
          <p:cNvSpPr/>
          <p:nvPr/>
        </p:nvSpPr>
        <p:spPr>
          <a:xfrm>
            <a:off x="4518277" y="3235721"/>
            <a:ext cx="377617" cy="2771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3ADAA2A-EE9A-C271-57D5-8B3D6B340667}"/>
              </a:ext>
            </a:extLst>
          </p:cNvPr>
          <p:cNvSpPr/>
          <p:nvPr/>
        </p:nvSpPr>
        <p:spPr>
          <a:xfrm>
            <a:off x="6847526" y="3270666"/>
            <a:ext cx="410938" cy="2556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5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8CE36AA-5E70-A352-0ACD-2A30F7F79C52}"/>
              </a:ext>
            </a:extLst>
          </p:cNvPr>
          <p:cNvSpPr/>
          <p:nvPr/>
        </p:nvSpPr>
        <p:spPr>
          <a:xfrm>
            <a:off x="8979736" y="3235720"/>
            <a:ext cx="377617" cy="2771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10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5007BEF-FA5A-1037-0087-6BEABB75E955}"/>
              </a:ext>
            </a:extLst>
          </p:cNvPr>
          <p:cNvSpPr/>
          <p:nvPr/>
        </p:nvSpPr>
        <p:spPr>
          <a:xfrm>
            <a:off x="4393224" y="3944182"/>
            <a:ext cx="377617" cy="2771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A9A9966-19B7-B69E-2075-3B752661DE20}"/>
              </a:ext>
            </a:extLst>
          </p:cNvPr>
          <p:cNvSpPr/>
          <p:nvPr/>
        </p:nvSpPr>
        <p:spPr>
          <a:xfrm>
            <a:off x="4854507" y="3966519"/>
            <a:ext cx="377617" cy="2771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147D32B-169F-BCBB-4676-1EF9C2BCBFC0}"/>
              </a:ext>
            </a:extLst>
          </p:cNvPr>
          <p:cNvSpPr/>
          <p:nvPr/>
        </p:nvSpPr>
        <p:spPr>
          <a:xfrm>
            <a:off x="3398439" y="3966518"/>
            <a:ext cx="377617" cy="2771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5" grpId="0"/>
      <p:bldP spid="307" grpId="0"/>
      <p:bldP spid="309" grpId="0"/>
      <p:bldP spid="310" grpId="0"/>
      <p:bldP spid="311" grpId="0"/>
      <p:bldP spid="312" grpId="0"/>
      <p:bldP spid="313" grpId="0"/>
      <p:bldP spid="9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22" grpId="0"/>
      <p:bldP spid="23" grpId="0"/>
      <p:bldP spid="2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>
          <a:extLst>
            <a:ext uri="{FF2B5EF4-FFF2-40B4-BE49-F238E27FC236}">
              <a16:creationId xmlns:a16="http://schemas.microsoft.com/office/drawing/2014/main" id="{C29CBAC1-9720-A10A-6AD5-821ACAA19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g2791966677f_0_43">
            <a:extLst>
              <a:ext uri="{FF2B5EF4-FFF2-40B4-BE49-F238E27FC236}">
                <a16:creationId xmlns:a16="http://schemas.microsoft.com/office/drawing/2014/main" id="{0A500A7C-BD52-359B-F993-C437C435998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8822" r="15911" b="86476"/>
          <a:stretch/>
        </p:blipFill>
        <p:spPr>
          <a:xfrm>
            <a:off x="2656275" y="1752325"/>
            <a:ext cx="6302602" cy="712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g2791966677f_0_43">
            <a:extLst>
              <a:ext uri="{FF2B5EF4-FFF2-40B4-BE49-F238E27FC236}">
                <a16:creationId xmlns:a16="http://schemas.microsoft.com/office/drawing/2014/main" id="{B96AD214-939A-25DC-1705-97613F4B4E3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13617" b="68313"/>
          <a:stretch>
            <a:fillRect/>
          </a:stretch>
        </p:blipFill>
        <p:spPr>
          <a:xfrm>
            <a:off x="1650875" y="2465250"/>
            <a:ext cx="8465577" cy="83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g2791966677f_0_43">
            <a:extLst>
              <a:ext uri="{FF2B5EF4-FFF2-40B4-BE49-F238E27FC236}">
                <a16:creationId xmlns:a16="http://schemas.microsoft.com/office/drawing/2014/main" id="{78D2D92E-D121-591E-A32F-3AD91B23310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33001" r="55634" b="48566"/>
          <a:stretch>
            <a:fillRect/>
          </a:stretch>
        </p:blipFill>
        <p:spPr>
          <a:xfrm>
            <a:off x="2519126" y="3320705"/>
            <a:ext cx="2985472" cy="6924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g2791966677f_0_43">
            <a:extLst>
              <a:ext uri="{FF2B5EF4-FFF2-40B4-BE49-F238E27FC236}">
                <a16:creationId xmlns:a16="http://schemas.microsoft.com/office/drawing/2014/main" id="{2BCACB13-823E-F74C-D83F-7C37FC58A59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4761" t="51277" r="56242" b="30536"/>
          <a:stretch>
            <a:fillRect/>
          </a:stretch>
        </p:blipFill>
        <p:spPr>
          <a:xfrm>
            <a:off x="4185313" y="4013122"/>
            <a:ext cx="1278341" cy="683196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g2791966677f_0_43">
            <a:extLst>
              <a:ext uri="{FF2B5EF4-FFF2-40B4-BE49-F238E27FC236}">
                <a16:creationId xmlns:a16="http://schemas.microsoft.com/office/drawing/2014/main" id="{F34F383C-FDED-3041-9C5E-870D15ADE829}"/>
              </a:ext>
            </a:extLst>
          </p:cNvPr>
          <p:cNvSpPr txBox="1"/>
          <p:nvPr/>
        </p:nvSpPr>
        <p:spPr>
          <a:xfrm>
            <a:off x="1786950" y="2781025"/>
            <a:ext cx="1388400" cy="5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g2791966677f_0_43">
            <a:extLst>
              <a:ext uri="{FF2B5EF4-FFF2-40B4-BE49-F238E27FC236}">
                <a16:creationId xmlns:a16="http://schemas.microsoft.com/office/drawing/2014/main" id="{28D66904-FBA5-7868-B632-4F4A1D9345D4}"/>
              </a:ext>
            </a:extLst>
          </p:cNvPr>
          <p:cNvSpPr txBox="1"/>
          <p:nvPr/>
        </p:nvSpPr>
        <p:spPr>
          <a:xfrm>
            <a:off x="362225" y="1744614"/>
            <a:ext cx="2547600" cy="8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4A86E8"/>
                </a:solidFill>
                <a:latin typeface="Calibri"/>
                <a:ea typeface="Calibri"/>
                <a:cs typeface="Calibri"/>
                <a:sym typeface="Calibri"/>
              </a:rPr>
              <a:t>partition</a:t>
            </a:r>
            <a:r>
              <a:rPr lang="en-US" sz="2000" dirty="0">
                <a:solidFill>
                  <a:srgbClr val="4A86E8"/>
                </a:solidFill>
                <a:latin typeface="Calibri"/>
                <a:ea typeface="Calibri"/>
                <a:cs typeface="Calibri"/>
                <a:sym typeface="Calibri"/>
              </a:rPr>
              <a:t>(X, 0, 10) &gt;&gt;</a:t>
            </a:r>
            <a:endParaRPr sz="2000" dirty="0">
              <a:solidFill>
                <a:srgbClr val="4A86E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38761D"/>
                </a:solidFill>
                <a:latin typeface="Calibri"/>
                <a:ea typeface="Calibri"/>
                <a:cs typeface="Calibri"/>
                <a:sym typeface="Calibri"/>
              </a:rPr>
              <a:t>pivot index=4</a:t>
            </a:r>
            <a:endParaRPr sz="2000" dirty="0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g2791966677f_0_43">
            <a:extLst>
              <a:ext uri="{FF2B5EF4-FFF2-40B4-BE49-F238E27FC236}">
                <a16:creationId xmlns:a16="http://schemas.microsoft.com/office/drawing/2014/main" id="{B49CDA66-7AA0-87BD-10E3-A8EF74C67A4B}"/>
              </a:ext>
            </a:extLst>
          </p:cNvPr>
          <p:cNvSpPr txBox="1"/>
          <p:nvPr/>
        </p:nvSpPr>
        <p:spPr>
          <a:xfrm>
            <a:off x="4822200" y="1390213"/>
            <a:ext cx="25476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u="sng" dirty="0" err="1">
                <a:solidFill>
                  <a:srgbClr val="4A86E8"/>
                </a:solidFill>
                <a:latin typeface="Calibri"/>
                <a:ea typeface="Calibri"/>
                <a:cs typeface="Calibri"/>
                <a:sym typeface="Calibri"/>
              </a:rPr>
              <a:t>QuickSort</a:t>
            </a:r>
            <a:r>
              <a:rPr lang="en-US" sz="2000" dirty="0">
                <a:solidFill>
                  <a:srgbClr val="4A86E8"/>
                </a:solidFill>
                <a:latin typeface="Calibri"/>
                <a:ea typeface="Calibri"/>
                <a:cs typeface="Calibri"/>
                <a:sym typeface="Calibri"/>
              </a:rPr>
              <a:t>(X, 0, 10)</a:t>
            </a:r>
            <a:endParaRPr sz="2000" dirty="0">
              <a:solidFill>
                <a:srgbClr val="4A86E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g2791966677f_0_43">
            <a:extLst>
              <a:ext uri="{FF2B5EF4-FFF2-40B4-BE49-F238E27FC236}">
                <a16:creationId xmlns:a16="http://schemas.microsoft.com/office/drawing/2014/main" id="{A9923112-337A-F3FD-30B4-BE614F4CD3EB}"/>
              </a:ext>
            </a:extLst>
          </p:cNvPr>
          <p:cNvSpPr txBox="1"/>
          <p:nvPr/>
        </p:nvSpPr>
        <p:spPr>
          <a:xfrm>
            <a:off x="362225" y="2417263"/>
            <a:ext cx="25476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u="sng" dirty="0" err="1">
                <a:solidFill>
                  <a:srgbClr val="4A86E8"/>
                </a:solidFill>
                <a:latin typeface="Calibri"/>
                <a:ea typeface="Calibri"/>
                <a:cs typeface="Calibri"/>
                <a:sym typeface="Calibri"/>
              </a:rPr>
              <a:t>QuickSort</a:t>
            </a:r>
            <a:r>
              <a:rPr lang="en-US" sz="2000" dirty="0">
                <a:solidFill>
                  <a:srgbClr val="4A86E8"/>
                </a:solidFill>
                <a:latin typeface="Calibri"/>
                <a:ea typeface="Calibri"/>
                <a:cs typeface="Calibri"/>
                <a:sym typeface="Calibri"/>
              </a:rPr>
              <a:t>(X, 0, 3)</a:t>
            </a:r>
            <a:endParaRPr sz="2000" dirty="0">
              <a:solidFill>
                <a:srgbClr val="4A86E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g2791966677f_0_43">
            <a:extLst>
              <a:ext uri="{FF2B5EF4-FFF2-40B4-BE49-F238E27FC236}">
                <a16:creationId xmlns:a16="http://schemas.microsoft.com/office/drawing/2014/main" id="{267C3109-036B-6497-F6E4-FF6A629EA8CD}"/>
              </a:ext>
            </a:extLst>
          </p:cNvPr>
          <p:cNvSpPr txBox="1"/>
          <p:nvPr/>
        </p:nvSpPr>
        <p:spPr>
          <a:xfrm>
            <a:off x="9320450" y="1311675"/>
            <a:ext cx="25476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u="sng" dirty="0" err="1">
                <a:solidFill>
                  <a:srgbClr val="4A86E8"/>
                </a:solidFill>
                <a:latin typeface="Calibri"/>
                <a:ea typeface="Calibri"/>
                <a:cs typeface="Calibri"/>
                <a:sym typeface="Calibri"/>
              </a:rPr>
              <a:t>QuickSort</a:t>
            </a:r>
            <a:r>
              <a:rPr lang="en-US" sz="2000" dirty="0">
                <a:solidFill>
                  <a:srgbClr val="4A86E8"/>
                </a:solidFill>
                <a:latin typeface="Calibri"/>
                <a:ea typeface="Calibri"/>
                <a:cs typeface="Calibri"/>
                <a:sym typeface="Calibri"/>
              </a:rPr>
              <a:t>(X, 5, 10)</a:t>
            </a:r>
            <a:endParaRPr sz="2000" dirty="0">
              <a:solidFill>
                <a:srgbClr val="4A86E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g2791966677f_0_43">
            <a:extLst>
              <a:ext uri="{FF2B5EF4-FFF2-40B4-BE49-F238E27FC236}">
                <a16:creationId xmlns:a16="http://schemas.microsoft.com/office/drawing/2014/main" id="{8C012761-12F1-F3C8-7EAA-746619C3CEBC}"/>
              </a:ext>
            </a:extLst>
          </p:cNvPr>
          <p:cNvSpPr txBox="1"/>
          <p:nvPr/>
        </p:nvSpPr>
        <p:spPr>
          <a:xfrm>
            <a:off x="362225" y="2872714"/>
            <a:ext cx="2547600" cy="8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4A86E8"/>
                </a:solidFill>
                <a:latin typeface="Calibri"/>
                <a:ea typeface="Calibri"/>
                <a:cs typeface="Calibri"/>
                <a:sym typeface="Calibri"/>
              </a:rPr>
              <a:t>Partition</a:t>
            </a:r>
            <a:r>
              <a:rPr lang="en-US" sz="2000" dirty="0">
                <a:solidFill>
                  <a:srgbClr val="4A86E8"/>
                </a:solidFill>
                <a:latin typeface="Calibri"/>
                <a:ea typeface="Calibri"/>
                <a:cs typeface="Calibri"/>
                <a:sym typeface="Calibri"/>
              </a:rPr>
              <a:t>(X, 0, 3)</a:t>
            </a:r>
            <a:endParaRPr sz="2000" dirty="0">
              <a:solidFill>
                <a:srgbClr val="4A86E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38761D"/>
                </a:solidFill>
                <a:latin typeface="Calibri"/>
                <a:ea typeface="Calibri"/>
                <a:cs typeface="Calibri"/>
                <a:sym typeface="Calibri"/>
              </a:rPr>
              <a:t>pivot index= 1</a:t>
            </a:r>
            <a:endParaRPr sz="2000" dirty="0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g2791966677f_0_43">
            <a:extLst>
              <a:ext uri="{FF2B5EF4-FFF2-40B4-BE49-F238E27FC236}">
                <a16:creationId xmlns:a16="http://schemas.microsoft.com/office/drawing/2014/main" id="{EA4BEF8D-905C-0E88-151A-AF3BF7B17947}"/>
              </a:ext>
            </a:extLst>
          </p:cNvPr>
          <p:cNvSpPr txBox="1"/>
          <p:nvPr/>
        </p:nvSpPr>
        <p:spPr>
          <a:xfrm>
            <a:off x="253350" y="3643238"/>
            <a:ext cx="2922000" cy="4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u="sng" dirty="0" err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QuickSort</a:t>
            </a:r>
            <a:r>
              <a:rPr lang="en-US" sz="20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(X, 0, 0) -DONE</a:t>
            </a:r>
            <a:endParaRPr sz="2000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g2791966677f_0_43">
            <a:extLst>
              <a:ext uri="{FF2B5EF4-FFF2-40B4-BE49-F238E27FC236}">
                <a16:creationId xmlns:a16="http://schemas.microsoft.com/office/drawing/2014/main" id="{4FBCE5A6-CE63-06CB-4AA1-F0356AA36E05}"/>
              </a:ext>
            </a:extLst>
          </p:cNvPr>
          <p:cNvSpPr txBox="1"/>
          <p:nvPr/>
        </p:nvSpPr>
        <p:spPr>
          <a:xfrm>
            <a:off x="253350" y="4153220"/>
            <a:ext cx="2547600" cy="4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u="sng" dirty="0" err="1">
                <a:solidFill>
                  <a:srgbClr val="4A86E8"/>
                </a:solidFill>
                <a:latin typeface="Calibri"/>
                <a:ea typeface="Calibri"/>
                <a:cs typeface="Calibri"/>
                <a:sym typeface="Calibri"/>
              </a:rPr>
              <a:t>QuickSort</a:t>
            </a:r>
            <a:r>
              <a:rPr lang="en-US" sz="2000" dirty="0">
                <a:solidFill>
                  <a:srgbClr val="4A86E8"/>
                </a:solidFill>
                <a:latin typeface="Calibri"/>
                <a:ea typeface="Calibri"/>
                <a:cs typeface="Calibri"/>
                <a:sym typeface="Calibri"/>
              </a:rPr>
              <a:t>(X, 2, 3)</a:t>
            </a:r>
            <a:endParaRPr sz="2000" dirty="0">
              <a:solidFill>
                <a:srgbClr val="4A86E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g2791966677f_0_43">
            <a:extLst>
              <a:ext uri="{FF2B5EF4-FFF2-40B4-BE49-F238E27FC236}">
                <a16:creationId xmlns:a16="http://schemas.microsoft.com/office/drawing/2014/main" id="{531F527F-9DA6-C97D-C7C1-C018F6AE4183}"/>
              </a:ext>
            </a:extLst>
          </p:cNvPr>
          <p:cNvSpPr txBox="1"/>
          <p:nvPr/>
        </p:nvSpPr>
        <p:spPr>
          <a:xfrm>
            <a:off x="313925" y="4610629"/>
            <a:ext cx="2547600" cy="7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4A86E8"/>
                </a:solidFill>
                <a:latin typeface="Calibri"/>
                <a:ea typeface="Calibri"/>
                <a:cs typeface="Calibri"/>
                <a:sym typeface="Calibri"/>
              </a:rPr>
              <a:t>Partition</a:t>
            </a:r>
            <a:r>
              <a:rPr lang="en-US" sz="2000" dirty="0">
                <a:solidFill>
                  <a:srgbClr val="4A86E8"/>
                </a:solidFill>
                <a:latin typeface="Calibri"/>
                <a:ea typeface="Calibri"/>
                <a:cs typeface="Calibri"/>
                <a:sym typeface="Calibri"/>
              </a:rPr>
              <a:t>(X, 2, 3)</a:t>
            </a:r>
            <a:endParaRPr sz="2000" dirty="0">
              <a:solidFill>
                <a:srgbClr val="4A86E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solidFill>
                  <a:srgbClr val="38761D"/>
                </a:solidFill>
                <a:latin typeface="Calibri"/>
                <a:ea typeface="Calibri"/>
                <a:cs typeface="Calibri"/>
                <a:sym typeface="Calibri"/>
              </a:rPr>
              <a:t>PivotIndex</a:t>
            </a:r>
            <a:r>
              <a:rPr lang="en-US" sz="2000" dirty="0">
                <a:solidFill>
                  <a:srgbClr val="38761D"/>
                </a:solidFill>
                <a:latin typeface="Calibri"/>
                <a:ea typeface="Calibri"/>
                <a:cs typeface="Calibri"/>
                <a:sym typeface="Calibri"/>
              </a:rPr>
              <a:t>= 2</a:t>
            </a:r>
            <a:endParaRPr sz="2000" dirty="0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g2791966677f_0_43">
            <a:extLst>
              <a:ext uri="{FF2B5EF4-FFF2-40B4-BE49-F238E27FC236}">
                <a16:creationId xmlns:a16="http://schemas.microsoft.com/office/drawing/2014/main" id="{842AA2B6-97AC-47F2-E181-87D5DB0AA56B}"/>
              </a:ext>
            </a:extLst>
          </p:cNvPr>
          <p:cNvSpPr txBox="1"/>
          <p:nvPr/>
        </p:nvSpPr>
        <p:spPr>
          <a:xfrm>
            <a:off x="228450" y="5323425"/>
            <a:ext cx="2819400" cy="7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u="sng" dirty="0" err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QuickSort</a:t>
            </a:r>
            <a:r>
              <a:rPr lang="en-US" sz="20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(X, 2, 1) - DONE</a:t>
            </a:r>
            <a:endParaRPr sz="2000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u="sng" dirty="0" err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QuickSort</a:t>
            </a:r>
            <a:r>
              <a:rPr lang="en-US" sz="20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(X, 3, 3)- DONE</a:t>
            </a:r>
            <a:endParaRPr sz="2000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g2791966677f_0_43">
            <a:extLst>
              <a:ext uri="{FF2B5EF4-FFF2-40B4-BE49-F238E27FC236}">
                <a16:creationId xmlns:a16="http://schemas.microsoft.com/office/drawing/2014/main" id="{C53495CE-6A08-4294-82F9-3FE9DC76A09E}"/>
              </a:ext>
            </a:extLst>
          </p:cNvPr>
          <p:cNvSpPr txBox="1"/>
          <p:nvPr/>
        </p:nvSpPr>
        <p:spPr>
          <a:xfrm>
            <a:off x="3289718" y="6064999"/>
            <a:ext cx="5427032" cy="4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Note</a:t>
            </a:r>
            <a:r>
              <a:rPr lang="en-US" dirty="0"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: Pivot chosen to be the right most element</a:t>
            </a:r>
            <a:endParaRPr dirty="0">
              <a:highlight>
                <a:srgbClr val="FFF2CC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51AA6A79-65DD-85C6-67DB-6E6111E372AB}"/>
              </a:ext>
            </a:extLst>
          </p:cNvPr>
          <p:cNvSpPr txBox="1">
            <a:spLocks/>
          </p:cNvSpPr>
          <p:nvPr/>
        </p:nvSpPr>
        <p:spPr>
          <a:xfrm>
            <a:off x="838200" y="8466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C00000"/>
                </a:solidFill>
              </a:rPr>
              <a:t>Quick Sort: </a:t>
            </a:r>
            <a:r>
              <a:rPr lang="en-US" dirty="0">
                <a:solidFill>
                  <a:srgbClr val="C00000"/>
                </a:solidFill>
              </a:rPr>
              <a:t>Example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325DCF1-B61C-62D3-AC0D-780BF2DAB4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3463" y="84650"/>
            <a:ext cx="5690164" cy="111615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aphicFrame>
        <p:nvGraphicFramePr>
          <p:cNvPr id="10" name="Google Shape;357;g2791966677f_0_79">
            <a:extLst>
              <a:ext uri="{FF2B5EF4-FFF2-40B4-BE49-F238E27FC236}">
                <a16:creationId xmlns:a16="http://schemas.microsoft.com/office/drawing/2014/main" id="{B0405AA3-D65C-0C6E-4D99-85AEA534C4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61866503"/>
              </p:ext>
            </p:extLst>
          </p:nvPr>
        </p:nvGraphicFramePr>
        <p:xfrm>
          <a:off x="3382484" y="5448187"/>
          <a:ext cx="5241500" cy="4571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7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6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6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6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6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6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65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65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765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0F49BB17-EE1F-79D1-3A54-9AB2B85C034E}"/>
              </a:ext>
            </a:extLst>
          </p:cNvPr>
          <p:cNvSpPr/>
          <p:nvPr/>
        </p:nvSpPr>
        <p:spPr>
          <a:xfrm>
            <a:off x="5268036" y="5455054"/>
            <a:ext cx="515515" cy="4571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D754D66-2C9F-774D-2BD9-68F8B9FE9145}"/>
              </a:ext>
            </a:extLst>
          </p:cNvPr>
          <p:cNvSpPr/>
          <p:nvPr/>
        </p:nvSpPr>
        <p:spPr>
          <a:xfrm>
            <a:off x="3809745" y="5434549"/>
            <a:ext cx="515515" cy="4571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3C5336C-9069-7624-E1F2-E6F0C690B83D}"/>
              </a:ext>
            </a:extLst>
          </p:cNvPr>
          <p:cNvSpPr/>
          <p:nvPr/>
        </p:nvSpPr>
        <p:spPr>
          <a:xfrm>
            <a:off x="3338288" y="5468566"/>
            <a:ext cx="515515" cy="4571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23BCE9D-8282-0C28-43D2-C7EA4302C465}"/>
              </a:ext>
            </a:extLst>
          </p:cNvPr>
          <p:cNvSpPr/>
          <p:nvPr/>
        </p:nvSpPr>
        <p:spPr>
          <a:xfrm>
            <a:off x="4281132" y="5441368"/>
            <a:ext cx="515515" cy="4571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93A447E-7BFF-660A-1B6F-55F66A019E6C}"/>
              </a:ext>
            </a:extLst>
          </p:cNvPr>
          <p:cNvSpPr/>
          <p:nvPr/>
        </p:nvSpPr>
        <p:spPr>
          <a:xfrm>
            <a:off x="4785559" y="5436820"/>
            <a:ext cx="515515" cy="4571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4</a:t>
            </a:r>
          </a:p>
        </p:txBody>
      </p:sp>
      <p:pic>
        <p:nvPicPr>
          <p:cNvPr id="2" name="Google Shape;328;g2791966677f_0_79">
            <a:extLst>
              <a:ext uri="{FF2B5EF4-FFF2-40B4-BE49-F238E27FC236}">
                <a16:creationId xmlns:a16="http://schemas.microsoft.com/office/drawing/2014/main" id="{E1CD9E96-5E86-7CC0-7836-BD3787E6DD5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56536" t="32460" b="47774"/>
          <a:stretch>
            <a:fillRect/>
          </a:stretch>
        </p:blipFill>
        <p:spPr>
          <a:xfrm>
            <a:off x="6323463" y="3300325"/>
            <a:ext cx="2924735" cy="74252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337;g2791966677f_0_79">
            <a:extLst>
              <a:ext uri="{FF2B5EF4-FFF2-40B4-BE49-F238E27FC236}">
                <a16:creationId xmlns:a16="http://schemas.microsoft.com/office/drawing/2014/main" id="{913B4B86-6113-03EC-C823-41CA15CB36CA}"/>
              </a:ext>
            </a:extLst>
          </p:cNvPr>
          <p:cNvSpPr txBox="1"/>
          <p:nvPr/>
        </p:nvSpPr>
        <p:spPr>
          <a:xfrm>
            <a:off x="9397300" y="1828925"/>
            <a:ext cx="2547600" cy="7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4A86E8"/>
                </a:solidFill>
                <a:latin typeface="Calibri"/>
                <a:ea typeface="Calibri"/>
                <a:cs typeface="Calibri"/>
                <a:sym typeface="Calibri"/>
              </a:rPr>
              <a:t>Partition</a:t>
            </a:r>
            <a:r>
              <a:rPr lang="en-US" sz="2000">
                <a:solidFill>
                  <a:srgbClr val="4A86E8"/>
                </a:solidFill>
                <a:latin typeface="Calibri"/>
                <a:ea typeface="Calibri"/>
                <a:cs typeface="Calibri"/>
                <a:sym typeface="Calibri"/>
              </a:rPr>
              <a:t>(X, 5, 10)</a:t>
            </a:r>
            <a:endParaRPr sz="2000">
              <a:solidFill>
                <a:srgbClr val="4A86E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38761D"/>
                </a:solidFill>
                <a:latin typeface="Calibri"/>
                <a:ea typeface="Calibri"/>
                <a:cs typeface="Calibri"/>
                <a:sym typeface="Calibri"/>
              </a:rPr>
              <a:t>PivotIndex= 9</a:t>
            </a:r>
            <a:endParaRPr sz="2000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342;g2791966677f_0_79">
            <a:extLst>
              <a:ext uri="{FF2B5EF4-FFF2-40B4-BE49-F238E27FC236}">
                <a16:creationId xmlns:a16="http://schemas.microsoft.com/office/drawing/2014/main" id="{46558884-9B0E-7CD5-3044-697F61FFAD71}"/>
              </a:ext>
            </a:extLst>
          </p:cNvPr>
          <p:cNvSpPr txBox="1"/>
          <p:nvPr/>
        </p:nvSpPr>
        <p:spPr>
          <a:xfrm>
            <a:off x="9073300" y="6258450"/>
            <a:ext cx="3195600" cy="4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u="sng" dirty="0" err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QuickSort</a:t>
            </a:r>
            <a:r>
              <a:rPr lang="en-US" sz="20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(X, 10, 10) -DONE</a:t>
            </a:r>
            <a:endParaRPr sz="2000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345;g2791966677f_0_79">
            <a:extLst>
              <a:ext uri="{FF2B5EF4-FFF2-40B4-BE49-F238E27FC236}">
                <a16:creationId xmlns:a16="http://schemas.microsoft.com/office/drawing/2014/main" id="{7056AB1D-8229-587F-B84B-B12765DF9B50}"/>
              </a:ext>
            </a:extLst>
          </p:cNvPr>
          <p:cNvSpPr txBox="1"/>
          <p:nvPr/>
        </p:nvSpPr>
        <p:spPr>
          <a:xfrm>
            <a:off x="9166825" y="5804750"/>
            <a:ext cx="3195600" cy="4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u="sng" dirty="0" err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QuickSort</a:t>
            </a:r>
            <a:r>
              <a:rPr lang="en-US" sz="20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(X, 9, 8) -DONE</a:t>
            </a:r>
            <a:endParaRPr sz="2000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346;g2791966677f_0_79">
            <a:extLst>
              <a:ext uri="{FF2B5EF4-FFF2-40B4-BE49-F238E27FC236}">
                <a16:creationId xmlns:a16="http://schemas.microsoft.com/office/drawing/2014/main" id="{F85DCA99-4960-3EFF-5F60-4C9B0A230BEE}"/>
              </a:ext>
            </a:extLst>
          </p:cNvPr>
          <p:cNvSpPr txBox="1"/>
          <p:nvPr/>
        </p:nvSpPr>
        <p:spPr>
          <a:xfrm>
            <a:off x="9348800" y="3838120"/>
            <a:ext cx="2547600" cy="4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u="sng" dirty="0" err="1">
                <a:solidFill>
                  <a:srgbClr val="4A86E8"/>
                </a:solidFill>
                <a:latin typeface="Calibri"/>
                <a:ea typeface="Calibri"/>
                <a:cs typeface="Calibri"/>
                <a:sym typeface="Calibri"/>
              </a:rPr>
              <a:t>QuickSort</a:t>
            </a:r>
            <a:r>
              <a:rPr lang="en-US" sz="2000" dirty="0">
                <a:solidFill>
                  <a:srgbClr val="4A86E8"/>
                </a:solidFill>
                <a:latin typeface="Calibri"/>
                <a:ea typeface="Calibri"/>
                <a:cs typeface="Calibri"/>
                <a:sym typeface="Calibri"/>
              </a:rPr>
              <a:t>(X, 5, 7)</a:t>
            </a:r>
            <a:endParaRPr sz="2000" dirty="0">
              <a:solidFill>
                <a:srgbClr val="4A86E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347;g2791966677f_0_79">
            <a:extLst>
              <a:ext uri="{FF2B5EF4-FFF2-40B4-BE49-F238E27FC236}">
                <a16:creationId xmlns:a16="http://schemas.microsoft.com/office/drawing/2014/main" id="{1CA8AA45-8F50-C16E-7ECF-86C9931CBFE4}"/>
              </a:ext>
            </a:extLst>
          </p:cNvPr>
          <p:cNvSpPr txBox="1"/>
          <p:nvPr/>
        </p:nvSpPr>
        <p:spPr>
          <a:xfrm>
            <a:off x="9348800" y="4261525"/>
            <a:ext cx="2547600" cy="7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4A86E8"/>
                </a:solidFill>
                <a:latin typeface="Calibri"/>
                <a:ea typeface="Calibri"/>
                <a:cs typeface="Calibri"/>
                <a:sym typeface="Calibri"/>
              </a:rPr>
              <a:t>Partition</a:t>
            </a:r>
            <a:r>
              <a:rPr lang="en-US" sz="2000" dirty="0">
                <a:solidFill>
                  <a:srgbClr val="4A86E8"/>
                </a:solidFill>
                <a:latin typeface="Calibri"/>
                <a:ea typeface="Calibri"/>
                <a:cs typeface="Calibri"/>
                <a:sym typeface="Calibri"/>
              </a:rPr>
              <a:t>(X, 5, 7)</a:t>
            </a:r>
            <a:endParaRPr sz="2000" dirty="0">
              <a:solidFill>
                <a:srgbClr val="4A86E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solidFill>
                  <a:srgbClr val="38761D"/>
                </a:solidFill>
                <a:latin typeface="Calibri"/>
                <a:ea typeface="Calibri"/>
                <a:cs typeface="Calibri"/>
                <a:sym typeface="Calibri"/>
              </a:rPr>
              <a:t>PivotIndex</a:t>
            </a:r>
            <a:r>
              <a:rPr lang="en-US" sz="2000" dirty="0">
                <a:solidFill>
                  <a:srgbClr val="38761D"/>
                </a:solidFill>
                <a:latin typeface="Calibri"/>
                <a:ea typeface="Calibri"/>
                <a:cs typeface="Calibri"/>
                <a:sym typeface="Calibri"/>
              </a:rPr>
              <a:t>= 6</a:t>
            </a:r>
            <a:endParaRPr sz="2000" dirty="0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348;g2791966677f_0_79">
            <a:extLst>
              <a:ext uri="{FF2B5EF4-FFF2-40B4-BE49-F238E27FC236}">
                <a16:creationId xmlns:a16="http://schemas.microsoft.com/office/drawing/2014/main" id="{6B490D9F-AA61-C6DD-F1F5-B5CFBBE337DE}"/>
              </a:ext>
            </a:extLst>
          </p:cNvPr>
          <p:cNvSpPr txBox="1"/>
          <p:nvPr/>
        </p:nvSpPr>
        <p:spPr>
          <a:xfrm>
            <a:off x="9166825" y="4950250"/>
            <a:ext cx="3195600" cy="4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u="sng" dirty="0" err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QuickSort</a:t>
            </a:r>
            <a:r>
              <a:rPr lang="en-US" sz="20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(X, 5, 5) -DONE</a:t>
            </a:r>
            <a:endParaRPr sz="2000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349;g2791966677f_0_79">
            <a:extLst>
              <a:ext uri="{FF2B5EF4-FFF2-40B4-BE49-F238E27FC236}">
                <a16:creationId xmlns:a16="http://schemas.microsoft.com/office/drawing/2014/main" id="{5F7B97E2-787A-F380-16C9-B1ADA6A7927F}"/>
              </a:ext>
            </a:extLst>
          </p:cNvPr>
          <p:cNvSpPr txBox="1"/>
          <p:nvPr/>
        </p:nvSpPr>
        <p:spPr>
          <a:xfrm>
            <a:off x="9166825" y="5351050"/>
            <a:ext cx="3195600" cy="4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u="sng" dirty="0" err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QuickSort</a:t>
            </a:r>
            <a:r>
              <a:rPr lang="en-US" sz="20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(X, 7, 7) -DONE</a:t>
            </a:r>
            <a:endParaRPr sz="2000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Google Shape;355;g2791966677f_0_79">
            <a:extLst>
              <a:ext uri="{FF2B5EF4-FFF2-40B4-BE49-F238E27FC236}">
                <a16:creationId xmlns:a16="http://schemas.microsoft.com/office/drawing/2014/main" id="{8DD0F18B-BEDF-4B70-6878-66164C10834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50401" t="51583" r="17640" b="30968"/>
          <a:stretch>
            <a:fillRect/>
          </a:stretch>
        </p:blipFill>
        <p:spPr>
          <a:xfrm>
            <a:off x="5910774" y="4011007"/>
            <a:ext cx="2150504" cy="65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356;g2791966677f_0_79">
            <a:extLst>
              <a:ext uri="{FF2B5EF4-FFF2-40B4-BE49-F238E27FC236}">
                <a16:creationId xmlns:a16="http://schemas.microsoft.com/office/drawing/2014/main" id="{A99AA154-CA5A-0612-E4DD-7BD3281759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47657" t="69798" r="27913" b="16405"/>
          <a:stretch>
            <a:fillRect/>
          </a:stretch>
        </p:blipFill>
        <p:spPr>
          <a:xfrm>
            <a:off x="5725925" y="4680804"/>
            <a:ext cx="1643875" cy="518324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343;g2791966677f_0_79">
            <a:extLst>
              <a:ext uri="{FF2B5EF4-FFF2-40B4-BE49-F238E27FC236}">
                <a16:creationId xmlns:a16="http://schemas.microsoft.com/office/drawing/2014/main" id="{75484577-4454-A45D-0B53-809BAE320780}"/>
              </a:ext>
            </a:extLst>
          </p:cNvPr>
          <p:cNvSpPr txBox="1"/>
          <p:nvPr/>
        </p:nvSpPr>
        <p:spPr>
          <a:xfrm>
            <a:off x="9320450" y="2672920"/>
            <a:ext cx="2547600" cy="4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u="sng" dirty="0" err="1">
                <a:solidFill>
                  <a:srgbClr val="4A86E8"/>
                </a:solidFill>
                <a:latin typeface="Calibri"/>
                <a:ea typeface="Calibri"/>
                <a:cs typeface="Calibri"/>
                <a:sym typeface="Calibri"/>
              </a:rPr>
              <a:t>QuickSort</a:t>
            </a:r>
            <a:r>
              <a:rPr lang="en-US" sz="2000" dirty="0">
                <a:solidFill>
                  <a:srgbClr val="4A86E8"/>
                </a:solidFill>
                <a:latin typeface="Calibri"/>
                <a:ea typeface="Calibri"/>
                <a:cs typeface="Calibri"/>
                <a:sym typeface="Calibri"/>
              </a:rPr>
              <a:t>(X, 5, 8)</a:t>
            </a:r>
            <a:endParaRPr sz="2000" dirty="0">
              <a:solidFill>
                <a:srgbClr val="4A86E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344;g2791966677f_0_79">
            <a:extLst>
              <a:ext uri="{FF2B5EF4-FFF2-40B4-BE49-F238E27FC236}">
                <a16:creationId xmlns:a16="http://schemas.microsoft.com/office/drawing/2014/main" id="{71BE464C-C0A8-5222-7208-AB64E3656557}"/>
              </a:ext>
            </a:extLst>
          </p:cNvPr>
          <p:cNvSpPr txBox="1"/>
          <p:nvPr/>
        </p:nvSpPr>
        <p:spPr>
          <a:xfrm>
            <a:off x="9365000" y="3096325"/>
            <a:ext cx="2547600" cy="7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4A86E8"/>
                </a:solidFill>
                <a:latin typeface="Calibri"/>
                <a:ea typeface="Calibri"/>
                <a:cs typeface="Calibri"/>
                <a:sym typeface="Calibri"/>
              </a:rPr>
              <a:t>Partition</a:t>
            </a:r>
            <a:r>
              <a:rPr lang="en-US" sz="2000" dirty="0">
                <a:solidFill>
                  <a:srgbClr val="4A86E8"/>
                </a:solidFill>
                <a:latin typeface="Calibri"/>
                <a:ea typeface="Calibri"/>
                <a:cs typeface="Calibri"/>
                <a:sym typeface="Calibri"/>
              </a:rPr>
              <a:t>(X, 5, 8)</a:t>
            </a:r>
            <a:endParaRPr sz="2000" dirty="0">
              <a:solidFill>
                <a:srgbClr val="4A86E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solidFill>
                  <a:srgbClr val="38761D"/>
                </a:solidFill>
                <a:latin typeface="Calibri"/>
                <a:ea typeface="Calibri"/>
                <a:cs typeface="Calibri"/>
                <a:sym typeface="Calibri"/>
              </a:rPr>
              <a:t>PivotIndex</a:t>
            </a:r>
            <a:r>
              <a:rPr lang="en-US" sz="2000" dirty="0">
                <a:solidFill>
                  <a:srgbClr val="38761D"/>
                </a:solidFill>
                <a:latin typeface="Calibri"/>
                <a:ea typeface="Calibri"/>
                <a:cs typeface="Calibri"/>
                <a:sym typeface="Calibri"/>
              </a:rPr>
              <a:t>= 8</a:t>
            </a:r>
            <a:endParaRPr sz="2000" dirty="0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3D8C723-6DC5-DB52-5350-8A670E76DDDF}"/>
              </a:ext>
            </a:extLst>
          </p:cNvPr>
          <p:cNvSpPr/>
          <p:nvPr/>
        </p:nvSpPr>
        <p:spPr>
          <a:xfrm>
            <a:off x="7634011" y="5441368"/>
            <a:ext cx="515515" cy="4571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315598-C2A4-06A6-8758-C4C065C577AD}"/>
              </a:ext>
            </a:extLst>
          </p:cNvPr>
          <p:cNvSpPr/>
          <p:nvPr/>
        </p:nvSpPr>
        <p:spPr>
          <a:xfrm>
            <a:off x="7193019" y="5455006"/>
            <a:ext cx="515515" cy="4571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DA70D23-1CDE-0652-1C4A-4E21AAECAD57}"/>
              </a:ext>
            </a:extLst>
          </p:cNvPr>
          <p:cNvSpPr/>
          <p:nvPr/>
        </p:nvSpPr>
        <p:spPr>
          <a:xfrm>
            <a:off x="6217205" y="5441368"/>
            <a:ext cx="515515" cy="4571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7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EA584B7-E6BB-E36D-D7D8-63CBB821D6CE}"/>
              </a:ext>
            </a:extLst>
          </p:cNvPr>
          <p:cNvSpPr/>
          <p:nvPr/>
        </p:nvSpPr>
        <p:spPr>
          <a:xfrm>
            <a:off x="5721878" y="5427808"/>
            <a:ext cx="515515" cy="4571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CB0010A-F21C-8C96-15D0-D44B1311DD87}"/>
              </a:ext>
            </a:extLst>
          </p:cNvPr>
          <p:cNvSpPr/>
          <p:nvPr/>
        </p:nvSpPr>
        <p:spPr>
          <a:xfrm>
            <a:off x="6677504" y="5441368"/>
            <a:ext cx="515515" cy="4571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B3E1450-CED6-E5B1-935F-0DFB28B81F7E}"/>
              </a:ext>
            </a:extLst>
          </p:cNvPr>
          <p:cNvSpPr/>
          <p:nvPr/>
        </p:nvSpPr>
        <p:spPr>
          <a:xfrm>
            <a:off x="6847526" y="3270666"/>
            <a:ext cx="410938" cy="2556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5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EA25552-E131-0B53-9275-EA465AEE3D2C}"/>
              </a:ext>
            </a:extLst>
          </p:cNvPr>
          <p:cNvSpPr/>
          <p:nvPr/>
        </p:nvSpPr>
        <p:spPr>
          <a:xfrm>
            <a:off x="8979736" y="3235720"/>
            <a:ext cx="377617" cy="2771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10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4193D8B-60E9-EC10-7C51-B9D80581A0E3}"/>
              </a:ext>
            </a:extLst>
          </p:cNvPr>
          <p:cNvSpPr/>
          <p:nvPr/>
        </p:nvSpPr>
        <p:spPr>
          <a:xfrm>
            <a:off x="6436588" y="3999790"/>
            <a:ext cx="410938" cy="2556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5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0F09515-8E40-2330-0F34-3A03B5E49BD0}"/>
              </a:ext>
            </a:extLst>
          </p:cNvPr>
          <p:cNvSpPr/>
          <p:nvPr/>
        </p:nvSpPr>
        <p:spPr>
          <a:xfrm>
            <a:off x="7442654" y="3990628"/>
            <a:ext cx="410938" cy="2556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8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9E4BF61-3F7E-8B61-AC98-4D5610296BA8}"/>
              </a:ext>
            </a:extLst>
          </p:cNvPr>
          <p:cNvSpPr/>
          <p:nvPr/>
        </p:nvSpPr>
        <p:spPr>
          <a:xfrm>
            <a:off x="8383683" y="4017986"/>
            <a:ext cx="410938" cy="2556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10</a:t>
            </a:r>
          </a:p>
        </p:txBody>
      </p:sp>
      <p:sp>
        <p:nvSpPr>
          <p:cNvPr id="288" name="Rectangle 287">
            <a:extLst>
              <a:ext uri="{FF2B5EF4-FFF2-40B4-BE49-F238E27FC236}">
                <a16:creationId xmlns:a16="http://schemas.microsoft.com/office/drawing/2014/main" id="{722ED465-ECFF-DBDB-B7EF-4885012B8D9B}"/>
              </a:ext>
            </a:extLst>
          </p:cNvPr>
          <p:cNvSpPr/>
          <p:nvPr/>
        </p:nvSpPr>
        <p:spPr>
          <a:xfrm>
            <a:off x="6031924" y="4622298"/>
            <a:ext cx="410938" cy="2556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5</a:t>
            </a:r>
          </a:p>
        </p:txBody>
      </p:sp>
      <p:sp>
        <p:nvSpPr>
          <p:cNvPr id="289" name="Rectangle 288">
            <a:extLst>
              <a:ext uri="{FF2B5EF4-FFF2-40B4-BE49-F238E27FC236}">
                <a16:creationId xmlns:a16="http://schemas.microsoft.com/office/drawing/2014/main" id="{79ECFCBB-E7EA-93DF-7CAA-3513F4C2C3EC}"/>
              </a:ext>
            </a:extLst>
          </p:cNvPr>
          <p:cNvSpPr/>
          <p:nvPr/>
        </p:nvSpPr>
        <p:spPr>
          <a:xfrm>
            <a:off x="6839801" y="4602841"/>
            <a:ext cx="410938" cy="2556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7</a:t>
            </a:r>
          </a:p>
        </p:txBody>
      </p:sp>
      <p:sp>
        <p:nvSpPr>
          <p:cNvPr id="290" name="Rectangle 289">
            <a:extLst>
              <a:ext uri="{FF2B5EF4-FFF2-40B4-BE49-F238E27FC236}">
                <a16:creationId xmlns:a16="http://schemas.microsoft.com/office/drawing/2014/main" id="{39CED32F-A7FA-7257-334F-AE9F07C4E83D}"/>
              </a:ext>
            </a:extLst>
          </p:cNvPr>
          <p:cNvSpPr/>
          <p:nvPr/>
        </p:nvSpPr>
        <p:spPr>
          <a:xfrm>
            <a:off x="8103114" y="5438402"/>
            <a:ext cx="515515" cy="4571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08662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5" grpId="0"/>
      <p:bldP spid="26" grpId="0"/>
      <p:bldP spid="29" grpId="0"/>
      <p:bldP spid="30" grpId="0"/>
      <p:bldP spid="31" grpId="0"/>
      <p:bldP spid="288" grpId="0"/>
      <p:bldP spid="289" grpId="0"/>
      <p:bldP spid="29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>
          <a:extLst>
            <a:ext uri="{FF2B5EF4-FFF2-40B4-BE49-F238E27FC236}">
              <a16:creationId xmlns:a16="http://schemas.microsoft.com/office/drawing/2014/main" id="{43C672F9-7741-C1B0-FF10-37C6E55B5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277de705e21_0_206">
            <a:extLst>
              <a:ext uri="{FF2B5EF4-FFF2-40B4-BE49-F238E27FC236}">
                <a16:creationId xmlns:a16="http://schemas.microsoft.com/office/drawing/2014/main" id="{256B44DB-CDC1-5CEB-14D9-614736954E5B}"/>
              </a:ext>
            </a:extLst>
          </p:cNvPr>
          <p:cNvSpPr txBox="1"/>
          <p:nvPr/>
        </p:nvSpPr>
        <p:spPr>
          <a:xfrm>
            <a:off x="3949437" y="5718116"/>
            <a:ext cx="4050039" cy="849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 err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boundaryIndex</a:t>
            </a:r>
            <a:r>
              <a:rPr lang="en-US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tracks the start of elements greater than the pivot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D3FCD8A4-1A8F-BBB8-61CB-1ACD54E5BA89}"/>
              </a:ext>
            </a:extLst>
          </p:cNvPr>
          <p:cNvSpPr txBox="1">
            <a:spLocks/>
          </p:cNvSpPr>
          <p:nvPr/>
        </p:nvSpPr>
        <p:spPr>
          <a:xfrm>
            <a:off x="528851" y="85658"/>
            <a:ext cx="614593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C00000"/>
                </a:solidFill>
              </a:rPr>
              <a:t>Quick Sort: </a:t>
            </a:r>
            <a:r>
              <a:rPr lang="en-US" dirty="0">
                <a:solidFill>
                  <a:srgbClr val="C00000"/>
                </a:solidFill>
              </a:rPr>
              <a:t>Partitioning </a:t>
            </a:r>
          </a:p>
          <a:p>
            <a:r>
              <a:rPr lang="en-US" sz="3600" dirty="0">
                <a:solidFill>
                  <a:srgbClr val="C00000"/>
                </a:solidFill>
              </a:rPr>
              <a:t>(Using last element as the Pivot)</a:t>
            </a:r>
            <a:endParaRPr lang="en-US" sz="3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4D32B4-1623-97F3-D8FD-5B1A53E21F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5808" y="1830501"/>
            <a:ext cx="4618172" cy="3834732"/>
          </a:xfrm>
          <a:prstGeom prst="rect">
            <a:avLst/>
          </a:prstGeom>
        </p:spPr>
      </p:pic>
      <p:sp>
        <p:nvSpPr>
          <p:cNvPr id="355" name="TextBox 354">
            <a:extLst>
              <a:ext uri="{FF2B5EF4-FFF2-40B4-BE49-F238E27FC236}">
                <a16:creationId xmlns:a16="http://schemas.microsoft.com/office/drawing/2014/main" id="{4104D864-08A4-97BF-6D82-0D0D8D2F0FC8}"/>
              </a:ext>
            </a:extLst>
          </p:cNvPr>
          <p:cNvSpPr txBox="1"/>
          <p:nvPr/>
        </p:nvSpPr>
        <p:spPr>
          <a:xfrm>
            <a:off x="3659797" y="1364655"/>
            <a:ext cx="3693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Pseudocode</a:t>
            </a:r>
          </a:p>
        </p:txBody>
      </p:sp>
    </p:spTree>
    <p:extLst>
      <p:ext uri="{BB962C8B-B14F-4D97-AF65-F5344CB8AC3E}">
        <p14:creationId xmlns:p14="http://schemas.microsoft.com/office/powerpoint/2010/main" val="2592890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40372F7B-FFF2-5CE9-C8ED-385126209456}"/>
              </a:ext>
            </a:extLst>
          </p:cNvPr>
          <p:cNvSpPr txBox="1">
            <a:spLocks/>
          </p:cNvSpPr>
          <p:nvPr/>
        </p:nvSpPr>
        <p:spPr>
          <a:xfrm>
            <a:off x="528851" y="85658"/>
            <a:ext cx="853430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C00000"/>
                </a:solidFill>
              </a:rPr>
              <a:t>Quick Sort: </a:t>
            </a:r>
            <a:r>
              <a:rPr lang="en-US" dirty="0">
                <a:solidFill>
                  <a:srgbClr val="C00000"/>
                </a:solidFill>
              </a:rPr>
              <a:t>Partitioning Example1</a:t>
            </a:r>
          </a:p>
          <a:p>
            <a:r>
              <a:rPr lang="en-US" sz="3600" dirty="0">
                <a:solidFill>
                  <a:srgbClr val="C00000"/>
                </a:solidFill>
              </a:rPr>
              <a:t>(Using last element as the Pivot)</a:t>
            </a:r>
            <a:endParaRPr lang="en-US" sz="3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93B79B3-3390-25AF-169C-F6B56338DA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81" t="48889" r="16932"/>
          <a:stretch>
            <a:fillRect/>
          </a:stretch>
        </p:blipFill>
        <p:spPr>
          <a:xfrm>
            <a:off x="6501690" y="1721323"/>
            <a:ext cx="5147679" cy="49749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3830EE3-6020-ACF2-A952-0D65FE51D3A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1491" t="13527" r="1443" b="73751"/>
          <a:stretch>
            <a:fillRect/>
          </a:stretch>
        </p:blipFill>
        <p:spPr>
          <a:xfrm>
            <a:off x="9857510" y="233585"/>
            <a:ext cx="1891144" cy="1379806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1F39975C-8288-AB27-D294-362BFE5F0CF2}"/>
              </a:ext>
            </a:extLst>
          </p:cNvPr>
          <p:cNvGrpSpPr/>
          <p:nvPr/>
        </p:nvGrpSpPr>
        <p:grpSpPr>
          <a:xfrm>
            <a:off x="678871" y="2173128"/>
            <a:ext cx="5223165" cy="4172254"/>
            <a:chOff x="678871" y="2173128"/>
            <a:chExt cx="5223165" cy="417225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3D4AF81-6ECD-806B-97E0-6171CBED5F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895" t="7705" r="22406" b="51156"/>
            <a:stretch>
              <a:fillRect/>
            </a:stretch>
          </p:blipFill>
          <p:spPr>
            <a:xfrm>
              <a:off x="678871" y="2173128"/>
              <a:ext cx="5011441" cy="4172254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291AA85-B4A5-4B63-8620-67C54051F758}"/>
                </a:ext>
              </a:extLst>
            </p:cNvPr>
            <p:cNvSpPr/>
            <p:nvPr/>
          </p:nvSpPr>
          <p:spPr>
            <a:xfrm>
              <a:off x="5188528" y="2396836"/>
              <a:ext cx="713508" cy="181494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6792DDA8-226A-88B7-4BC8-61750FCEF9C7}"/>
              </a:ext>
            </a:extLst>
          </p:cNvPr>
          <p:cNvSpPr/>
          <p:nvPr/>
        </p:nvSpPr>
        <p:spPr>
          <a:xfrm>
            <a:off x="4953663" y="3085106"/>
            <a:ext cx="377687" cy="2266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C76BF8E-9101-BA1E-A2BB-A5D8F473084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60551"/>
          <a:stretch>
            <a:fillRect/>
          </a:stretch>
        </p:blipFill>
        <p:spPr>
          <a:xfrm>
            <a:off x="967277" y="5884632"/>
            <a:ext cx="886703" cy="14245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BA57AAB-AC0D-4074-8CA8-A1F45F3729B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" t="35160" r="25591" b="-28621"/>
          <a:stretch>
            <a:fillRect/>
          </a:stretch>
        </p:blipFill>
        <p:spPr>
          <a:xfrm>
            <a:off x="1714518" y="5955860"/>
            <a:ext cx="841827" cy="43061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8B15638-3CFB-1BC1-FA27-6A94F066FD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4718" y="4492695"/>
            <a:ext cx="708424" cy="328112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7862A613-B423-147A-AA90-FB62D3E7A381}"/>
              </a:ext>
            </a:extLst>
          </p:cNvPr>
          <p:cNvSpPr/>
          <p:nvPr/>
        </p:nvSpPr>
        <p:spPr>
          <a:xfrm>
            <a:off x="1695257" y="4594195"/>
            <a:ext cx="377687" cy="2266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E59BBB5-986A-01FE-2592-824B29EB8F61}"/>
              </a:ext>
            </a:extLst>
          </p:cNvPr>
          <p:cNvSpPr/>
          <p:nvPr/>
        </p:nvSpPr>
        <p:spPr>
          <a:xfrm>
            <a:off x="1286603" y="4795294"/>
            <a:ext cx="377687" cy="2266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975B575-5FDA-ECAD-4F4F-DB2F41C060B6}"/>
              </a:ext>
            </a:extLst>
          </p:cNvPr>
          <p:cNvSpPr/>
          <p:nvPr/>
        </p:nvSpPr>
        <p:spPr>
          <a:xfrm>
            <a:off x="2387379" y="5932377"/>
            <a:ext cx="377687" cy="2266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B0812C69-75C0-4D80-4C40-24C4F68E670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38227"/>
          <a:stretch>
            <a:fillRect/>
          </a:stretch>
        </p:blipFill>
        <p:spPr>
          <a:xfrm>
            <a:off x="6830738" y="2608102"/>
            <a:ext cx="708424" cy="202684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58CF3DF9-A25C-83E9-96F3-9EF2494C6EE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5514"/>
          <a:stretch>
            <a:fillRect/>
          </a:stretch>
        </p:blipFill>
        <p:spPr>
          <a:xfrm>
            <a:off x="7747727" y="2663687"/>
            <a:ext cx="915219" cy="188572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5D94CAB4-6204-9346-3EB6-DA8051D5CE30}"/>
              </a:ext>
            </a:extLst>
          </p:cNvPr>
          <p:cNvSpPr/>
          <p:nvPr/>
        </p:nvSpPr>
        <p:spPr>
          <a:xfrm>
            <a:off x="8407512" y="2625647"/>
            <a:ext cx="569511" cy="3163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7D2FBF0-F368-04A4-B2E4-392A1B3FB3E1}"/>
              </a:ext>
            </a:extLst>
          </p:cNvPr>
          <p:cNvSpPr/>
          <p:nvPr/>
        </p:nvSpPr>
        <p:spPr>
          <a:xfrm>
            <a:off x="8087802" y="2831357"/>
            <a:ext cx="377687" cy="2266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62120C98-D695-4588-D52E-3C902BDC4AE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26244" b="30494"/>
          <a:stretch>
            <a:fillRect/>
          </a:stretch>
        </p:blipFill>
        <p:spPr>
          <a:xfrm>
            <a:off x="7194605" y="5766520"/>
            <a:ext cx="1868547" cy="62235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165AB6CE-7A32-13E1-7649-F7C5B8F8BF6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2584" y="5790344"/>
            <a:ext cx="621181" cy="759688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75FB9E5F-EDF3-A56F-B39F-C5A710E1FA28}"/>
              </a:ext>
            </a:extLst>
          </p:cNvPr>
          <p:cNvSpPr/>
          <p:nvPr/>
        </p:nvSpPr>
        <p:spPr>
          <a:xfrm>
            <a:off x="11135442" y="4795294"/>
            <a:ext cx="377687" cy="2266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4CFC1FB9-8ACB-C886-95DC-BF38DC59139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63427" y="4317849"/>
            <a:ext cx="5285227" cy="2397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2536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049B4-0E47-8E9D-A800-C03F2F3E7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C00000"/>
                </a:solidFill>
              </a:rPr>
              <a:t>Quick Sort: </a:t>
            </a:r>
            <a:r>
              <a:rPr lang="en-US" sz="4000" dirty="0">
                <a:solidFill>
                  <a:srgbClr val="C00000"/>
                </a:solidFill>
              </a:rPr>
              <a:t>Partitioning Example2</a:t>
            </a:r>
            <a:br>
              <a:rPr lang="en-US" sz="4000" dirty="0">
                <a:solidFill>
                  <a:srgbClr val="C00000"/>
                </a:solidFill>
              </a:rPr>
            </a:br>
            <a:r>
              <a:rPr lang="en-US" sz="4000" dirty="0">
                <a:solidFill>
                  <a:srgbClr val="C00000"/>
                </a:solidFill>
              </a:rPr>
              <a:t>(Using last element as the Pivot)</a:t>
            </a:r>
            <a:endParaRPr lang="en-US" sz="40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A8C313BC-A40A-78D0-49E7-BDAD10F9DF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798" y="1978925"/>
            <a:ext cx="3124238" cy="165926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CCA269A4-F650-26D1-DEBD-6AB47070B2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994" y="4347405"/>
            <a:ext cx="3060565" cy="1471091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8AF22E6D-EC2A-2966-A31F-E6193D503E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8423" y="1957194"/>
            <a:ext cx="3206792" cy="1680996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661E14A-BB7C-6AAF-756C-9C7DBDB1DA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9433" y="4412176"/>
            <a:ext cx="3240599" cy="168099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E6D1A2DD-0BE8-6F30-6D27-50A97558C3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7040" y="510571"/>
            <a:ext cx="3339193" cy="1564722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F39007D9-1F46-4EE6-1BEA-560EB767151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0424" y="2512757"/>
            <a:ext cx="3261346" cy="1550172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5A4CA546-8C63-BFF6-ABA8-CAE761D122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7041" y="4572466"/>
            <a:ext cx="3312285" cy="177496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59C37AF-F6BC-D4EE-5CF7-AB3F6A1F5CF9}"/>
              </a:ext>
            </a:extLst>
          </p:cNvPr>
          <p:cNvSpPr txBox="1"/>
          <p:nvPr/>
        </p:nvSpPr>
        <p:spPr>
          <a:xfrm>
            <a:off x="143201" y="2539938"/>
            <a:ext cx="6505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1)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619B85-BCBE-0632-43B7-726B91DFC85D}"/>
              </a:ext>
            </a:extLst>
          </p:cNvPr>
          <p:cNvSpPr txBox="1"/>
          <p:nvPr/>
        </p:nvSpPr>
        <p:spPr>
          <a:xfrm>
            <a:off x="70991" y="4755108"/>
            <a:ext cx="6505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2)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20712C-2BF6-5C5B-59E0-0088C4145F90}"/>
              </a:ext>
            </a:extLst>
          </p:cNvPr>
          <p:cNvSpPr txBox="1"/>
          <p:nvPr/>
        </p:nvSpPr>
        <p:spPr>
          <a:xfrm>
            <a:off x="4050115" y="2518519"/>
            <a:ext cx="6505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3)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E145DE-FF1F-0022-5911-AFCE86E1098A}"/>
              </a:ext>
            </a:extLst>
          </p:cNvPr>
          <p:cNvSpPr txBox="1"/>
          <p:nvPr/>
        </p:nvSpPr>
        <p:spPr>
          <a:xfrm>
            <a:off x="4050115" y="4813617"/>
            <a:ext cx="6505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4)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EE2E68-8577-CA1D-92D2-57D7A8093BF5}"/>
              </a:ext>
            </a:extLst>
          </p:cNvPr>
          <p:cNvSpPr txBox="1"/>
          <p:nvPr/>
        </p:nvSpPr>
        <p:spPr>
          <a:xfrm>
            <a:off x="8009880" y="1194263"/>
            <a:ext cx="6505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5)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7033CB-FA0B-3407-34E1-F6AF923CD407}"/>
              </a:ext>
            </a:extLst>
          </p:cNvPr>
          <p:cNvSpPr txBox="1"/>
          <p:nvPr/>
        </p:nvSpPr>
        <p:spPr>
          <a:xfrm>
            <a:off x="8067694" y="3164850"/>
            <a:ext cx="6505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6)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BA8172-F21B-684D-2EE3-7AA6CA5B7A65}"/>
              </a:ext>
            </a:extLst>
          </p:cNvPr>
          <p:cNvSpPr txBox="1"/>
          <p:nvPr/>
        </p:nvSpPr>
        <p:spPr>
          <a:xfrm>
            <a:off x="8009880" y="5078273"/>
            <a:ext cx="6505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7)</a:t>
            </a:r>
          </a:p>
        </p:txBody>
      </p:sp>
    </p:spTree>
    <p:extLst>
      <p:ext uri="{BB962C8B-B14F-4D97-AF65-F5344CB8AC3E}">
        <p14:creationId xmlns:p14="http://schemas.microsoft.com/office/powerpoint/2010/main" val="41044613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320FC-49D4-31C4-D226-4D309B416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6D054-C262-E20B-688C-904747FFE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531" y="270523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C00000"/>
                </a:solidFill>
              </a:rPr>
              <a:t>Quick Sort: </a:t>
            </a:r>
            <a:r>
              <a:rPr lang="en-US" sz="4000" dirty="0">
                <a:solidFill>
                  <a:srgbClr val="C00000"/>
                </a:solidFill>
              </a:rPr>
              <a:t>Partitioning Example2 </a:t>
            </a:r>
            <a:br>
              <a:rPr lang="en-US" sz="4000" dirty="0">
                <a:solidFill>
                  <a:srgbClr val="C00000"/>
                </a:solidFill>
              </a:rPr>
            </a:br>
            <a:r>
              <a:rPr lang="en-US" sz="4000" dirty="0">
                <a:solidFill>
                  <a:srgbClr val="C00000"/>
                </a:solidFill>
              </a:rPr>
              <a:t>(Using last element as the Pivot)</a:t>
            </a:r>
            <a:endParaRPr lang="en-US"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15FD6C-D27E-00D9-2A29-537781884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0526" y="4003465"/>
            <a:ext cx="3376357" cy="181592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9B908A4-17A5-D9DA-BB62-44BBBA9E27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140" y="307124"/>
            <a:ext cx="3540861" cy="20233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7E9FCE9-60CF-B0C4-8B74-EE1862D9B4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8180" y="2464921"/>
            <a:ext cx="3665213" cy="194635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CADCA8A-3E83-4F8B-0B8B-5877BC2B76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2614" y="4596143"/>
            <a:ext cx="3665213" cy="2034663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4E138780-5E45-2097-5FFF-1F30D37343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4393" y="1698246"/>
            <a:ext cx="3232753" cy="1774964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22DB5F89-13AC-81CA-C273-A54AD0A54E3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9274" y="4165616"/>
            <a:ext cx="3195500" cy="1585538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794B1A9D-CCCD-7EFA-CF87-275FD4CCCC8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36261" y="1756012"/>
            <a:ext cx="3390617" cy="16729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6004AE9-6C21-7FED-C434-02C8C00D8F09}"/>
              </a:ext>
            </a:extLst>
          </p:cNvPr>
          <p:cNvSpPr txBox="1"/>
          <p:nvPr/>
        </p:nvSpPr>
        <p:spPr>
          <a:xfrm>
            <a:off x="0" y="2312329"/>
            <a:ext cx="6505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8)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4CB12C-AAE6-A26D-2C60-D9C48E258A49}"/>
              </a:ext>
            </a:extLst>
          </p:cNvPr>
          <p:cNvSpPr txBox="1"/>
          <p:nvPr/>
        </p:nvSpPr>
        <p:spPr>
          <a:xfrm>
            <a:off x="0" y="4793894"/>
            <a:ext cx="6505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9)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9E843A-84F9-CF84-5C2B-B91D7946DE66}"/>
              </a:ext>
            </a:extLst>
          </p:cNvPr>
          <p:cNvSpPr txBox="1"/>
          <p:nvPr/>
        </p:nvSpPr>
        <p:spPr>
          <a:xfrm>
            <a:off x="3632868" y="2443431"/>
            <a:ext cx="9540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10)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CBAFCB-4750-63DB-4B84-EEF7CEE3DDA5}"/>
              </a:ext>
            </a:extLst>
          </p:cNvPr>
          <p:cNvSpPr txBox="1"/>
          <p:nvPr/>
        </p:nvSpPr>
        <p:spPr>
          <a:xfrm>
            <a:off x="3566045" y="4793893"/>
            <a:ext cx="9540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11)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7FF551-CA2E-58BA-5D1C-100760E71156}"/>
              </a:ext>
            </a:extLst>
          </p:cNvPr>
          <p:cNvSpPr txBox="1"/>
          <p:nvPr/>
        </p:nvSpPr>
        <p:spPr>
          <a:xfrm>
            <a:off x="7517072" y="1109681"/>
            <a:ext cx="9540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12)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7378FF-81AE-A1D5-F345-A2B7CB3FA222}"/>
              </a:ext>
            </a:extLst>
          </p:cNvPr>
          <p:cNvSpPr txBox="1"/>
          <p:nvPr/>
        </p:nvSpPr>
        <p:spPr>
          <a:xfrm>
            <a:off x="7517072" y="3240281"/>
            <a:ext cx="9540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13)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0C0DA7-40EF-5294-8B35-DA0C34499E9B}"/>
              </a:ext>
            </a:extLst>
          </p:cNvPr>
          <p:cNvSpPr txBox="1"/>
          <p:nvPr/>
        </p:nvSpPr>
        <p:spPr>
          <a:xfrm>
            <a:off x="7517072" y="5388773"/>
            <a:ext cx="9540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14)</a:t>
            </a:r>
          </a:p>
        </p:txBody>
      </p:sp>
    </p:spTree>
    <p:extLst>
      <p:ext uri="{BB962C8B-B14F-4D97-AF65-F5344CB8AC3E}">
        <p14:creationId xmlns:p14="http://schemas.microsoft.com/office/powerpoint/2010/main" val="12622849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">
          <a:extLst>
            <a:ext uri="{FF2B5EF4-FFF2-40B4-BE49-F238E27FC236}">
              <a16:creationId xmlns:a16="http://schemas.microsoft.com/office/drawing/2014/main" id="{3B054776-00BC-6B3D-413D-9F3AC4D8C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23b567092ca_0_272">
            <a:extLst>
              <a:ext uri="{FF2B5EF4-FFF2-40B4-BE49-F238E27FC236}">
                <a16:creationId xmlns:a16="http://schemas.microsoft.com/office/drawing/2014/main" id="{D0737E12-4D7F-EAA2-D5CF-8880EDD5C92B}"/>
              </a:ext>
            </a:extLst>
          </p:cNvPr>
          <p:cNvSpPr txBox="1"/>
          <p:nvPr/>
        </p:nvSpPr>
        <p:spPr>
          <a:xfrm>
            <a:off x="4782000" y="6031400"/>
            <a:ext cx="2628000" cy="5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4A86E8"/>
                </a:solidFill>
                <a:latin typeface="Calibri"/>
                <a:ea typeface="Calibri"/>
                <a:cs typeface="Calibri"/>
                <a:sym typeface="Calibri"/>
              </a:rPr>
              <a:t>O(n): n comparisons at each iteration/level</a:t>
            </a:r>
            <a:endParaRPr sz="2000" dirty="0">
              <a:solidFill>
                <a:srgbClr val="4A86E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8" name="Google Shape;448;g23b567092ca_0_272">
            <a:extLst>
              <a:ext uri="{FF2B5EF4-FFF2-40B4-BE49-F238E27FC236}">
                <a16:creationId xmlns:a16="http://schemas.microsoft.com/office/drawing/2014/main" id="{9DE7A307-CF52-9582-F4FB-1B6BDC64545A}"/>
              </a:ext>
            </a:extLst>
          </p:cNvPr>
          <p:cNvCxnSpPr/>
          <p:nvPr/>
        </p:nvCxnSpPr>
        <p:spPr>
          <a:xfrm>
            <a:off x="6215165" y="1619759"/>
            <a:ext cx="0" cy="3972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Title 2">
            <a:extLst>
              <a:ext uri="{FF2B5EF4-FFF2-40B4-BE49-F238E27FC236}">
                <a16:creationId xmlns:a16="http://schemas.microsoft.com/office/drawing/2014/main" id="{C508FE3C-84A9-BC85-B5C0-71E262A6E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662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Quick Sort: </a:t>
            </a:r>
            <a:r>
              <a:rPr lang="en-US" dirty="0">
                <a:solidFill>
                  <a:srgbClr val="C00000"/>
                </a:solidFill>
              </a:rPr>
              <a:t>Theoretical Time Complexity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516343-BB94-4208-1B52-20AE491188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63" t="13356" r="12861" b="36535"/>
          <a:stretch>
            <a:fillRect/>
          </a:stretch>
        </p:blipFill>
        <p:spPr>
          <a:xfrm>
            <a:off x="266729" y="2268757"/>
            <a:ext cx="5829271" cy="213182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75071C4-AB7B-48F2-B662-A7B80B2453E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9643" r="8823" b="33376"/>
          <a:stretch>
            <a:fillRect/>
          </a:stretch>
        </p:blipFill>
        <p:spPr>
          <a:xfrm>
            <a:off x="6440931" y="2027004"/>
            <a:ext cx="5523529" cy="25050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9D49D06-E4E8-9769-A40E-2048C6FCBD7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519" t="72976" r="40807" b="5229"/>
          <a:stretch>
            <a:fillRect/>
          </a:stretch>
        </p:blipFill>
        <p:spPr>
          <a:xfrm>
            <a:off x="969793" y="4649932"/>
            <a:ext cx="4543656" cy="113212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31C85BC-9C1C-5871-4824-A933A6C81880}"/>
              </a:ext>
            </a:extLst>
          </p:cNvPr>
          <p:cNvSpPr txBox="1"/>
          <p:nvPr/>
        </p:nvSpPr>
        <p:spPr>
          <a:xfrm>
            <a:off x="1409033" y="1447420"/>
            <a:ext cx="3535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3"/>
                </a:solidFill>
              </a:rPr>
              <a:t>Best Case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4402B0A-9237-8F50-BA07-793561CBBF7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50" t="75071" r="37159" b="2045"/>
          <a:stretch>
            <a:fillRect/>
          </a:stretch>
        </p:blipFill>
        <p:spPr>
          <a:xfrm>
            <a:off x="7148981" y="4649932"/>
            <a:ext cx="4371363" cy="122023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39CE0CC-DDB9-8C06-44C7-2E5B0FE2BE0D}"/>
              </a:ext>
            </a:extLst>
          </p:cNvPr>
          <p:cNvSpPr txBox="1"/>
          <p:nvPr/>
        </p:nvSpPr>
        <p:spPr>
          <a:xfrm>
            <a:off x="7566999" y="1447420"/>
            <a:ext cx="3535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Worst Case</a:t>
            </a:r>
          </a:p>
        </p:txBody>
      </p:sp>
    </p:spTree>
    <p:extLst>
      <p:ext uri="{BB962C8B-B14F-4D97-AF65-F5344CB8AC3E}">
        <p14:creationId xmlns:p14="http://schemas.microsoft.com/office/powerpoint/2010/main" val="3394453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11535</TotalTime>
  <Words>511</Words>
  <Application>Microsoft Office PowerPoint</Application>
  <PresentationFormat>Widescreen</PresentationFormat>
  <Paragraphs>122</Paragraphs>
  <Slides>12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Whitney-Light</vt:lpstr>
      <vt:lpstr>Office Theme</vt:lpstr>
      <vt:lpstr>Searching Algorithms</vt:lpstr>
      <vt:lpstr>PowerPoint Presentation</vt:lpstr>
      <vt:lpstr>PowerPoint Presentation</vt:lpstr>
      <vt:lpstr>PowerPoint Presentation</vt:lpstr>
      <vt:lpstr>Sorting</vt:lpstr>
      <vt:lpstr>PowerPoint Presentation</vt:lpstr>
      <vt:lpstr>PowerPoint Presentation</vt:lpstr>
      <vt:lpstr>PowerPoint Presentation</vt:lpstr>
      <vt:lpstr>PowerPoint Presentation</vt:lpstr>
      <vt:lpstr>Quick Sort: Partitioning Example2 (Using last element as the Pivot)</vt:lpstr>
      <vt:lpstr>Quick Sort: Partitioning Example2  (Using last element as the Pivot)</vt:lpstr>
      <vt:lpstr>Quick Sort: Theoretical Time Complexity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Hend Gedawy</dc:creator>
  <cp:lastModifiedBy>Hend Gedawy</cp:lastModifiedBy>
  <cp:revision>6</cp:revision>
  <cp:lastPrinted>2025-11-19T07:46:14Z</cp:lastPrinted>
  <dcterms:created xsi:type="dcterms:W3CDTF">2025-11-16T09:43:10Z</dcterms:created>
  <dcterms:modified xsi:type="dcterms:W3CDTF">2025-11-27T05:30:36Z</dcterms:modified>
</cp:coreProperties>
</file>