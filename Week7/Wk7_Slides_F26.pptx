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557" r:id="rId2"/>
    <p:sldId id="257" r:id="rId3"/>
    <p:sldId id="593" r:id="rId4"/>
    <p:sldId id="558" r:id="rId5"/>
    <p:sldId id="260" r:id="rId6"/>
    <p:sldId id="263" r:id="rId7"/>
    <p:sldId id="561" r:id="rId8"/>
    <p:sldId id="562" r:id="rId9"/>
    <p:sldId id="264" r:id="rId10"/>
    <p:sldId id="547" r:id="rId11"/>
    <p:sldId id="546" r:id="rId12"/>
    <p:sldId id="594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CC"/>
    <a:srgbClr val="FF0000"/>
    <a:srgbClr val="A6CA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596" autoAdjust="0"/>
  </p:normalViewPr>
  <p:slideViewPr>
    <p:cSldViewPr snapToGrid="0">
      <p:cViewPr varScale="1">
        <p:scale>
          <a:sx n="49" d="100"/>
          <a:sy n="49" d="100"/>
        </p:scale>
        <p:origin x="61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487D91-DAF0-4763-853B-8C89576CC12A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F8CA59-AC17-49C7-A2D1-D8F06A983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52061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ASZmeV5eMtivSv4oLFpSsv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claude.ai/artifact/EbMz5mhPc6s2Fk3wV4QYiv" TargetMode="External"/><Relationship Id="rId4" Type="http://schemas.openxmlformats.org/officeDocument/2006/relationships/hyperlink" Target="https://claude.ai/artifact/TdwBwiDofhjsYD5xy8Qu5V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0562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0294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6606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1682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Recursive Add Animation:</a:t>
            </a:r>
          </a:p>
          <a:p>
            <a:endParaRPr lang="en-US" dirty="0"/>
          </a:p>
          <a:p>
            <a:r>
              <a:rPr lang="en-US" dirty="0"/>
              <a:t>Linked List Animation: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https://claude.ai/artifact/ASZmeV5eMtivSv4oLFpSsv</a:t>
            </a:r>
            <a:endParaRPr lang="en-US" dirty="0"/>
          </a:p>
          <a:p>
            <a:endParaRPr lang="en-US" dirty="0"/>
          </a:p>
          <a:p>
            <a:pPr lvl="0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BST Animation:</a:t>
            </a: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Code: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/>
              </a:rPr>
              <a:t>https://claude.ai/artifact/TdwBwiDofhjsYD5xy8Qu5V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/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Code: 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/>
              </a:rPr>
              <a:t>https://claude.ai/artifact/EbMz5mhPc6s2Fk3wV4QYiv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4F8CA59-AC17-49C7-A2D1-D8F06A983BA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524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D5771-6506-AE02-5955-3339C2D57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E79FC8-F96D-28FD-06D7-905D625F55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E33FDB-CCD8-11A2-B165-6FEFA1DE5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6575E-48B1-D9FF-0653-670BE1311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733530-FF98-CC0A-A688-DED2F6989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89114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94595-F45B-185B-D8B6-BDF8FE784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68D33-F961-F684-614B-7CE901A709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70950-8B40-327E-6BEA-73601392B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5013BD-252B-F789-B2A6-082042ADF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B859DD-6139-AF6A-C97F-E2B1EFB44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90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9A98F-3DFC-76B2-6CEA-3A831490B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EA662A-2148-7A3C-604C-00AA976B9E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10784-5F12-5FCF-D51D-B2D5F64A3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D838D-02FD-638E-3945-C2EC80F9B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B1DF3-C60E-CBA5-E23E-1AC70C198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194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D9340-B617-CC5D-7682-F3A73B32A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7D211-586B-E8CF-3D9B-F83734EAE1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3DE551-F838-11EF-4876-D365AEF2F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AF6BFC-0020-6D68-0D4D-09E78E10F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43A3D6-1A2A-0354-C91D-6696811BB4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120CF2-D0AB-A18F-3CC0-E0C1EA8AB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86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C8B01-715C-6681-669D-E4D88FF3C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2FE54A-F791-3A97-47A2-EC4EDBB6C0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EC6024-64BE-5661-954E-7EAB3A40EA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D32738-1A18-95F3-7BB9-CC190B4B80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AA5D3-8791-D5C8-AF0F-F6C1A586D4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50EC8F-F029-602F-E1D0-F8FDA70C4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A38FEF-8247-A965-8286-806B94E69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699D24-7A73-61C1-7C21-7AE006A11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70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D32F2B-4B6D-8DC0-B064-8C4F3650A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6219F5-FC76-45AD-4440-E1297CCF1D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CD39A41-79F6-F3E9-5AA8-E1DBAE4EB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DE3F9-D69A-1FFB-D441-0FF4CA26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021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C9D4CA-AF11-A881-1919-EE02F24D93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7D84056-98A4-62E2-12FA-0DDF99096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BB9D2-7FB3-C0F9-9F42-7ABAC8F1F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F8B5F-BCCD-C71C-4B1F-E0E3BA930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C66F7-573F-20CD-B0D9-C4D19561B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DC6FBC-CDE2-13CF-44FC-E14320BCF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DA17FB-B552-B1E6-C274-C8F36D79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CE04BC-6413-E8FF-7474-00357DD2A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528B79-8114-2CD7-EFFD-CA51E6439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68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3617B-4E3F-2FBC-0D2C-CFEA2DD73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80BBC4-7498-D68A-BCD0-D1C9C48D8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05D728-E93F-779A-36FB-1D04B3867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200E8-533E-C204-8227-1F6B11A7B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194001-492C-81AD-39A5-1CEACEDB8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94893-A5B2-0EC8-2BAC-891894FA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676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3A0C6-3D07-8603-3B4A-E31C209D8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7E485E-DA75-86A0-C93A-C078FEB2C0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57476-1D84-9B3C-D40F-A87204BE0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77E1A-E9A5-7399-B972-16358D6D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3A5A32-C0FE-DBF2-8ADD-0B3860A7A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81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6DE25-9315-462C-4445-E32985CD79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5355BD-AFB7-2600-949F-B1ECB2701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EDD26-7CBE-6FFA-0A7C-D37027BAE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B9A51-ED47-73D0-1D2F-61527CD3E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47A65-4DBB-6707-54ED-B95538A77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2497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A5D44A-48DD-CBF6-FD31-166A7E523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F0D83-66E3-9821-8701-D852E91FC7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C5B94F-D0EE-7989-F4FB-ED9CD6C13C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A9E35-212F-49D4-A32F-B4AB0D76B5DC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41D39-52CE-7F00-C734-95F164893D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4CF8D9-A022-80E0-FAAC-0C132F3D0E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5EC381-CB11-4798-B5D2-59EAD840E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38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claude.ai/artifact/TdwBwiDofhjsYD5xy8Qu5V" TargetMode="External"/><Relationship Id="rId2" Type="http://schemas.openxmlformats.org/officeDocument/2006/relationships/hyperlink" Target="https://claude.ai/artifact/ASZmeV5eMtivSv4oLFpSsv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laude.ai/artifact/EbMz5mhPc6s2Fk3wV4QYiv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912A-523D-6E7A-0539-1085B983D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Comparator</a:t>
            </a:r>
          </a:p>
        </p:txBody>
      </p:sp>
    </p:spTree>
    <p:extLst>
      <p:ext uri="{BB962C8B-B14F-4D97-AF65-F5344CB8AC3E}">
        <p14:creationId xmlns:p14="http://schemas.microsoft.com/office/powerpoint/2010/main" val="3712801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Java: Comparable vs Comparator for Sorting | Hardeep Kaur posted on the  topic | LinkedIn">
            <a:extLst>
              <a:ext uri="{FF2B5EF4-FFF2-40B4-BE49-F238E27FC236}">
                <a16:creationId xmlns:a16="http://schemas.microsoft.com/office/drawing/2014/main" id="{40579378-7DA3-8853-67C8-D99A8A824E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58" b="9524"/>
          <a:stretch>
            <a:fillRect/>
          </a:stretch>
        </p:blipFill>
        <p:spPr bwMode="auto">
          <a:xfrm>
            <a:off x="3513599" y="4317999"/>
            <a:ext cx="4572000" cy="645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 descr="Java: Comparable vs Comparator for Sorting | Hardeep Kaur posted on the  topic | LinkedIn">
            <a:extLst>
              <a:ext uri="{FF2B5EF4-FFF2-40B4-BE49-F238E27FC236}">
                <a16:creationId xmlns:a16="http://schemas.microsoft.com/office/drawing/2014/main" id="{FDAEBC06-FCC1-6E5B-5C77-B694E368F8A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111"/>
          <a:stretch>
            <a:fillRect/>
          </a:stretch>
        </p:blipFill>
        <p:spPr bwMode="auto">
          <a:xfrm>
            <a:off x="3585029" y="464457"/>
            <a:ext cx="4572000" cy="3352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528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0F0815-7175-AB0D-BEB5-15691C9E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ADT and Data </a:t>
            </a:r>
            <a:r>
              <a:rPr lang="en-US" dirty="0" err="1">
                <a:solidFill>
                  <a:srgbClr val="C00000"/>
                </a:solidFill>
              </a:rPr>
              <a:t>Strcutures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48E888-04C8-C1C6-9723-6F18957E2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ADT</a:t>
            </a:r>
          </a:p>
          <a:p>
            <a:pPr lvl="1"/>
            <a:r>
              <a:rPr lang="en-US" dirty="0"/>
              <a:t>List</a:t>
            </a:r>
          </a:p>
          <a:p>
            <a:pPr lvl="1"/>
            <a:r>
              <a:rPr lang="en-US" dirty="0"/>
              <a:t>Stack</a:t>
            </a:r>
          </a:p>
          <a:p>
            <a:pPr lvl="1"/>
            <a:r>
              <a:rPr lang="en-US" dirty="0"/>
              <a:t>Queue</a:t>
            </a:r>
          </a:p>
          <a:p>
            <a:r>
              <a:rPr lang="en-US" b="1" dirty="0"/>
              <a:t>Data Structures</a:t>
            </a:r>
          </a:p>
          <a:p>
            <a:pPr lvl="1"/>
            <a:r>
              <a:rPr lang="en-US" dirty="0"/>
              <a:t>Array</a:t>
            </a:r>
          </a:p>
          <a:p>
            <a:pPr lvl="1"/>
            <a:r>
              <a:rPr lang="en-US" dirty="0" err="1"/>
              <a:t>ArrayList</a:t>
            </a:r>
            <a:endParaRPr lang="en-US" dirty="0"/>
          </a:p>
          <a:p>
            <a:pPr lvl="1"/>
            <a:r>
              <a:rPr lang="en-US" dirty="0"/>
              <a:t>LinkedList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Binary Search Trees</a:t>
            </a:r>
          </a:p>
        </p:txBody>
      </p:sp>
    </p:spTree>
    <p:extLst>
      <p:ext uri="{BB962C8B-B14F-4D97-AF65-F5344CB8AC3E}">
        <p14:creationId xmlns:p14="http://schemas.microsoft.com/office/powerpoint/2010/main" val="226237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15CF7-DB55-96EF-6C84-39CCA72849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4439E-D5C7-DDFB-2F91-AD4B8596D5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Binary Search Tree</a:t>
            </a:r>
          </a:p>
        </p:txBody>
      </p:sp>
    </p:spTree>
    <p:extLst>
      <p:ext uri="{BB962C8B-B14F-4D97-AF65-F5344CB8AC3E}">
        <p14:creationId xmlns:p14="http://schemas.microsoft.com/office/powerpoint/2010/main" val="378542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655E852-E8B1-0801-C3B3-2A9CBA64B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0035" y="1929447"/>
            <a:ext cx="5936445" cy="36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F20B7D-167F-8278-270A-52FFA7ED95B1}"/>
              </a:ext>
            </a:extLst>
          </p:cNvPr>
          <p:cNvCxnSpPr/>
          <p:nvPr/>
        </p:nvCxnSpPr>
        <p:spPr>
          <a:xfrm>
            <a:off x="2257832" y="221449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tle 1">
            <a:extLst>
              <a:ext uri="{FF2B5EF4-FFF2-40B4-BE49-F238E27FC236}">
                <a16:creationId xmlns:a16="http://schemas.microsoft.com/office/drawing/2014/main" id="{A3766811-7DA3-9265-0D17-E077B38A1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Tree Terminology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8F66400-3996-2D9F-6B3C-F703B0CB1F7A}"/>
              </a:ext>
            </a:extLst>
          </p:cNvPr>
          <p:cNvCxnSpPr/>
          <p:nvPr/>
        </p:nvCxnSpPr>
        <p:spPr>
          <a:xfrm>
            <a:off x="2257832" y="3242291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E05A1B-BB9D-79B7-EEA6-04611BE9379C}"/>
              </a:ext>
            </a:extLst>
          </p:cNvPr>
          <p:cNvCxnSpPr/>
          <p:nvPr/>
        </p:nvCxnSpPr>
        <p:spPr>
          <a:xfrm>
            <a:off x="2257832" y="4255204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97E7D9C-D3EF-25AA-0A15-144E606F5536}"/>
              </a:ext>
            </a:extLst>
          </p:cNvPr>
          <p:cNvCxnSpPr/>
          <p:nvPr/>
        </p:nvCxnSpPr>
        <p:spPr>
          <a:xfrm>
            <a:off x="2257832" y="5268117"/>
            <a:ext cx="7454850" cy="29768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410B3344-78A1-5C84-6F0C-9C382E83935F}"/>
              </a:ext>
            </a:extLst>
          </p:cNvPr>
          <p:cNvSpPr/>
          <p:nvPr/>
        </p:nvSpPr>
        <p:spPr>
          <a:xfrm>
            <a:off x="5057369" y="1975576"/>
            <a:ext cx="749721" cy="52060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9A7AA82-9113-4105-26B4-B42C4D15BC0A}"/>
              </a:ext>
            </a:extLst>
          </p:cNvPr>
          <p:cNvSpPr txBox="1"/>
          <p:nvPr/>
        </p:nvSpPr>
        <p:spPr>
          <a:xfrm>
            <a:off x="5606299" y="1269678"/>
            <a:ext cx="820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root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4A83E8A-C269-BFDF-5622-85F73F4661C9}"/>
              </a:ext>
            </a:extLst>
          </p:cNvPr>
          <p:cNvCxnSpPr>
            <a:stCxn id="12" idx="2"/>
          </p:cNvCxnSpPr>
          <p:nvPr/>
        </p:nvCxnSpPr>
        <p:spPr>
          <a:xfrm flipH="1">
            <a:off x="5607742" y="1639010"/>
            <a:ext cx="408809" cy="33656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23EC9C7-D750-A43C-B0BF-55532F858C36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8047587" y="1851440"/>
            <a:ext cx="49837" cy="1151779"/>
          </a:xfrm>
          <a:prstGeom prst="straightConnector1">
            <a:avLst/>
          </a:prstGeom>
          <a:ln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C05D9E6-194A-5015-744B-5A2CD82F7391}"/>
              </a:ext>
            </a:extLst>
          </p:cNvPr>
          <p:cNvSpPr txBox="1"/>
          <p:nvPr/>
        </p:nvSpPr>
        <p:spPr>
          <a:xfrm>
            <a:off x="7557884" y="1482108"/>
            <a:ext cx="10790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4">
                    <a:lumMod val="75000"/>
                  </a:schemeClr>
                </a:solidFill>
              </a:rPr>
              <a:t>child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BD1E6E-7EAE-C7A6-E7CA-605D6E4BDD42}"/>
              </a:ext>
            </a:extLst>
          </p:cNvPr>
          <p:cNvCxnSpPr>
            <a:cxnSpLocks/>
          </p:cNvCxnSpPr>
          <p:nvPr/>
        </p:nvCxnSpPr>
        <p:spPr>
          <a:xfrm flipV="1">
            <a:off x="5922256" y="5548644"/>
            <a:ext cx="126002" cy="565695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B5C79179-BFE1-71CE-0A8F-B311FCF73707}"/>
              </a:ext>
            </a:extLst>
          </p:cNvPr>
          <p:cNvSpPr txBox="1"/>
          <p:nvPr/>
        </p:nvSpPr>
        <p:spPr>
          <a:xfrm>
            <a:off x="4940360" y="6154017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3"/>
                </a:solidFill>
              </a:rPr>
              <a:t>Leaf</a:t>
            </a:r>
          </a:p>
        </p:txBody>
      </p:sp>
      <p:cxnSp>
        <p:nvCxnSpPr>
          <p:cNvPr id="1024" name="Straight Arrow Connector 1023">
            <a:extLst>
              <a:ext uri="{FF2B5EF4-FFF2-40B4-BE49-F238E27FC236}">
                <a16:creationId xmlns:a16="http://schemas.microsoft.com/office/drawing/2014/main" id="{251890C3-BFDD-3A6E-1F4B-32D009B7C83F}"/>
              </a:ext>
            </a:extLst>
          </p:cNvPr>
          <p:cNvCxnSpPr>
            <a:cxnSpLocks/>
            <a:stCxn id="1025" idx="2"/>
          </p:cNvCxnSpPr>
          <p:nvPr/>
        </p:nvCxnSpPr>
        <p:spPr>
          <a:xfrm flipH="1">
            <a:off x="6623983" y="1352426"/>
            <a:ext cx="799560" cy="1373439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5" name="TextBox 1024">
            <a:extLst>
              <a:ext uri="{FF2B5EF4-FFF2-40B4-BE49-F238E27FC236}">
                <a16:creationId xmlns:a16="http://schemas.microsoft.com/office/drawing/2014/main" id="{51A5089B-5535-D923-AEDC-0DB8AEF99BB5}"/>
              </a:ext>
            </a:extLst>
          </p:cNvPr>
          <p:cNvSpPr txBox="1"/>
          <p:nvPr/>
        </p:nvSpPr>
        <p:spPr>
          <a:xfrm>
            <a:off x="6426803" y="983094"/>
            <a:ext cx="19934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/>
                </a:solidFill>
              </a:rPr>
              <a:t>edge</a:t>
            </a:r>
          </a:p>
        </p:txBody>
      </p:sp>
      <p:sp>
        <p:nvSpPr>
          <p:cNvPr id="1035" name="Isosceles Triangle 1034">
            <a:extLst>
              <a:ext uri="{FF2B5EF4-FFF2-40B4-BE49-F238E27FC236}">
                <a16:creationId xmlns:a16="http://schemas.microsoft.com/office/drawing/2014/main" id="{D1F68B7C-41CD-72E0-62E7-3CEBB1A825E9}"/>
              </a:ext>
            </a:extLst>
          </p:cNvPr>
          <p:cNvSpPr/>
          <p:nvPr/>
        </p:nvSpPr>
        <p:spPr>
          <a:xfrm>
            <a:off x="2693726" y="2595241"/>
            <a:ext cx="2938214" cy="2065756"/>
          </a:xfrm>
          <a:prstGeom prst="triangl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36" name="TextBox 1035">
            <a:extLst>
              <a:ext uri="{FF2B5EF4-FFF2-40B4-BE49-F238E27FC236}">
                <a16:creationId xmlns:a16="http://schemas.microsoft.com/office/drawing/2014/main" id="{C1F01755-2856-AEC3-1B20-B9296923A66D}"/>
              </a:ext>
            </a:extLst>
          </p:cNvPr>
          <p:cNvSpPr txBox="1"/>
          <p:nvPr/>
        </p:nvSpPr>
        <p:spPr>
          <a:xfrm rot="18300317">
            <a:off x="2552519" y="3264216"/>
            <a:ext cx="16337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subtree</a:t>
            </a:r>
          </a:p>
        </p:txBody>
      </p:sp>
      <p:sp>
        <p:nvSpPr>
          <p:cNvPr id="1037" name="Oval 1036">
            <a:extLst>
              <a:ext uri="{FF2B5EF4-FFF2-40B4-BE49-F238E27FC236}">
                <a16:creationId xmlns:a16="http://schemas.microsoft.com/office/drawing/2014/main" id="{2BA96CED-B31C-94A5-72B8-CEE38B625DEC}"/>
              </a:ext>
            </a:extLst>
          </p:cNvPr>
          <p:cNvSpPr/>
          <p:nvPr/>
        </p:nvSpPr>
        <p:spPr>
          <a:xfrm>
            <a:off x="5039727" y="1969075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8" name="Oval 1037">
            <a:extLst>
              <a:ext uri="{FF2B5EF4-FFF2-40B4-BE49-F238E27FC236}">
                <a16:creationId xmlns:a16="http://schemas.microsoft.com/office/drawing/2014/main" id="{22BB6286-C6C7-61A1-3EB6-C858F60BDD7F}"/>
              </a:ext>
            </a:extLst>
          </p:cNvPr>
          <p:cNvSpPr/>
          <p:nvPr/>
        </p:nvSpPr>
        <p:spPr>
          <a:xfrm>
            <a:off x="7557884" y="2981627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9" name="Oval 1038">
            <a:extLst>
              <a:ext uri="{FF2B5EF4-FFF2-40B4-BE49-F238E27FC236}">
                <a16:creationId xmlns:a16="http://schemas.microsoft.com/office/drawing/2014/main" id="{1E356A3E-6900-2BC1-4E9D-34C6BA34CFA4}"/>
              </a:ext>
            </a:extLst>
          </p:cNvPr>
          <p:cNvSpPr/>
          <p:nvPr/>
        </p:nvSpPr>
        <p:spPr>
          <a:xfrm>
            <a:off x="8189151" y="3988039"/>
            <a:ext cx="749721" cy="520606"/>
          </a:xfrm>
          <a:prstGeom prst="ellipse">
            <a:avLst/>
          </a:prstGeom>
          <a:solidFill>
            <a:srgbClr val="FF0000">
              <a:alpha val="23137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TextBox 1039">
            <a:extLst>
              <a:ext uri="{FF2B5EF4-FFF2-40B4-BE49-F238E27FC236}">
                <a16:creationId xmlns:a16="http://schemas.microsoft.com/office/drawing/2014/main" id="{8B2A7F76-4836-481C-71DF-85C1F90813DC}"/>
              </a:ext>
            </a:extLst>
          </p:cNvPr>
          <p:cNvSpPr txBox="1"/>
          <p:nvPr/>
        </p:nvSpPr>
        <p:spPr>
          <a:xfrm>
            <a:off x="9889097" y="2044712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0</a:t>
            </a:r>
          </a:p>
        </p:txBody>
      </p:sp>
      <p:sp>
        <p:nvSpPr>
          <p:cNvPr id="1041" name="TextBox 1040">
            <a:extLst>
              <a:ext uri="{FF2B5EF4-FFF2-40B4-BE49-F238E27FC236}">
                <a16:creationId xmlns:a16="http://schemas.microsoft.com/office/drawing/2014/main" id="{DD019FFA-E85D-79B9-88A4-F7E968C55F0E}"/>
              </a:ext>
            </a:extLst>
          </p:cNvPr>
          <p:cNvSpPr txBox="1"/>
          <p:nvPr/>
        </p:nvSpPr>
        <p:spPr>
          <a:xfrm>
            <a:off x="9889097" y="305726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1</a:t>
            </a:r>
          </a:p>
        </p:txBody>
      </p:sp>
      <p:sp>
        <p:nvSpPr>
          <p:cNvPr id="1042" name="TextBox 1041">
            <a:extLst>
              <a:ext uri="{FF2B5EF4-FFF2-40B4-BE49-F238E27FC236}">
                <a16:creationId xmlns:a16="http://schemas.microsoft.com/office/drawing/2014/main" id="{737C9969-6F84-8C6C-A511-71234123CE8B}"/>
              </a:ext>
            </a:extLst>
          </p:cNvPr>
          <p:cNvSpPr txBox="1"/>
          <p:nvPr/>
        </p:nvSpPr>
        <p:spPr>
          <a:xfrm>
            <a:off x="9963060" y="4088244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2</a:t>
            </a:r>
          </a:p>
        </p:txBody>
      </p:sp>
      <p:sp>
        <p:nvSpPr>
          <p:cNvPr id="1043" name="TextBox 1042">
            <a:extLst>
              <a:ext uri="{FF2B5EF4-FFF2-40B4-BE49-F238E27FC236}">
                <a16:creationId xmlns:a16="http://schemas.microsoft.com/office/drawing/2014/main" id="{313D3E32-5A11-85BF-1B9D-7ED6F14CDA53}"/>
              </a:ext>
            </a:extLst>
          </p:cNvPr>
          <p:cNvSpPr txBox="1"/>
          <p:nvPr/>
        </p:nvSpPr>
        <p:spPr>
          <a:xfrm>
            <a:off x="9963060" y="5047420"/>
            <a:ext cx="1573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Depth/Level 3</a:t>
            </a:r>
          </a:p>
        </p:txBody>
      </p:sp>
      <p:sp>
        <p:nvSpPr>
          <p:cNvPr id="1044" name="Arrow: Up-Down 1043">
            <a:extLst>
              <a:ext uri="{FF2B5EF4-FFF2-40B4-BE49-F238E27FC236}">
                <a16:creationId xmlns:a16="http://schemas.microsoft.com/office/drawing/2014/main" id="{E68DFD99-6B34-B581-2392-AF9B0D1EB6E6}"/>
              </a:ext>
            </a:extLst>
          </p:cNvPr>
          <p:cNvSpPr/>
          <p:nvPr/>
        </p:nvSpPr>
        <p:spPr>
          <a:xfrm>
            <a:off x="1161022" y="1975576"/>
            <a:ext cx="988470" cy="3543300"/>
          </a:xfrm>
          <a:prstGeom prst="upDownArrow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5" name="TextBox 1044">
            <a:extLst>
              <a:ext uri="{FF2B5EF4-FFF2-40B4-BE49-F238E27FC236}">
                <a16:creationId xmlns:a16="http://schemas.microsoft.com/office/drawing/2014/main" id="{666CE5D2-6BF6-235F-46AA-DBEC47887003}"/>
              </a:ext>
            </a:extLst>
          </p:cNvPr>
          <p:cNvSpPr txBox="1"/>
          <p:nvPr/>
        </p:nvSpPr>
        <p:spPr>
          <a:xfrm rot="16200000">
            <a:off x="92770" y="3477976"/>
            <a:ext cx="3046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Height of the Tree</a:t>
            </a:r>
          </a:p>
        </p:txBody>
      </p:sp>
    </p:spTree>
    <p:extLst>
      <p:ext uri="{BB962C8B-B14F-4D97-AF65-F5344CB8AC3E}">
        <p14:creationId xmlns:p14="http://schemas.microsoft.com/office/powerpoint/2010/main" val="1313913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/>
      <p:bldP spid="20" grpId="0"/>
      <p:bldP spid="30" grpId="0"/>
      <p:bldP spid="1025" grpId="0"/>
      <p:bldP spid="1035" grpId="0" animBg="1"/>
      <p:bldP spid="1036" grpId="0"/>
      <p:bldP spid="1037" grpId="0" animBg="1"/>
      <p:bldP spid="1038" grpId="0" animBg="1"/>
      <p:bldP spid="1039" grpId="0" animBg="1"/>
      <p:bldP spid="1040" grpId="0"/>
      <p:bldP spid="1041" grpId="0"/>
      <p:bldP spid="1042" grpId="0"/>
      <p:bldP spid="1043" grpId="0"/>
      <p:bldP spid="1044" grpId="0" animBg="1"/>
      <p:bldP spid="10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32E8C-057F-2972-DADE-B8070E269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Binary Search Tree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220E022-DDBD-60EF-AEA8-4A9DCE353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377" y="1968781"/>
            <a:ext cx="5308122" cy="327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556B619-A43F-DAC5-ACEC-339B313A7B2A}"/>
              </a:ext>
            </a:extLst>
          </p:cNvPr>
          <p:cNvSpPr txBox="1"/>
          <p:nvPr/>
        </p:nvSpPr>
        <p:spPr>
          <a:xfrm>
            <a:off x="6439516" y="2454577"/>
            <a:ext cx="456362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A node can have at most 2 children: left and right.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left subtree of a node always contains values less than the node.</a:t>
            </a:r>
          </a:p>
          <a:p>
            <a:pPr algn="l"/>
            <a:endParaRPr lang="en-US" sz="2000" b="0" i="0" dirty="0">
              <a:solidFill>
                <a:srgbClr val="212529"/>
              </a:solidFill>
              <a:effectLst/>
              <a:latin typeface="system-ui"/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212529"/>
                </a:solidFill>
                <a:effectLst/>
                <a:latin typeface="system-ui"/>
              </a:rPr>
              <a:t>The right subtree of a node always contains values greater than the node.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4D39D1-8B38-2791-9AB9-D32C9709E9CC}"/>
              </a:ext>
            </a:extLst>
          </p:cNvPr>
          <p:cNvSpPr txBox="1"/>
          <p:nvPr/>
        </p:nvSpPr>
        <p:spPr>
          <a:xfrm>
            <a:off x="6348510" y="1841800"/>
            <a:ext cx="3007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u="sng" dirty="0">
                <a:solidFill>
                  <a:srgbClr val="C00000"/>
                </a:solidFill>
              </a:rPr>
              <a:t>For Every Node: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370FB5-0C7B-A13F-DF53-82654A4760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299" y="5518488"/>
            <a:ext cx="6058211" cy="106685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9C0B5CB-60E8-5C7B-2841-336A3E959966}"/>
              </a:ext>
            </a:extLst>
          </p:cNvPr>
          <p:cNvSpPr/>
          <p:nvPr/>
        </p:nvSpPr>
        <p:spPr>
          <a:xfrm>
            <a:off x="572655" y="3756270"/>
            <a:ext cx="877454" cy="640240"/>
          </a:xfrm>
          <a:prstGeom prst="ellipse">
            <a:avLst/>
          </a:prstGeom>
          <a:solidFill>
            <a:srgbClr val="A6CAEC">
              <a:alpha val="3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FBBC8A-E9F9-C23C-1E3E-625AF0568EDE}"/>
              </a:ext>
            </a:extLst>
          </p:cNvPr>
          <p:cNvSpPr/>
          <p:nvPr/>
        </p:nvSpPr>
        <p:spPr>
          <a:xfrm>
            <a:off x="5110767" y="3756270"/>
            <a:ext cx="877454" cy="640240"/>
          </a:xfrm>
          <a:prstGeom prst="ellipse">
            <a:avLst/>
          </a:prstGeom>
          <a:solidFill>
            <a:srgbClr val="FF0000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F24F71F-0018-188C-693B-7A5F30140641}"/>
              </a:ext>
            </a:extLst>
          </p:cNvPr>
          <p:cNvSpPr txBox="1"/>
          <p:nvPr/>
        </p:nvSpPr>
        <p:spPr>
          <a:xfrm>
            <a:off x="50800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Smallest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E83F26-4E84-8D97-209F-D2D140BE32A6}"/>
              </a:ext>
            </a:extLst>
          </p:cNvPr>
          <p:cNvSpPr txBox="1"/>
          <p:nvPr/>
        </p:nvSpPr>
        <p:spPr>
          <a:xfrm>
            <a:off x="5103430" y="4449120"/>
            <a:ext cx="108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Largest</a:t>
            </a:r>
          </a:p>
        </p:txBody>
      </p:sp>
    </p:spTree>
    <p:extLst>
      <p:ext uri="{BB962C8B-B14F-4D97-AF65-F5344CB8AC3E}">
        <p14:creationId xmlns:p14="http://schemas.microsoft.com/office/powerpoint/2010/main" val="4248624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2" grpId="0" animBg="1"/>
      <p:bldP spid="13" grpId="0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90809-70E7-1CC7-8EA4-1D104AAD6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Applications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69F47B-AEBA-DADE-D015-CA41AE54EB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2744"/>
          <a:stretch>
            <a:fillRect/>
          </a:stretch>
        </p:blipFill>
        <p:spPr>
          <a:xfrm>
            <a:off x="1577940" y="1646747"/>
            <a:ext cx="3999281" cy="35603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C367C0B-14FC-BBC5-69C6-3851EE29E0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2794"/>
          <a:stretch>
            <a:fillRect/>
          </a:stretch>
        </p:blipFill>
        <p:spPr>
          <a:xfrm>
            <a:off x="6589841" y="1684504"/>
            <a:ext cx="4051508" cy="360543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A9A45E-357B-804D-542E-5FAF93D445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9419"/>
          <a:stretch>
            <a:fillRect/>
          </a:stretch>
        </p:blipFill>
        <p:spPr>
          <a:xfrm>
            <a:off x="1577939" y="5397174"/>
            <a:ext cx="3999281" cy="108951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C6D519-D477-FD54-5D14-5A59CA61C26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9576"/>
          <a:stretch>
            <a:fillRect/>
          </a:stretch>
        </p:blipFill>
        <p:spPr>
          <a:xfrm>
            <a:off x="6629225" y="5397174"/>
            <a:ext cx="4051508" cy="1095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9729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17A58-E66A-2026-95E3-BFA74CF56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rgbClr val="C00000"/>
                </a:solidFill>
              </a:rPr>
              <a:t>BST Applications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273CE-92B3-674C-ACD5-80A9DF7611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4533"/>
          <a:stretch>
            <a:fillRect/>
          </a:stretch>
        </p:blipFill>
        <p:spPr>
          <a:xfrm>
            <a:off x="1653340" y="1745962"/>
            <a:ext cx="4061753" cy="344057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18B6996-183C-2708-F75C-20DC85B0968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82097"/>
          <a:stretch>
            <a:fillRect/>
          </a:stretch>
        </p:blipFill>
        <p:spPr>
          <a:xfrm>
            <a:off x="6476909" y="1695726"/>
            <a:ext cx="4057859" cy="94986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75B6105-F1E2-43EA-BF3A-B83BF2A47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5786" y="2708822"/>
            <a:ext cx="3651927" cy="247771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7B78C1DF-21F3-B9F3-67A3-9A4B498F29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4777"/>
          <a:stretch>
            <a:fillRect/>
          </a:stretch>
        </p:blipFill>
        <p:spPr>
          <a:xfrm>
            <a:off x="1571146" y="5047424"/>
            <a:ext cx="4061753" cy="13255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44A73F5D-F77E-9F35-5ECE-DA2AFB1CE0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568"/>
          <a:stretch>
            <a:fillRect/>
          </a:stretch>
        </p:blipFill>
        <p:spPr>
          <a:xfrm>
            <a:off x="6562995" y="5249765"/>
            <a:ext cx="4057859" cy="1190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13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D7145-41BF-9718-D07B-ECE6A8CB4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Finding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60B7B9-E96F-766B-5696-3B03FDF0F6B8}"/>
              </a:ext>
            </a:extLst>
          </p:cNvPr>
          <p:cNvCxnSpPr>
            <a:stCxn id="9" idx="6"/>
            <a:endCxn id="10" idx="1"/>
          </p:cNvCxnSpPr>
          <p:nvPr/>
        </p:nvCxnSpPr>
        <p:spPr bwMode="auto">
          <a:xfrm>
            <a:off x="9296159" y="3061651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9B76F8D-B6A5-CFBD-D764-D622A6CD6ADB}"/>
              </a:ext>
            </a:extLst>
          </p:cNvPr>
          <p:cNvCxnSpPr>
            <a:stCxn id="9" idx="2"/>
            <a:endCxn id="17" idx="7"/>
          </p:cNvCxnSpPr>
          <p:nvPr/>
        </p:nvCxnSpPr>
        <p:spPr bwMode="auto">
          <a:xfrm rot="10800000" flipV="1">
            <a:off x="7962435" y="3061651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50E99EF-692B-5D22-A8E2-249D43A6CEBD}"/>
              </a:ext>
            </a:extLst>
          </p:cNvPr>
          <p:cNvCxnSpPr>
            <a:stCxn id="10" idx="3"/>
            <a:endCxn id="12" idx="7"/>
          </p:cNvCxnSpPr>
          <p:nvPr/>
        </p:nvCxnSpPr>
        <p:spPr bwMode="auto">
          <a:xfrm rot="5400000">
            <a:off x="9973158" y="3832005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201EA3-427E-3185-BFB1-3DF86C8614EB}"/>
              </a:ext>
            </a:extLst>
          </p:cNvPr>
          <p:cNvCxnSpPr>
            <a:stCxn id="12" idx="3"/>
            <a:endCxn id="13" idx="7"/>
          </p:cNvCxnSpPr>
          <p:nvPr/>
        </p:nvCxnSpPr>
        <p:spPr bwMode="auto">
          <a:xfrm rot="5400000">
            <a:off x="9516915" y="4501607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1BD3816-3EA5-2A89-2699-F62F06FD0268}"/>
              </a:ext>
            </a:extLst>
          </p:cNvPr>
          <p:cNvSpPr/>
          <p:nvPr/>
        </p:nvSpPr>
        <p:spPr bwMode="auto">
          <a:xfrm>
            <a:off x="8930399" y="287877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3741EA-E0AF-9CFF-9041-B474F889DF39}"/>
              </a:ext>
            </a:extLst>
          </p:cNvPr>
          <p:cNvSpPr/>
          <p:nvPr/>
        </p:nvSpPr>
        <p:spPr bwMode="auto">
          <a:xfrm>
            <a:off x="10223884" y="34731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A76209E-DD29-E436-BEB6-5F39CC7A2DD8}"/>
              </a:ext>
            </a:extLst>
          </p:cNvPr>
          <p:cNvSpPr/>
          <p:nvPr/>
        </p:nvSpPr>
        <p:spPr bwMode="auto">
          <a:xfrm>
            <a:off x="970763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3BFC8D4-E40B-F262-ABF1-57DD484FCA18}"/>
              </a:ext>
            </a:extLst>
          </p:cNvPr>
          <p:cNvSpPr/>
          <p:nvPr/>
        </p:nvSpPr>
        <p:spPr bwMode="auto">
          <a:xfrm>
            <a:off x="9311399" y="46923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7E420B8-7612-57EA-EDE5-CD749E42FA6E}"/>
              </a:ext>
            </a:extLst>
          </p:cNvPr>
          <p:cNvCxnSpPr>
            <a:stCxn id="17" idx="5"/>
            <a:endCxn id="18" idx="1"/>
          </p:cNvCxnSpPr>
          <p:nvPr/>
        </p:nvCxnSpPr>
        <p:spPr bwMode="auto">
          <a:xfrm rot="16200000" flipH="1">
            <a:off x="7924335" y="3823427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8426ED-A7E8-4898-402E-BCDEDFBA2AFF}"/>
              </a:ext>
            </a:extLst>
          </p:cNvPr>
          <p:cNvCxnSpPr>
            <a:stCxn id="17" idx="3"/>
            <a:endCxn id="19" idx="7"/>
          </p:cNvCxnSpPr>
          <p:nvPr/>
        </p:nvCxnSpPr>
        <p:spPr bwMode="auto">
          <a:xfrm rot="5400000">
            <a:off x="7360455" y="3792947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C8D558F-9BF7-2CBD-5347-B97DDAE680BC}"/>
              </a:ext>
            </a:extLst>
          </p:cNvPr>
          <p:cNvCxnSpPr>
            <a:stCxn id="19" idx="3"/>
            <a:endCxn id="20" idx="7"/>
          </p:cNvCxnSpPr>
          <p:nvPr/>
        </p:nvCxnSpPr>
        <p:spPr bwMode="auto">
          <a:xfrm rot="5400000">
            <a:off x="6865155" y="4501607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740B6E6E-0013-060A-2C1F-C2C63CE5AA9D}"/>
              </a:ext>
            </a:extLst>
          </p:cNvPr>
          <p:cNvSpPr/>
          <p:nvPr/>
        </p:nvSpPr>
        <p:spPr bwMode="auto">
          <a:xfrm>
            <a:off x="7650239" y="34731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44EE1DD-0435-0A65-94D5-E03EFF1D9C85}"/>
              </a:ext>
            </a:extLst>
          </p:cNvPr>
          <p:cNvSpPr/>
          <p:nvPr/>
        </p:nvSpPr>
        <p:spPr bwMode="auto">
          <a:xfrm>
            <a:off x="818363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35DC61B-EDAC-A95E-16D2-626AC66B0CA0}"/>
              </a:ext>
            </a:extLst>
          </p:cNvPr>
          <p:cNvSpPr/>
          <p:nvPr/>
        </p:nvSpPr>
        <p:spPr bwMode="auto">
          <a:xfrm>
            <a:off x="705587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6889780-F030-57D4-8F1B-1AD0FAEA83A7}"/>
              </a:ext>
            </a:extLst>
          </p:cNvPr>
          <p:cNvSpPr/>
          <p:nvPr/>
        </p:nvSpPr>
        <p:spPr bwMode="auto">
          <a:xfrm>
            <a:off x="6659639" y="46923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FC6FFBD-6DA0-1AD4-0595-FB6529F49B03}"/>
              </a:ext>
            </a:extLst>
          </p:cNvPr>
          <p:cNvCxnSpPr>
            <a:cxnSpLocks noChangeAspect="1"/>
          </p:cNvCxnSpPr>
          <p:nvPr/>
        </p:nvCxnSpPr>
        <p:spPr bwMode="auto">
          <a:xfrm rot="10800000" flipH="1" flipV="1">
            <a:off x="9509519" y="3053788"/>
            <a:ext cx="640080" cy="30751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8779CC0-746D-6668-4D81-3B97C8AE14A9}"/>
              </a:ext>
            </a:extLst>
          </p:cNvPr>
          <p:cNvCxnSpPr>
            <a:cxnSpLocks noChangeAspect="1"/>
          </p:cNvCxnSpPr>
          <p:nvPr/>
        </p:nvCxnSpPr>
        <p:spPr bwMode="auto">
          <a:xfrm rot="5400000">
            <a:off x="9905058" y="3761543"/>
            <a:ext cx="274320" cy="21476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7806978-5CAE-AA8D-B892-861F2DD37EA8}"/>
              </a:ext>
            </a:extLst>
          </p:cNvPr>
          <p:cNvCxnSpPr>
            <a:cxnSpLocks noChangeAspect="1"/>
          </p:cNvCxnSpPr>
          <p:nvPr/>
        </p:nvCxnSpPr>
        <p:spPr bwMode="auto">
          <a:xfrm rot="5400000">
            <a:off x="9456617" y="4470913"/>
            <a:ext cx="274320" cy="10755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C762EA6-0E36-0958-D74D-8E1530A882BF}"/>
              </a:ext>
            </a:extLst>
          </p:cNvPr>
          <p:cNvSpPr txBox="1"/>
          <p:nvPr/>
        </p:nvSpPr>
        <p:spPr>
          <a:xfrm>
            <a:off x="9254504" y="5159116"/>
            <a:ext cx="4988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solidFill>
                  <a:srgbClr val="00B050"/>
                </a:solidFill>
                <a:sym typeface="Wingdings 2"/>
              </a:rPr>
              <a:t></a:t>
            </a:r>
            <a:endParaRPr lang="en-US" sz="3200" dirty="0">
              <a:solidFill>
                <a:srgbClr val="00B05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AE0EEF-3753-597E-D9EF-E2321D2BF67C}"/>
              </a:ext>
            </a:extLst>
          </p:cNvPr>
          <p:cNvSpPr txBox="1"/>
          <p:nvPr/>
        </p:nvSpPr>
        <p:spPr>
          <a:xfrm>
            <a:off x="8378000" y="2093982"/>
            <a:ext cx="1556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looking up 19</a:t>
            </a:r>
          </a:p>
        </p:txBody>
      </p:sp>
      <p:sp>
        <p:nvSpPr>
          <p:cNvPr id="28" name="Content Placeholder 43">
            <a:extLst>
              <a:ext uri="{FF2B5EF4-FFF2-40B4-BE49-F238E27FC236}">
                <a16:creationId xmlns:a16="http://schemas.microsoft.com/office/drawing/2014/main" id="{0127D3FB-A99C-D487-6A40-E1A30D0703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8103" y="2297557"/>
            <a:ext cx="5874171" cy="375221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Leverage the structure of the tree!</a:t>
            </a:r>
          </a:p>
          <a:p>
            <a:pPr lvl="1"/>
            <a:r>
              <a:rPr lang="en-US" dirty="0"/>
              <a:t>If empty:</a:t>
            </a:r>
          </a:p>
          <a:p>
            <a:pPr lvl="2"/>
            <a:r>
              <a:rPr lang="en-US" b="1" dirty="0"/>
              <a:t>Key is not found. Exit</a:t>
            </a:r>
          </a:p>
          <a:p>
            <a:pPr lvl="1"/>
            <a:r>
              <a:rPr lang="en-US" dirty="0"/>
              <a:t>Else, tree is non-empty: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Start at the root.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Compare Key to current Node’s Key. </a:t>
            </a:r>
            <a:r>
              <a:rPr lang="en-US" u="sng" dirty="0"/>
              <a:t>Three Cases: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Key is equal to Node’s key: </a:t>
            </a:r>
            <a:r>
              <a:rPr lang="en-US" b="1" dirty="0">
                <a:solidFill>
                  <a:srgbClr val="00B050"/>
                </a:solidFill>
              </a:rPr>
              <a:t>Found. Exit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Key is smaller than the node’s key: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dirty="0"/>
              <a:t>Does the Node have a left child?</a:t>
            </a:r>
          </a:p>
          <a:p>
            <a:pPr marL="2743200" lvl="5" indent="-457200">
              <a:buFont typeface="+mj-lt"/>
              <a:buAutoNum type="arabicPeriod"/>
            </a:pPr>
            <a:r>
              <a:rPr lang="en-US" dirty="0"/>
              <a:t>Yes:  </a:t>
            </a:r>
            <a:r>
              <a:rPr lang="en-US" b="1" dirty="0">
                <a:solidFill>
                  <a:srgbClr val="00B0F0"/>
                </a:solidFill>
              </a:rPr>
              <a:t>go left. </a:t>
            </a:r>
            <a:r>
              <a:rPr lang="en-US" dirty="0"/>
              <a:t>Back to Step 2</a:t>
            </a:r>
          </a:p>
          <a:p>
            <a:pPr marL="2743200" lvl="5" indent="-457200">
              <a:buFont typeface="+mj-lt"/>
              <a:buAutoNum type="arabicPeriod"/>
            </a:pPr>
            <a:r>
              <a:rPr lang="en-US" dirty="0"/>
              <a:t>No: </a:t>
            </a:r>
            <a:r>
              <a:rPr lang="en-US" b="1" dirty="0"/>
              <a:t>Not Found. Exit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Key is larger than the node’s key:</a:t>
            </a:r>
            <a:endParaRPr lang="en-US" dirty="0">
              <a:solidFill>
                <a:srgbClr val="FF0000"/>
              </a:solidFill>
            </a:endParaRPr>
          </a:p>
          <a:p>
            <a:pPr marL="2286000" lvl="4" indent="-457200">
              <a:buFont typeface="+mj-lt"/>
              <a:buAutoNum type="arabicPeriod"/>
            </a:pPr>
            <a:r>
              <a:rPr lang="en-US" dirty="0"/>
              <a:t>Does the Node have a right child? </a:t>
            </a:r>
          </a:p>
          <a:p>
            <a:pPr marL="2628900" lvl="5" indent="-342900">
              <a:buFont typeface="+mj-lt"/>
              <a:buAutoNum type="arabicPeriod"/>
            </a:pPr>
            <a:r>
              <a:rPr lang="en-US" dirty="0"/>
              <a:t>Yes: </a:t>
            </a:r>
            <a:r>
              <a:rPr lang="en-US" b="1" dirty="0">
                <a:solidFill>
                  <a:srgbClr val="FF0000"/>
                </a:solidFill>
              </a:rPr>
              <a:t>go right. </a:t>
            </a:r>
            <a:r>
              <a:rPr lang="en-US" dirty="0"/>
              <a:t>Back to Step 2</a:t>
            </a:r>
          </a:p>
          <a:p>
            <a:pPr marL="2628900" lvl="5" indent="-342900">
              <a:buFont typeface="+mj-lt"/>
              <a:buAutoNum type="arabicPeriod"/>
            </a:pPr>
            <a:r>
              <a:rPr lang="en-US" dirty="0"/>
              <a:t>No:  </a:t>
            </a:r>
            <a:r>
              <a:rPr lang="en-US" b="1" dirty="0"/>
              <a:t>Not Found. Exit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80D134-2AFF-14D7-929B-A49A5178F70F}"/>
              </a:ext>
            </a:extLst>
          </p:cNvPr>
          <p:cNvCxnSpPr>
            <a:endCxn id="30" idx="1"/>
          </p:cNvCxnSpPr>
          <p:nvPr/>
        </p:nvCxnSpPr>
        <p:spPr bwMode="auto">
          <a:xfrm rot="16200000" flipH="1">
            <a:off x="10003861" y="4401589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0" name="Oval 29">
            <a:extLst>
              <a:ext uri="{FF2B5EF4-FFF2-40B4-BE49-F238E27FC236}">
                <a16:creationId xmlns:a16="http://schemas.microsoft.com/office/drawing/2014/main" id="{09BD3EAB-11E0-7D49-B1DF-47021B4903B8}"/>
              </a:ext>
            </a:extLst>
          </p:cNvPr>
          <p:cNvSpPr/>
          <p:nvPr/>
        </p:nvSpPr>
        <p:spPr bwMode="auto">
          <a:xfrm>
            <a:off x="10264123" y="466185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08758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58DD9-DB9D-511E-E6A8-FD49D95A7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>
            <a:extLst>
              <a:ext uri="{FF2B5EF4-FFF2-40B4-BE49-F238E27FC236}">
                <a16:creationId xmlns:a16="http://schemas.microsoft.com/office/drawing/2014/main" id="{4AD4198B-F312-1CF2-00E2-F44DBAAC7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6131" y="4689271"/>
            <a:ext cx="364268" cy="364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A9BD48-2FE7-19D1-D7C6-A2450C276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Finding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2D38B2D-F379-B51A-5AD6-F798850ACE38}"/>
              </a:ext>
            </a:extLst>
          </p:cNvPr>
          <p:cNvCxnSpPr>
            <a:stCxn id="9" idx="6"/>
            <a:endCxn id="10" idx="1"/>
          </p:cNvCxnSpPr>
          <p:nvPr/>
        </p:nvCxnSpPr>
        <p:spPr bwMode="auto">
          <a:xfrm>
            <a:off x="9296159" y="3061651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7B06015-300F-6682-2E45-C1C3E2E10E98}"/>
              </a:ext>
            </a:extLst>
          </p:cNvPr>
          <p:cNvCxnSpPr>
            <a:stCxn id="9" idx="2"/>
            <a:endCxn id="17" idx="7"/>
          </p:cNvCxnSpPr>
          <p:nvPr/>
        </p:nvCxnSpPr>
        <p:spPr bwMode="auto">
          <a:xfrm rot="10800000" flipV="1">
            <a:off x="7962435" y="3061651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2779106-305D-1924-AE31-7176BAAD1104}"/>
              </a:ext>
            </a:extLst>
          </p:cNvPr>
          <p:cNvCxnSpPr>
            <a:stCxn id="10" idx="3"/>
            <a:endCxn id="12" idx="7"/>
          </p:cNvCxnSpPr>
          <p:nvPr/>
        </p:nvCxnSpPr>
        <p:spPr bwMode="auto">
          <a:xfrm rot="5400000">
            <a:off x="9973158" y="3832005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8994876-0C92-FF00-0295-4855C89A069F}"/>
              </a:ext>
            </a:extLst>
          </p:cNvPr>
          <p:cNvCxnSpPr>
            <a:stCxn id="12" idx="3"/>
            <a:endCxn id="13" idx="7"/>
          </p:cNvCxnSpPr>
          <p:nvPr/>
        </p:nvCxnSpPr>
        <p:spPr bwMode="auto">
          <a:xfrm rot="5400000">
            <a:off x="9516915" y="4501607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0112348-F3AB-009F-3C01-E3A9280E1D22}"/>
              </a:ext>
            </a:extLst>
          </p:cNvPr>
          <p:cNvSpPr/>
          <p:nvPr/>
        </p:nvSpPr>
        <p:spPr bwMode="auto">
          <a:xfrm>
            <a:off x="8930399" y="287877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1AAEA4A-D08B-299B-2170-1D85D920113D}"/>
              </a:ext>
            </a:extLst>
          </p:cNvPr>
          <p:cNvSpPr/>
          <p:nvPr/>
        </p:nvSpPr>
        <p:spPr bwMode="auto">
          <a:xfrm>
            <a:off x="10223884" y="34731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3BCF2D-BDA7-FF34-CB47-C04D3CFBFA9A}"/>
              </a:ext>
            </a:extLst>
          </p:cNvPr>
          <p:cNvSpPr/>
          <p:nvPr/>
        </p:nvSpPr>
        <p:spPr bwMode="auto">
          <a:xfrm>
            <a:off x="970763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125270-D511-A0E3-32DB-15481978CADE}"/>
              </a:ext>
            </a:extLst>
          </p:cNvPr>
          <p:cNvSpPr/>
          <p:nvPr/>
        </p:nvSpPr>
        <p:spPr bwMode="auto">
          <a:xfrm>
            <a:off x="9311399" y="46923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9BA6376-12DB-E5E1-14D6-59239691696E}"/>
              </a:ext>
            </a:extLst>
          </p:cNvPr>
          <p:cNvCxnSpPr>
            <a:stCxn id="17" idx="5"/>
            <a:endCxn id="18" idx="1"/>
          </p:cNvCxnSpPr>
          <p:nvPr/>
        </p:nvCxnSpPr>
        <p:spPr bwMode="auto">
          <a:xfrm rot="16200000" flipH="1">
            <a:off x="7924335" y="3823427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43CAE8B-583F-2083-E2DD-2ED14AE19C8D}"/>
              </a:ext>
            </a:extLst>
          </p:cNvPr>
          <p:cNvCxnSpPr>
            <a:stCxn id="17" idx="3"/>
            <a:endCxn id="19" idx="7"/>
          </p:cNvCxnSpPr>
          <p:nvPr/>
        </p:nvCxnSpPr>
        <p:spPr bwMode="auto">
          <a:xfrm rot="5400000">
            <a:off x="7360455" y="3792947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E531E03-E3B2-4D33-8AE7-491BD344E52A}"/>
              </a:ext>
            </a:extLst>
          </p:cNvPr>
          <p:cNvCxnSpPr>
            <a:stCxn id="19" idx="3"/>
            <a:endCxn id="20" idx="7"/>
          </p:cNvCxnSpPr>
          <p:nvPr/>
        </p:nvCxnSpPr>
        <p:spPr bwMode="auto">
          <a:xfrm rot="5400000">
            <a:off x="6865155" y="4501607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E0E231B2-6688-38FE-731C-569925C3257E}"/>
              </a:ext>
            </a:extLst>
          </p:cNvPr>
          <p:cNvSpPr/>
          <p:nvPr/>
        </p:nvSpPr>
        <p:spPr bwMode="auto">
          <a:xfrm>
            <a:off x="7650239" y="34731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E160A85-188C-3FB4-31C7-ACE00820C218}"/>
              </a:ext>
            </a:extLst>
          </p:cNvPr>
          <p:cNvSpPr/>
          <p:nvPr/>
        </p:nvSpPr>
        <p:spPr bwMode="auto">
          <a:xfrm>
            <a:off x="818363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07F31AE-DC2B-0653-5FB1-FC08322738CF}"/>
              </a:ext>
            </a:extLst>
          </p:cNvPr>
          <p:cNvSpPr/>
          <p:nvPr/>
        </p:nvSpPr>
        <p:spPr bwMode="auto">
          <a:xfrm>
            <a:off x="7055879" y="40827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DCA8F09-5D3F-62C5-61F2-9BABA27498BB}"/>
              </a:ext>
            </a:extLst>
          </p:cNvPr>
          <p:cNvSpPr/>
          <p:nvPr/>
        </p:nvSpPr>
        <p:spPr bwMode="auto">
          <a:xfrm>
            <a:off x="6659639" y="469233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E4BFE4A-EF0A-C75B-6869-7F1601F6CF29}"/>
              </a:ext>
            </a:extLst>
          </p:cNvPr>
          <p:cNvSpPr txBox="1"/>
          <p:nvPr/>
        </p:nvSpPr>
        <p:spPr>
          <a:xfrm>
            <a:off x="8378000" y="2093982"/>
            <a:ext cx="1497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looking up 10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27D5522-2568-2D9E-3CB4-212CB49F24C6}"/>
              </a:ext>
            </a:extLst>
          </p:cNvPr>
          <p:cNvCxnSpPr/>
          <p:nvPr/>
        </p:nvCxnSpPr>
        <p:spPr>
          <a:xfrm flipH="1">
            <a:off x="8028109" y="3001352"/>
            <a:ext cx="681635" cy="316956"/>
          </a:xfrm>
          <a:prstGeom prst="straightConnector1">
            <a:avLst/>
          </a:prstGeom>
          <a:ln w="28575">
            <a:solidFill>
              <a:schemeClr val="accent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542B4E2-255F-4FFB-FA66-757DC766EFF8}"/>
              </a:ext>
            </a:extLst>
          </p:cNvPr>
          <p:cNvCxnSpPr/>
          <p:nvPr/>
        </p:nvCxnSpPr>
        <p:spPr>
          <a:xfrm>
            <a:off x="8080957" y="3720190"/>
            <a:ext cx="278181" cy="30479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315EE60-2C11-8F01-5FA0-56B4B6B387C4}"/>
              </a:ext>
            </a:extLst>
          </p:cNvPr>
          <p:cNvCxnSpPr>
            <a:cxnSpLocks/>
          </p:cNvCxnSpPr>
          <p:nvPr/>
        </p:nvCxnSpPr>
        <p:spPr>
          <a:xfrm>
            <a:off x="8525591" y="4406339"/>
            <a:ext cx="204930" cy="240780"/>
          </a:xfrm>
          <a:prstGeom prst="straightConnector1">
            <a:avLst/>
          </a:prstGeom>
          <a:ln w="28575">
            <a:solidFill>
              <a:srgbClr val="FF0000"/>
            </a:solidFill>
            <a:prstDash val="dash"/>
            <a:tailEnd type="triangle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56555E08-4E10-4708-5853-6D26E7EFD49A}"/>
              </a:ext>
            </a:extLst>
          </p:cNvPr>
          <p:cNvCxnSpPr>
            <a:endCxn id="51" idx="1"/>
          </p:cNvCxnSpPr>
          <p:nvPr/>
        </p:nvCxnSpPr>
        <p:spPr bwMode="auto">
          <a:xfrm rot="16200000" flipH="1">
            <a:off x="10003861" y="4401589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BA8405FD-698C-B013-A33C-B7EEE7276F19}"/>
              </a:ext>
            </a:extLst>
          </p:cNvPr>
          <p:cNvSpPr/>
          <p:nvPr/>
        </p:nvSpPr>
        <p:spPr bwMode="auto">
          <a:xfrm>
            <a:off x="10264123" y="4661851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  <p:sp>
        <p:nvSpPr>
          <p:cNvPr id="54" name="Content Placeholder 43">
            <a:extLst>
              <a:ext uri="{FF2B5EF4-FFF2-40B4-BE49-F238E27FC236}">
                <a16:creationId xmlns:a16="http://schemas.microsoft.com/office/drawing/2014/main" id="{35812F1E-A516-9E3A-C0D1-892E52CF39DF}"/>
              </a:ext>
            </a:extLst>
          </p:cNvPr>
          <p:cNvSpPr txBox="1">
            <a:spLocks/>
          </p:cNvSpPr>
          <p:nvPr/>
        </p:nvSpPr>
        <p:spPr>
          <a:xfrm>
            <a:off x="808103" y="2297557"/>
            <a:ext cx="5874171" cy="375221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Leverage the structure of the tree!</a:t>
            </a:r>
          </a:p>
          <a:p>
            <a:pPr lvl="1"/>
            <a:r>
              <a:rPr lang="en-US" dirty="0"/>
              <a:t>If empty:</a:t>
            </a:r>
          </a:p>
          <a:p>
            <a:pPr lvl="2"/>
            <a:r>
              <a:rPr lang="en-US" b="1" dirty="0"/>
              <a:t>Key is not found. Exit</a:t>
            </a:r>
          </a:p>
          <a:p>
            <a:pPr lvl="1"/>
            <a:r>
              <a:rPr lang="en-US" dirty="0"/>
              <a:t>Else, tree is non-empty: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Start at the root.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 dirty="0"/>
              <a:t>Compare Key to current Node’s Key. </a:t>
            </a:r>
            <a:r>
              <a:rPr lang="en-US" u="sng" dirty="0"/>
              <a:t>Three Cases: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Key is equal to Node’s key: </a:t>
            </a:r>
            <a:r>
              <a:rPr lang="en-US" b="1" dirty="0">
                <a:solidFill>
                  <a:srgbClr val="00B050"/>
                </a:solidFill>
              </a:rPr>
              <a:t>Found. Exit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Key is smaller than the node’s key:</a:t>
            </a:r>
          </a:p>
          <a:p>
            <a:pPr marL="2286000" lvl="4" indent="-457200">
              <a:buFont typeface="+mj-lt"/>
              <a:buAutoNum type="arabicPeriod"/>
            </a:pPr>
            <a:r>
              <a:rPr lang="en-US" dirty="0"/>
              <a:t>Does the Node have a left child?</a:t>
            </a:r>
          </a:p>
          <a:p>
            <a:pPr marL="2743200" lvl="5" indent="-457200">
              <a:buFont typeface="+mj-lt"/>
              <a:buAutoNum type="arabicPeriod"/>
            </a:pPr>
            <a:r>
              <a:rPr lang="en-US" dirty="0"/>
              <a:t>Yes:  </a:t>
            </a:r>
            <a:r>
              <a:rPr lang="en-US" b="1" dirty="0">
                <a:solidFill>
                  <a:srgbClr val="00B0F0"/>
                </a:solidFill>
              </a:rPr>
              <a:t>go left. </a:t>
            </a:r>
            <a:r>
              <a:rPr lang="en-US" dirty="0"/>
              <a:t>Back to Step 2</a:t>
            </a:r>
          </a:p>
          <a:p>
            <a:pPr marL="2743200" lvl="5" indent="-457200">
              <a:buFont typeface="+mj-lt"/>
              <a:buAutoNum type="arabicPeriod"/>
            </a:pPr>
            <a:r>
              <a:rPr lang="en-US" dirty="0"/>
              <a:t>No: </a:t>
            </a:r>
            <a:r>
              <a:rPr lang="en-US" b="1" dirty="0"/>
              <a:t>Not Found. Exit</a:t>
            </a:r>
          </a:p>
          <a:p>
            <a:pPr marL="1828800" lvl="3" indent="-457200">
              <a:buFont typeface="+mj-lt"/>
              <a:buAutoNum type="arabicPeriod"/>
            </a:pPr>
            <a:r>
              <a:rPr lang="en-US" dirty="0"/>
              <a:t>Key is larger than the node’s key:</a:t>
            </a:r>
            <a:endParaRPr lang="en-US" dirty="0">
              <a:solidFill>
                <a:srgbClr val="FF0000"/>
              </a:solidFill>
            </a:endParaRPr>
          </a:p>
          <a:p>
            <a:pPr marL="2286000" lvl="4" indent="-457200">
              <a:buFont typeface="+mj-lt"/>
              <a:buAutoNum type="arabicPeriod"/>
            </a:pPr>
            <a:r>
              <a:rPr lang="en-US" dirty="0"/>
              <a:t>Does the Node have a right child? </a:t>
            </a:r>
          </a:p>
          <a:p>
            <a:pPr marL="2628900" lvl="5" indent="-342900">
              <a:buFont typeface="+mj-lt"/>
              <a:buAutoNum type="arabicPeriod"/>
            </a:pPr>
            <a:r>
              <a:rPr lang="en-US" dirty="0"/>
              <a:t>Yes: </a:t>
            </a:r>
            <a:r>
              <a:rPr lang="en-US" b="1" dirty="0">
                <a:solidFill>
                  <a:srgbClr val="FF0000"/>
                </a:solidFill>
              </a:rPr>
              <a:t>go right. </a:t>
            </a:r>
            <a:r>
              <a:rPr lang="en-US" dirty="0"/>
              <a:t>Back to Step 2</a:t>
            </a:r>
          </a:p>
          <a:p>
            <a:pPr marL="2628900" lvl="5" indent="-342900">
              <a:buFont typeface="+mj-lt"/>
              <a:buAutoNum type="arabicPeriod"/>
            </a:pPr>
            <a:r>
              <a:rPr lang="en-US" dirty="0"/>
              <a:t>No:  </a:t>
            </a:r>
            <a:r>
              <a:rPr lang="en-US" b="1" dirty="0"/>
              <a:t>Not Found. Exit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0444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D42F8-1BD7-7419-E63E-419EBE885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925E-4683-E7A3-11BD-A98F4269D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BST Operations: Adding</a:t>
            </a:r>
            <a:endParaRPr lang="en-US" dirty="0"/>
          </a:p>
        </p:txBody>
      </p:sp>
      <p:sp>
        <p:nvSpPr>
          <p:cNvPr id="27" name="Content Placeholder 2"/>
          <p:cNvSpPr>
            <a:spLocks noGrp="1"/>
          </p:cNvSpPr>
          <p:nvPr>
            <p:ph idx="1"/>
          </p:nvPr>
        </p:nvSpPr>
        <p:spPr>
          <a:xfrm>
            <a:off x="838200" y="1657719"/>
            <a:ext cx="10406063" cy="849684"/>
          </a:xfrm>
        </p:spPr>
        <p:txBody>
          <a:bodyPr>
            <a:normAutofit lnSpcReduction="10000"/>
          </a:bodyPr>
          <a:lstStyle/>
          <a:p>
            <a:r>
              <a:rPr lang="en-US" i="1" dirty="0"/>
              <a:t>Do the same steps we would do to search for this entry, and then put it where it should have been</a:t>
            </a:r>
          </a:p>
          <a:p>
            <a:pPr marL="1009018" lvl="4" indent="0">
              <a:buNone/>
            </a:pPr>
            <a:endParaRPr lang="en-US" i="1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2BBF37B-1713-B56E-DE3D-455B278B8BA6}"/>
              </a:ext>
            </a:extLst>
          </p:cNvPr>
          <p:cNvCxnSpPr>
            <a:stCxn id="42" idx="6"/>
            <a:endCxn id="43" idx="1"/>
          </p:cNvCxnSpPr>
          <p:nvPr/>
        </p:nvCxnSpPr>
        <p:spPr bwMode="auto">
          <a:xfrm>
            <a:off x="6236603" y="3563869"/>
            <a:ext cx="981289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9E6C80B0-F844-AA7E-9EC7-17FED304E9AE}"/>
              </a:ext>
            </a:extLst>
          </p:cNvPr>
          <p:cNvCxnSpPr>
            <a:stCxn id="42" idx="2"/>
            <a:endCxn id="50" idx="7"/>
          </p:cNvCxnSpPr>
          <p:nvPr/>
        </p:nvCxnSpPr>
        <p:spPr bwMode="auto">
          <a:xfrm rot="10800000" flipV="1">
            <a:off x="4902879" y="3563869"/>
            <a:ext cx="967964" cy="465044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1E019A-2D2E-6247-5DB4-C6A357290AF1}"/>
              </a:ext>
            </a:extLst>
          </p:cNvPr>
          <p:cNvCxnSpPr>
            <a:stCxn id="43" idx="3"/>
            <a:endCxn id="45" idx="7"/>
          </p:cNvCxnSpPr>
          <p:nvPr/>
        </p:nvCxnSpPr>
        <p:spPr bwMode="auto">
          <a:xfrm rot="5400000">
            <a:off x="6913602" y="4334223"/>
            <a:ext cx="350968" cy="25761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9A4AC1C-5A39-2311-6ECD-1BBE8869D11D}"/>
              </a:ext>
            </a:extLst>
          </p:cNvPr>
          <p:cNvCxnSpPr>
            <a:stCxn id="45" idx="3"/>
            <a:endCxn id="46" idx="7"/>
          </p:cNvCxnSpPr>
          <p:nvPr/>
        </p:nvCxnSpPr>
        <p:spPr bwMode="auto">
          <a:xfrm rot="5400000">
            <a:off x="645735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2" name="Oval 41">
            <a:extLst>
              <a:ext uri="{FF2B5EF4-FFF2-40B4-BE49-F238E27FC236}">
                <a16:creationId xmlns:a16="http://schemas.microsoft.com/office/drawing/2014/main" id="{20D8D073-630E-8745-BC89-91B0C0752544}"/>
              </a:ext>
            </a:extLst>
          </p:cNvPr>
          <p:cNvSpPr/>
          <p:nvPr/>
        </p:nvSpPr>
        <p:spPr bwMode="auto">
          <a:xfrm>
            <a:off x="5870843" y="338098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12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F4161001-5139-97B6-B69A-8508216D07CC}"/>
              </a:ext>
            </a:extLst>
          </p:cNvPr>
          <p:cNvSpPr/>
          <p:nvPr/>
        </p:nvSpPr>
        <p:spPr bwMode="auto">
          <a:xfrm>
            <a:off x="7164328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42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5C2A5644-5A92-E1F8-D2B5-3B185448DCE1}"/>
              </a:ext>
            </a:extLst>
          </p:cNvPr>
          <p:cNvSpPr/>
          <p:nvPr/>
        </p:nvSpPr>
        <p:spPr bwMode="auto">
          <a:xfrm>
            <a:off x="6648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22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698AFE5E-33F3-2906-DA9B-78043A6BC1CA}"/>
              </a:ext>
            </a:extLst>
          </p:cNvPr>
          <p:cNvSpPr/>
          <p:nvPr/>
        </p:nvSpPr>
        <p:spPr bwMode="auto">
          <a:xfrm>
            <a:off x="625184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19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9F33FC0-07C6-A9A0-F86F-36C0FB3A7BFF}"/>
              </a:ext>
            </a:extLst>
          </p:cNvPr>
          <p:cNvCxnSpPr>
            <a:stCxn id="50" idx="5"/>
            <a:endCxn id="51" idx="1"/>
          </p:cNvCxnSpPr>
          <p:nvPr/>
        </p:nvCxnSpPr>
        <p:spPr bwMode="auto">
          <a:xfrm rot="16200000" flipH="1">
            <a:off x="4864779" y="4325645"/>
            <a:ext cx="350968" cy="27476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67C8847-66FD-5812-E236-8026D7E1FE33}"/>
              </a:ext>
            </a:extLst>
          </p:cNvPr>
          <p:cNvCxnSpPr>
            <a:stCxn id="50" idx="3"/>
            <a:endCxn id="52" idx="7"/>
          </p:cNvCxnSpPr>
          <p:nvPr/>
        </p:nvCxnSpPr>
        <p:spPr bwMode="auto">
          <a:xfrm rot="5400000">
            <a:off x="4300899" y="4295165"/>
            <a:ext cx="350968" cy="33572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24C0A50B-FD6A-93A2-47AF-BB83F42B5FB4}"/>
              </a:ext>
            </a:extLst>
          </p:cNvPr>
          <p:cNvCxnSpPr>
            <a:stCxn id="52" idx="3"/>
            <a:endCxn id="53" idx="7"/>
          </p:cNvCxnSpPr>
          <p:nvPr/>
        </p:nvCxnSpPr>
        <p:spPr bwMode="auto">
          <a:xfrm rot="5400000">
            <a:off x="380559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6A3F785C-1024-FCFC-DADF-55D055D14B81}"/>
              </a:ext>
            </a:extLst>
          </p:cNvPr>
          <p:cNvSpPr/>
          <p:nvPr/>
        </p:nvSpPr>
        <p:spPr bwMode="auto">
          <a:xfrm>
            <a:off x="4590683" y="39753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4</a:t>
            </a: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74C0328E-8B21-A143-E23B-1B76270767E6}"/>
              </a:ext>
            </a:extLst>
          </p:cNvPr>
          <p:cNvSpPr/>
          <p:nvPr/>
        </p:nvSpPr>
        <p:spPr bwMode="auto">
          <a:xfrm>
            <a:off x="512408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</a:t>
            </a: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1D617FB-65C7-F43E-E010-6BEBCDAAEA20}"/>
              </a:ext>
            </a:extLst>
          </p:cNvPr>
          <p:cNvSpPr/>
          <p:nvPr/>
        </p:nvSpPr>
        <p:spPr bwMode="auto">
          <a:xfrm>
            <a:off x="3996323" y="45849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0</a:t>
            </a: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1EB190E4-F8A3-BB3F-B3F3-30BBD927112F}"/>
              </a:ext>
            </a:extLst>
          </p:cNvPr>
          <p:cNvSpPr/>
          <p:nvPr/>
        </p:nvSpPr>
        <p:spPr bwMode="auto">
          <a:xfrm>
            <a:off x="360008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-2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7BC35EE-7DA8-2012-8BC4-5E417A236839}"/>
              </a:ext>
            </a:extLst>
          </p:cNvPr>
          <p:cNvSpPr txBox="1"/>
          <p:nvPr/>
        </p:nvSpPr>
        <p:spPr>
          <a:xfrm>
            <a:off x="5429193" y="2535746"/>
            <a:ext cx="1249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i="1" dirty="0"/>
              <a:t>inserting 5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2C93557A-9B34-343F-98B2-098572B04B65}"/>
              </a:ext>
            </a:extLst>
          </p:cNvPr>
          <p:cNvCxnSpPr>
            <a:cxnSpLocks noChangeAspect="1"/>
          </p:cNvCxnSpPr>
          <p:nvPr/>
        </p:nvCxnSpPr>
        <p:spPr bwMode="auto">
          <a:xfrm rot="10800000" flipV="1">
            <a:off x="5017403" y="3508036"/>
            <a:ext cx="640080" cy="307517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987ACF79-1C9E-AD23-9283-4ECA570AFBD0}"/>
              </a:ext>
            </a:extLst>
          </p:cNvPr>
          <p:cNvCxnSpPr>
            <a:endCxn id="57" idx="7"/>
          </p:cNvCxnSpPr>
          <p:nvPr/>
        </p:nvCxnSpPr>
        <p:spPr bwMode="auto">
          <a:xfrm rot="5400000">
            <a:off x="4918119" y="5003825"/>
            <a:ext cx="350968" cy="13760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50"/>
            </a:solidFill>
            <a:prstDash val="dash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57" name="Oval 56">
            <a:extLst>
              <a:ext uri="{FF2B5EF4-FFF2-40B4-BE49-F238E27FC236}">
                <a16:creationId xmlns:a16="http://schemas.microsoft.com/office/drawing/2014/main" id="{E35381DC-A50C-FB26-39EA-73EA9122323E}"/>
              </a:ext>
            </a:extLst>
          </p:cNvPr>
          <p:cNvSpPr/>
          <p:nvPr/>
        </p:nvSpPr>
        <p:spPr bwMode="auto">
          <a:xfrm>
            <a:off x="4712603" y="519454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B050"/>
            </a:solidFill>
            <a:prstDash val="dash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E0BAB339-FC9F-83AE-89A3-BE3AACC17C72}"/>
              </a:ext>
            </a:extLst>
          </p:cNvPr>
          <p:cNvCxnSpPr>
            <a:cxnSpLocks noChangeAspect="1"/>
          </p:cNvCxnSpPr>
          <p:nvPr/>
        </p:nvCxnSpPr>
        <p:spPr bwMode="auto">
          <a:xfrm rot="5400000">
            <a:off x="4845946" y="4961256"/>
            <a:ext cx="274320" cy="107556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B0F0"/>
            </a:solidFill>
            <a:prstDash val="sysDash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EF8C439-038E-373B-ECBF-E902B1709115}"/>
              </a:ext>
            </a:extLst>
          </p:cNvPr>
          <p:cNvCxnSpPr>
            <a:cxnSpLocks noChangeAspect="1"/>
          </p:cNvCxnSpPr>
          <p:nvPr/>
        </p:nvCxnSpPr>
        <p:spPr bwMode="auto">
          <a:xfrm rot="16200000" flipH="1">
            <a:off x="5025500" y="4270939"/>
            <a:ext cx="274320" cy="214761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none" w="lg" len="lg"/>
            <a:tailEnd type="arrow" w="med" len="med"/>
          </a:ln>
          <a:effectLst/>
        </p:spPr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833D7B43-1253-0474-CFA3-2E070D6DB4C8}"/>
              </a:ext>
            </a:extLst>
          </p:cNvPr>
          <p:cNvCxnSpPr>
            <a:endCxn id="34" idx="1"/>
          </p:cNvCxnSpPr>
          <p:nvPr/>
        </p:nvCxnSpPr>
        <p:spPr bwMode="auto">
          <a:xfrm rot="16200000" flipH="1">
            <a:off x="6938154" y="4915017"/>
            <a:ext cx="350968" cy="276683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34" name="Oval 33">
            <a:extLst>
              <a:ext uri="{FF2B5EF4-FFF2-40B4-BE49-F238E27FC236}">
                <a16:creationId xmlns:a16="http://schemas.microsoft.com/office/drawing/2014/main" id="{FA98AE23-3582-0B01-67B6-3852973A2064}"/>
              </a:ext>
            </a:extLst>
          </p:cNvPr>
          <p:cNvSpPr/>
          <p:nvPr/>
        </p:nvSpPr>
        <p:spPr bwMode="auto">
          <a:xfrm>
            <a:off x="7198416" y="5175279"/>
            <a:ext cx="365760" cy="365760"/>
          </a:xfrm>
          <a:prstGeom prst="ellipse">
            <a:avLst/>
          </a:prstGeom>
          <a:noFill/>
          <a:ln w="1905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0" tIns="50800" rIns="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17473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03347-C9C6-881C-337C-A543F9F9A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Recursive Add Animation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0B5C91-B56C-C287-629C-663CC39768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b="1" dirty="0"/>
              <a:t>Linked List Animation:</a:t>
            </a:r>
          </a:p>
          <a:p>
            <a:r>
              <a:rPr lang="en-US" sz="2400" dirty="0"/>
              <a:t> 	</a:t>
            </a:r>
            <a:r>
              <a:rPr lang="en-US" sz="2400" dirty="0">
                <a:hlinkClick r:id="rId2"/>
              </a:rPr>
              <a:t>https://claude.ai/artifact/ASZmeV5eMtivSv4oLFpSsv</a:t>
            </a:r>
            <a:endParaRPr lang="en-US" sz="2400" dirty="0"/>
          </a:p>
          <a:p>
            <a:endParaRPr lang="en-US" sz="2400" dirty="0"/>
          </a:p>
          <a:p>
            <a:pPr lvl="0"/>
            <a:r>
              <a:rPr lang="en-US" sz="2400" b="1" dirty="0"/>
              <a:t>BST Animation:</a:t>
            </a:r>
          </a:p>
          <a:p>
            <a:pPr lvl="1"/>
            <a:r>
              <a:rPr lang="en-US" dirty="0"/>
              <a:t>Without Code: </a:t>
            </a:r>
            <a:r>
              <a:rPr lang="en-US" dirty="0">
                <a:hlinkClick r:id="rId3"/>
              </a:rPr>
              <a:t>https://claude.ai/artifact/TdwBwiDofhjsYD5xy8Qu5V</a:t>
            </a:r>
            <a:endParaRPr lang="en-US" dirty="0"/>
          </a:p>
          <a:p>
            <a:pPr lvl="1"/>
            <a:r>
              <a:rPr lang="en-US" dirty="0"/>
              <a:t>With Code: </a:t>
            </a:r>
            <a:r>
              <a:rPr lang="en-US" dirty="0">
                <a:hlinkClick r:id="rId4"/>
              </a:rPr>
              <a:t>https://claude.ai/artifact/EbMz5mhPc6s2Fk3wV4QYiv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75531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9710</TotalTime>
  <Words>488</Words>
  <Application>Microsoft Office PowerPoint</Application>
  <PresentationFormat>Widescreen</PresentationFormat>
  <Paragraphs>121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Aptos</vt:lpstr>
      <vt:lpstr>Aptos Display</vt:lpstr>
      <vt:lpstr>Arial</vt:lpstr>
      <vt:lpstr>Helvetica Neue</vt:lpstr>
      <vt:lpstr>system-ui</vt:lpstr>
      <vt:lpstr>Wingdings 2</vt:lpstr>
      <vt:lpstr>Office Theme</vt:lpstr>
      <vt:lpstr>Comparator</vt:lpstr>
      <vt:lpstr>PowerPoint Presentation</vt:lpstr>
      <vt:lpstr>ADT and Data Strcutures</vt:lpstr>
      <vt:lpstr>Binary Search Tree</vt:lpstr>
      <vt:lpstr>Tree Terminology</vt:lpstr>
      <vt:lpstr>Binary Search Tree</vt:lpstr>
      <vt:lpstr>BST Applications</vt:lpstr>
      <vt:lpstr>BST Applications</vt:lpstr>
      <vt:lpstr>BST Operations: Finding</vt:lpstr>
      <vt:lpstr>BST Operations: Finding</vt:lpstr>
      <vt:lpstr>BST Operations: Adding</vt:lpstr>
      <vt:lpstr>Recursive Add Animation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 Gedawy</dc:creator>
  <cp:lastModifiedBy>Hend Gedawy</cp:lastModifiedBy>
  <cp:revision>25</cp:revision>
  <dcterms:created xsi:type="dcterms:W3CDTF">2025-10-07T09:47:52Z</dcterms:created>
  <dcterms:modified xsi:type="dcterms:W3CDTF">2026-10-19T09:01:12Z</dcterms:modified>
</cp:coreProperties>
</file>