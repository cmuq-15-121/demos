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608" r:id="rId2"/>
    <p:sldId id="609" r:id="rId3"/>
    <p:sldId id="615" r:id="rId4"/>
    <p:sldId id="616" r:id="rId5"/>
    <p:sldId id="617" r:id="rId6"/>
    <p:sldId id="619" r:id="rId7"/>
    <p:sldId id="618" r:id="rId8"/>
    <p:sldId id="620" r:id="rId9"/>
    <p:sldId id="621" r:id="rId10"/>
    <p:sldId id="622" r:id="rId11"/>
    <p:sldId id="623" r:id="rId12"/>
    <p:sldId id="624" r:id="rId13"/>
    <p:sldId id="625" r:id="rId14"/>
    <p:sldId id="626" r:id="rId15"/>
    <p:sldId id="627" r:id="rId16"/>
    <p:sldId id="628" r:id="rId17"/>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58552" autoAdjust="0"/>
  </p:normalViewPr>
  <p:slideViewPr>
    <p:cSldViewPr snapToGrid="0">
      <p:cViewPr varScale="1">
        <p:scale>
          <a:sx n="51" d="100"/>
          <a:sy n="51" d="100"/>
        </p:scale>
        <p:origin x="163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04A0CEF0-6083-416F-BD06-542F7C9BDE82}" type="datetimeFigureOut">
              <a:rPr lang="en-US" smtClean="0"/>
              <a:t>10/29/2026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8D8EADE1-23D5-4D33-9D37-201E23C90A22}" type="slidenum">
              <a:rPr lang="en-US" smtClean="0"/>
              <a:t>‹#›</a:t>
            </a:fld>
            <a:endParaRPr lang="en-US"/>
          </a:p>
        </p:txBody>
      </p:sp>
    </p:spTree>
    <p:extLst>
      <p:ext uri="{BB962C8B-B14F-4D97-AF65-F5344CB8AC3E}">
        <p14:creationId xmlns:p14="http://schemas.microsoft.com/office/powerpoint/2010/main" val="76711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4491C-BBCB-A937-8F8A-EF6061FD6D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874780-84CE-612E-2FA6-C1FE274EC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A44B36-E3A6-7ABB-4EC4-4A7AA948B2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7A0E39-909A-C62E-6763-DF1900BC4755}"/>
              </a:ext>
            </a:extLst>
          </p:cNvPr>
          <p:cNvSpPr>
            <a:spLocks noGrp="1"/>
          </p:cNvSpPr>
          <p:nvPr>
            <p:ph type="sldNum" sz="quarter" idx="5"/>
          </p:nvPr>
        </p:nvSpPr>
        <p:spPr/>
        <p:txBody>
          <a:bodyPr/>
          <a:lstStyle/>
          <a:p>
            <a:fld id="{469CC7B8-BB22-4151-97E7-24D9E837BC18}" type="slidenum">
              <a:rPr lang="en-US" smtClean="0"/>
              <a:t>2</a:t>
            </a:fld>
            <a:endParaRPr lang="en-US"/>
          </a:p>
        </p:txBody>
      </p:sp>
    </p:spTree>
    <p:extLst>
      <p:ext uri="{BB962C8B-B14F-4D97-AF65-F5344CB8AC3E}">
        <p14:creationId xmlns:p14="http://schemas.microsoft.com/office/powerpoint/2010/main" val="3005437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8EADE1-23D5-4D33-9D37-201E23C90A22}" type="slidenum">
              <a:rPr lang="en-US" smtClean="0"/>
              <a:t>3</a:t>
            </a:fld>
            <a:endParaRPr lang="en-US"/>
          </a:p>
        </p:txBody>
      </p:sp>
    </p:spTree>
    <p:extLst>
      <p:ext uri="{BB962C8B-B14F-4D97-AF65-F5344CB8AC3E}">
        <p14:creationId xmlns:p14="http://schemas.microsoft.com/office/powerpoint/2010/main" val="21573716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8EADE1-23D5-4D33-9D37-201E23C90A22}" type="slidenum">
              <a:rPr lang="en-US" smtClean="0"/>
              <a:t>4</a:t>
            </a:fld>
            <a:endParaRPr lang="en-US"/>
          </a:p>
        </p:txBody>
      </p:sp>
    </p:spTree>
    <p:extLst>
      <p:ext uri="{BB962C8B-B14F-4D97-AF65-F5344CB8AC3E}">
        <p14:creationId xmlns:p14="http://schemas.microsoft.com/office/powerpoint/2010/main" val="4230877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8EADE1-23D5-4D33-9D37-201E23C90A22}" type="slidenum">
              <a:rPr lang="en-US" smtClean="0"/>
              <a:t>5</a:t>
            </a:fld>
            <a:endParaRPr lang="en-US"/>
          </a:p>
        </p:txBody>
      </p:sp>
    </p:spTree>
    <p:extLst>
      <p:ext uri="{BB962C8B-B14F-4D97-AF65-F5344CB8AC3E}">
        <p14:creationId xmlns:p14="http://schemas.microsoft.com/office/powerpoint/2010/main" val="982903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8EADE1-23D5-4D33-9D37-201E23C90A22}" type="slidenum">
              <a:rPr lang="en-US" smtClean="0"/>
              <a:t>6</a:t>
            </a:fld>
            <a:endParaRPr lang="en-US"/>
          </a:p>
        </p:txBody>
      </p:sp>
    </p:spTree>
    <p:extLst>
      <p:ext uri="{BB962C8B-B14F-4D97-AF65-F5344CB8AC3E}">
        <p14:creationId xmlns:p14="http://schemas.microsoft.com/office/powerpoint/2010/main" val="3785911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8EADE1-23D5-4D33-9D37-201E23C90A22}" type="slidenum">
              <a:rPr lang="en-US" smtClean="0"/>
              <a:t>7</a:t>
            </a:fld>
            <a:endParaRPr lang="en-US"/>
          </a:p>
        </p:txBody>
      </p:sp>
    </p:spTree>
    <p:extLst>
      <p:ext uri="{BB962C8B-B14F-4D97-AF65-F5344CB8AC3E}">
        <p14:creationId xmlns:p14="http://schemas.microsoft.com/office/powerpoint/2010/main" val="1375527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19D4B-85E0-824E-9AAE-F8F83F78E9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98072E-1673-4DC5-393C-4EB781C5FC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59F991-596A-CDD3-C28B-F7AB2A97B8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9FAF51-A722-BF0E-D321-653065CDD092}"/>
              </a:ext>
            </a:extLst>
          </p:cNvPr>
          <p:cNvSpPr>
            <a:spLocks noGrp="1"/>
          </p:cNvSpPr>
          <p:nvPr>
            <p:ph type="sldNum" sz="quarter" idx="5"/>
          </p:nvPr>
        </p:nvSpPr>
        <p:spPr/>
        <p:txBody>
          <a:bodyPr/>
          <a:lstStyle/>
          <a:p>
            <a:fld id="{8D8EADE1-23D5-4D33-9D37-201E23C90A22}" type="slidenum">
              <a:rPr lang="en-US" smtClean="0"/>
              <a:t>8</a:t>
            </a:fld>
            <a:endParaRPr lang="en-US"/>
          </a:p>
        </p:txBody>
      </p:sp>
    </p:spTree>
    <p:extLst>
      <p:ext uri="{BB962C8B-B14F-4D97-AF65-F5344CB8AC3E}">
        <p14:creationId xmlns:p14="http://schemas.microsoft.com/office/powerpoint/2010/main" val="4895234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8EADE1-23D5-4D33-9D37-201E23C90A22}" type="slidenum">
              <a:rPr lang="en-US" smtClean="0"/>
              <a:t>9</a:t>
            </a:fld>
            <a:endParaRPr lang="en-US"/>
          </a:p>
        </p:txBody>
      </p:sp>
    </p:spTree>
    <p:extLst>
      <p:ext uri="{BB962C8B-B14F-4D97-AF65-F5344CB8AC3E}">
        <p14:creationId xmlns:p14="http://schemas.microsoft.com/office/powerpoint/2010/main" val="739794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8EADE1-23D5-4D33-9D37-201E23C90A22}" type="slidenum">
              <a:rPr lang="en-US" smtClean="0"/>
              <a:t>10</a:t>
            </a:fld>
            <a:endParaRPr lang="en-US"/>
          </a:p>
        </p:txBody>
      </p:sp>
    </p:spTree>
    <p:extLst>
      <p:ext uri="{BB962C8B-B14F-4D97-AF65-F5344CB8AC3E}">
        <p14:creationId xmlns:p14="http://schemas.microsoft.com/office/powerpoint/2010/main" val="26309976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8EADE1-23D5-4D33-9D37-201E23C90A22}" type="slidenum">
              <a:rPr lang="en-US" smtClean="0"/>
              <a:t>11</a:t>
            </a:fld>
            <a:endParaRPr lang="en-US"/>
          </a:p>
        </p:txBody>
      </p:sp>
    </p:spTree>
    <p:extLst>
      <p:ext uri="{BB962C8B-B14F-4D97-AF65-F5344CB8AC3E}">
        <p14:creationId xmlns:p14="http://schemas.microsoft.com/office/powerpoint/2010/main" val="1942698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8EADE1-23D5-4D33-9D37-201E23C90A22}" type="slidenum">
              <a:rPr lang="en-US" smtClean="0"/>
              <a:t>12</a:t>
            </a:fld>
            <a:endParaRPr lang="en-US"/>
          </a:p>
        </p:txBody>
      </p:sp>
    </p:spTree>
    <p:extLst>
      <p:ext uri="{BB962C8B-B14F-4D97-AF65-F5344CB8AC3E}">
        <p14:creationId xmlns:p14="http://schemas.microsoft.com/office/powerpoint/2010/main" val="23005018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2EAFA-EABD-5065-51CA-A16BEBF6A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2FFEA-57F2-5127-78B9-4BEC43F6E5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69999B-77A0-2D8B-67A9-3624913703BC}"/>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9D1291B-CFE8-5094-D689-C04A41FAD6AE}"/>
              </a:ext>
            </a:extLst>
          </p:cNvPr>
          <p:cNvSpPr>
            <a:spLocks noGrp="1"/>
          </p:cNvSpPr>
          <p:nvPr>
            <p:ph type="sldNum" sz="quarter" idx="5"/>
          </p:nvPr>
        </p:nvSpPr>
        <p:spPr/>
        <p:txBody>
          <a:bodyPr/>
          <a:lstStyle/>
          <a:p>
            <a:fld id="{8D8EADE1-23D5-4D33-9D37-201E23C90A22}" type="slidenum">
              <a:rPr lang="en-US" smtClean="0"/>
              <a:t>13</a:t>
            </a:fld>
            <a:endParaRPr lang="en-US"/>
          </a:p>
        </p:txBody>
      </p:sp>
    </p:spTree>
    <p:extLst>
      <p:ext uri="{BB962C8B-B14F-4D97-AF65-F5344CB8AC3E}">
        <p14:creationId xmlns:p14="http://schemas.microsoft.com/office/powerpoint/2010/main" val="27579753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F0E6F-0E70-0678-6F31-D8E2B726EF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12300-BD9A-CA9F-7482-D7F976ED80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8BAF52-A499-08BC-48BF-196F537E4F7E}"/>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115A055-5A1B-4E47-63A1-DF2B0EF59232}"/>
              </a:ext>
            </a:extLst>
          </p:cNvPr>
          <p:cNvSpPr>
            <a:spLocks noGrp="1"/>
          </p:cNvSpPr>
          <p:nvPr>
            <p:ph type="sldNum" sz="quarter" idx="5"/>
          </p:nvPr>
        </p:nvSpPr>
        <p:spPr/>
        <p:txBody>
          <a:bodyPr/>
          <a:lstStyle/>
          <a:p>
            <a:fld id="{8D8EADE1-23D5-4D33-9D37-201E23C90A22}" type="slidenum">
              <a:rPr lang="en-US" smtClean="0"/>
              <a:t>14</a:t>
            </a:fld>
            <a:endParaRPr lang="en-US"/>
          </a:p>
        </p:txBody>
      </p:sp>
    </p:spTree>
    <p:extLst>
      <p:ext uri="{BB962C8B-B14F-4D97-AF65-F5344CB8AC3E}">
        <p14:creationId xmlns:p14="http://schemas.microsoft.com/office/powerpoint/2010/main" val="13967120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8512-A974-DE1F-F56B-C0F75FEE01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FF5389-DA59-B3B2-3AD0-F5EB74E2F2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32972D-DB78-96E1-54DA-5FA0F3FC09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B9FE4C-5C71-BA4E-F938-413B6FE7B02D}"/>
              </a:ext>
            </a:extLst>
          </p:cNvPr>
          <p:cNvSpPr>
            <a:spLocks noGrp="1"/>
          </p:cNvSpPr>
          <p:nvPr>
            <p:ph type="sldNum" sz="quarter" idx="5"/>
          </p:nvPr>
        </p:nvSpPr>
        <p:spPr/>
        <p:txBody>
          <a:bodyPr/>
          <a:lstStyle/>
          <a:p>
            <a:fld id="{8D8EADE1-23D5-4D33-9D37-201E23C90A22}" type="slidenum">
              <a:rPr lang="en-US" smtClean="0"/>
              <a:t>15</a:t>
            </a:fld>
            <a:endParaRPr lang="en-US"/>
          </a:p>
        </p:txBody>
      </p:sp>
    </p:spTree>
    <p:extLst>
      <p:ext uri="{BB962C8B-B14F-4D97-AF65-F5344CB8AC3E}">
        <p14:creationId xmlns:p14="http://schemas.microsoft.com/office/powerpoint/2010/main" val="36335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C7AB8-83D7-3C79-8DC6-2494DA80FA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28AF04-9258-0FAF-7615-17046C42EB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458047-1C71-333A-6396-F270243509BD}"/>
              </a:ext>
            </a:extLst>
          </p:cNvPr>
          <p:cNvSpPr>
            <a:spLocks noGrp="1"/>
          </p:cNvSpPr>
          <p:nvPr>
            <p:ph type="dt" sz="half" idx="10"/>
          </p:nvPr>
        </p:nvSpPr>
        <p:spPr/>
        <p:txBody>
          <a:bodyPr/>
          <a:lstStyle/>
          <a:p>
            <a:fld id="{73F16DA1-46B7-4688-B9C4-C6F7F8E219DB}" type="datetimeFigureOut">
              <a:rPr lang="en-US" smtClean="0"/>
              <a:t>10/29/2026</a:t>
            </a:fld>
            <a:endParaRPr lang="en-US"/>
          </a:p>
        </p:txBody>
      </p:sp>
      <p:sp>
        <p:nvSpPr>
          <p:cNvPr id="5" name="Footer Placeholder 4">
            <a:extLst>
              <a:ext uri="{FF2B5EF4-FFF2-40B4-BE49-F238E27FC236}">
                <a16:creationId xmlns:a16="http://schemas.microsoft.com/office/drawing/2014/main" id="{233376E1-0491-C9E5-7944-544FD14619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821F6-5E8A-BC79-0C8E-E18F30D9DF7D}"/>
              </a:ext>
            </a:extLst>
          </p:cNvPr>
          <p:cNvSpPr>
            <a:spLocks noGrp="1"/>
          </p:cNvSpPr>
          <p:nvPr>
            <p:ph type="sldNum" sz="quarter" idx="12"/>
          </p:nvPr>
        </p:nvSpPr>
        <p:spPr/>
        <p:txBody>
          <a:bodyPr/>
          <a:lstStyle/>
          <a:p>
            <a:fld id="{B0A324F0-6BD9-4F99-9B69-C34DA094007C}" type="slidenum">
              <a:rPr lang="en-US" smtClean="0"/>
              <a:t>‹#›</a:t>
            </a:fld>
            <a:endParaRPr lang="en-US"/>
          </a:p>
        </p:txBody>
      </p:sp>
    </p:spTree>
    <p:extLst>
      <p:ext uri="{BB962C8B-B14F-4D97-AF65-F5344CB8AC3E}">
        <p14:creationId xmlns:p14="http://schemas.microsoft.com/office/powerpoint/2010/main" val="2977590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E9681-F4A0-0ACB-780A-D3E772704D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5D31A7-B658-3106-1BA1-0B5BD900E1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42277B-63B1-443C-1923-43BEB7B149F9}"/>
              </a:ext>
            </a:extLst>
          </p:cNvPr>
          <p:cNvSpPr>
            <a:spLocks noGrp="1"/>
          </p:cNvSpPr>
          <p:nvPr>
            <p:ph type="dt" sz="half" idx="10"/>
          </p:nvPr>
        </p:nvSpPr>
        <p:spPr/>
        <p:txBody>
          <a:bodyPr/>
          <a:lstStyle/>
          <a:p>
            <a:fld id="{73F16DA1-46B7-4688-B9C4-C6F7F8E219DB}" type="datetimeFigureOut">
              <a:rPr lang="en-US" smtClean="0"/>
              <a:t>10/29/2026</a:t>
            </a:fld>
            <a:endParaRPr lang="en-US"/>
          </a:p>
        </p:txBody>
      </p:sp>
      <p:sp>
        <p:nvSpPr>
          <p:cNvPr id="5" name="Footer Placeholder 4">
            <a:extLst>
              <a:ext uri="{FF2B5EF4-FFF2-40B4-BE49-F238E27FC236}">
                <a16:creationId xmlns:a16="http://schemas.microsoft.com/office/drawing/2014/main" id="{9726CA3D-74B3-15F5-3FE3-C43D63E6BB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625811-4DEE-F68B-A6D0-3CF337403400}"/>
              </a:ext>
            </a:extLst>
          </p:cNvPr>
          <p:cNvSpPr>
            <a:spLocks noGrp="1"/>
          </p:cNvSpPr>
          <p:nvPr>
            <p:ph type="sldNum" sz="quarter" idx="12"/>
          </p:nvPr>
        </p:nvSpPr>
        <p:spPr/>
        <p:txBody>
          <a:bodyPr/>
          <a:lstStyle/>
          <a:p>
            <a:fld id="{B0A324F0-6BD9-4F99-9B69-C34DA094007C}" type="slidenum">
              <a:rPr lang="en-US" smtClean="0"/>
              <a:t>‹#›</a:t>
            </a:fld>
            <a:endParaRPr lang="en-US"/>
          </a:p>
        </p:txBody>
      </p:sp>
    </p:spTree>
    <p:extLst>
      <p:ext uri="{BB962C8B-B14F-4D97-AF65-F5344CB8AC3E}">
        <p14:creationId xmlns:p14="http://schemas.microsoft.com/office/powerpoint/2010/main" val="3891770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46C1E-1E63-13D8-3ACE-DBB6432B42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13642B-FAC1-24CB-BDCF-07805C3C88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901F7C-83D4-58B3-255E-3CACB073968D}"/>
              </a:ext>
            </a:extLst>
          </p:cNvPr>
          <p:cNvSpPr>
            <a:spLocks noGrp="1"/>
          </p:cNvSpPr>
          <p:nvPr>
            <p:ph type="dt" sz="half" idx="10"/>
          </p:nvPr>
        </p:nvSpPr>
        <p:spPr/>
        <p:txBody>
          <a:bodyPr/>
          <a:lstStyle/>
          <a:p>
            <a:fld id="{73F16DA1-46B7-4688-B9C4-C6F7F8E219DB}" type="datetimeFigureOut">
              <a:rPr lang="en-US" smtClean="0"/>
              <a:t>10/29/2026</a:t>
            </a:fld>
            <a:endParaRPr lang="en-US"/>
          </a:p>
        </p:txBody>
      </p:sp>
      <p:sp>
        <p:nvSpPr>
          <p:cNvPr id="5" name="Footer Placeholder 4">
            <a:extLst>
              <a:ext uri="{FF2B5EF4-FFF2-40B4-BE49-F238E27FC236}">
                <a16:creationId xmlns:a16="http://schemas.microsoft.com/office/drawing/2014/main" id="{F1FE6A36-C417-093B-DE44-EFCBB7C248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5335C8-9CCE-39D2-02E8-573F72132B00}"/>
              </a:ext>
            </a:extLst>
          </p:cNvPr>
          <p:cNvSpPr>
            <a:spLocks noGrp="1"/>
          </p:cNvSpPr>
          <p:nvPr>
            <p:ph type="sldNum" sz="quarter" idx="12"/>
          </p:nvPr>
        </p:nvSpPr>
        <p:spPr/>
        <p:txBody>
          <a:bodyPr/>
          <a:lstStyle/>
          <a:p>
            <a:fld id="{B0A324F0-6BD9-4F99-9B69-C34DA094007C}" type="slidenum">
              <a:rPr lang="en-US" smtClean="0"/>
              <a:t>‹#›</a:t>
            </a:fld>
            <a:endParaRPr lang="en-US"/>
          </a:p>
        </p:txBody>
      </p:sp>
    </p:spTree>
    <p:extLst>
      <p:ext uri="{BB962C8B-B14F-4D97-AF65-F5344CB8AC3E}">
        <p14:creationId xmlns:p14="http://schemas.microsoft.com/office/powerpoint/2010/main" val="1877593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7825C-311D-C206-0AE0-2C6E3A8D6E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BB1979-9537-F333-5DBD-8D0A5F0970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F0C6E2-B057-3FC4-AF9D-05B937905C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26FAE95-355A-0178-19E3-9C43CC04CEA4}"/>
              </a:ext>
            </a:extLst>
          </p:cNvPr>
          <p:cNvSpPr>
            <a:spLocks noGrp="1"/>
          </p:cNvSpPr>
          <p:nvPr>
            <p:ph type="dt" sz="half" idx="10"/>
          </p:nvPr>
        </p:nvSpPr>
        <p:spPr/>
        <p:txBody>
          <a:bodyPr/>
          <a:lstStyle/>
          <a:p>
            <a:fld id="{73F16DA1-46B7-4688-B9C4-C6F7F8E219DB}" type="datetimeFigureOut">
              <a:rPr lang="en-US" smtClean="0"/>
              <a:t>10/29/2026</a:t>
            </a:fld>
            <a:endParaRPr lang="en-US"/>
          </a:p>
        </p:txBody>
      </p:sp>
      <p:sp>
        <p:nvSpPr>
          <p:cNvPr id="6" name="Footer Placeholder 5">
            <a:extLst>
              <a:ext uri="{FF2B5EF4-FFF2-40B4-BE49-F238E27FC236}">
                <a16:creationId xmlns:a16="http://schemas.microsoft.com/office/drawing/2014/main" id="{E0AFACD9-43FA-4CCF-0E6F-000227AD1B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717D80-6D88-832F-93D5-35062AFB1D8D}"/>
              </a:ext>
            </a:extLst>
          </p:cNvPr>
          <p:cNvSpPr>
            <a:spLocks noGrp="1"/>
          </p:cNvSpPr>
          <p:nvPr>
            <p:ph type="sldNum" sz="quarter" idx="12"/>
          </p:nvPr>
        </p:nvSpPr>
        <p:spPr/>
        <p:txBody>
          <a:bodyPr/>
          <a:lstStyle/>
          <a:p>
            <a:fld id="{B0A324F0-6BD9-4F99-9B69-C34DA094007C}" type="slidenum">
              <a:rPr lang="en-US" smtClean="0"/>
              <a:t>‹#›</a:t>
            </a:fld>
            <a:endParaRPr lang="en-US"/>
          </a:p>
        </p:txBody>
      </p:sp>
    </p:spTree>
    <p:extLst>
      <p:ext uri="{BB962C8B-B14F-4D97-AF65-F5344CB8AC3E}">
        <p14:creationId xmlns:p14="http://schemas.microsoft.com/office/powerpoint/2010/main" val="3994534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36182-8E8E-5DE9-9894-47C45A38F3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3A7651-7649-283C-E2FD-A932776CBF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317CAF-191B-8A81-AA29-A57D36AB84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DE9DE2-093F-75F7-63F3-011FA5EEE9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AE0A85-8901-C39E-A295-38F41D72B2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357E54-086E-AF81-66E5-D1B3475531FC}"/>
              </a:ext>
            </a:extLst>
          </p:cNvPr>
          <p:cNvSpPr>
            <a:spLocks noGrp="1"/>
          </p:cNvSpPr>
          <p:nvPr>
            <p:ph type="dt" sz="half" idx="10"/>
          </p:nvPr>
        </p:nvSpPr>
        <p:spPr/>
        <p:txBody>
          <a:bodyPr/>
          <a:lstStyle/>
          <a:p>
            <a:fld id="{73F16DA1-46B7-4688-B9C4-C6F7F8E219DB}" type="datetimeFigureOut">
              <a:rPr lang="en-US" smtClean="0"/>
              <a:t>10/29/2026</a:t>
            </a:fld>
            <a:endParaRPr lang="en-US"/>
          </a:p>
        </p:txBody>
      </p:sp>
      <p:sp>
        <p:nvSpPr>
          <p:cNvPr id="8" name="Footer Placeholder 7">
            <a:extLst>
              <a:ext uri="{FF2B5EF4-FFF2-40B4-BE49-F238E27FC236}">
                <a16:creationId xmlns:a16="http://schemas.microsoft.com/office/drawing/2014/main" id="{9EB783AD-CEEE-AAEB-5953-195A34C7C42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7B1B084-1206-E535-EF68-D0816E0EF29C}"/>
              </a:ext>
            </a:extLst>
          </p:cNvPr>
          <p:cNvSpPr>
            <a:spLocks noGrp="1"/>
          </p:cNvSpPr>
          <p:nvPr>
            <p:ph type="sldNum" sz="quarter" idx="12"/>
          </p:nvPr>
        </p:nvSpPr>
        <p:spPr/>
        <p:txBody>
          <a:bodyPr/>
          <a:lstStyle/>
          <a:p>
            <a:fld id="{B0A324F0-6BD9-4F99-9B69-C34DA094007C}" type="slidenum">
              <a:rPr lang="en-US" smtClean="0"/>
              <a:t>‹#›</a:t>
            </a:fld>
            <a:endParaRPr lang="en-US"/>
          </a:p>
        </p:txBody>
      </p:sp>
    </p:spTree>
    <p:extLst>
      <p:ext uri="{BB962C8B-B14F-4D97-AF65-F5344CB8AC3E}">
        <p14:creationId xmlns:p14="http://schemas.microsoft.com/office/powerpoint/2010/main" val="4082057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81DA3-AB7C-BC29-3F23-96683075725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2BC035-049F-82C5-69CD-5EE1EC2440D4}"/>
              </a:ext>
            </a:extLst>
          </p:cNvPr>
          <p:cNvSpPr>
            <a:spLocks noGrp="1"/>
          </p:cNvSpPr>
          <p:nvPr>
            <p:ph type="dt" sz="half" idx="10"/>
          </p:nvPr>
        </p:nvSpPr>
        <p:spPr/>
        <p:txBody>
          <a:bodyPr/>
          <a:lstStyle/>
          <a:p>
            <a:fld id="{73F16DA1-46B7-4688-B9C4-C6F7F8E219DB}" type="datetimeFigureOut">
              <a:rPr lang="en-US" smtClean="0"/>
              <a:t>10/29/2026</a:t>
            </a:fld>
            <a:endParaRPr lang="en-US"/>
          </a:p>
        </p:txBody>
      </p:sp>
      <p:sp>
        <p:nvSpPr>
          <p:cNvPr id="4" name="Footer Placeholder 3">
            <a:extLst>
              <a:ext uri="{FF2B5EF4-FFF2-40B4-BE49-F238E27FC236}">
                <a16:creationId xmlns:a16="http://schemas.microsoft.com/office/drawing/2014/main" id="{1E8ED685-8D25-26DA-AF92-1614B8B91A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58CDEE-FCD8-3D6B-5A4E-728C38879A3D}"/>
              </a:ext>
            </a:extLst>
          </p:cNvPr>
          <p:cNvSpPr>
            <a:spLocks noGrp="1"/>
          </p:cNvSpPr>
          <p:nvPr>
            <p:ph type="sldNum" sz="quarter" idx="12"/>
          </p:nvPr>
        </p:nvSpPr>
        <p:spPr/>
        <p:txBody>
          <a:bodyPr/>
          <a:lstStyle/>
          <a:p>
            <a:fld id="{B0A324F0-6BD9-4F99-9B69-C34DA094007C}" type="slidenum">
              <a:rPr lang="en-US" smtClean="0"/>
              <a:t>‹#›</a:t>
            </a:fld>
            <a:endParaRPr lang="en-US"/>
          </a:p>
        </p:txBody>
      </p:sp>
    </p:spTree>
    <p:extLst>
      <p:ext uri="{BB962C8B-B14F-4D97-AF65-F5344CB8AC3E}">
        <p14:creationId xmlns:p14="http://schemas.microsoft.com/office/powerpoint/2010/main" val="2934744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7C3E0B-C749-CF24-FC08-AC5F4286C0CA}"/>
              </a:ext>
            </a:extLst>
          </p:cNvPr>
          <p:cNvSpPr>
            <a:spLocks noGrp="1"/>
          </p:cNvSpPr>
          <p:nvPr>
            <p:ph type="dt" sz="half" idx="10"/>
          </p:nvPr>
        </p:nvSpPr>
        <p:spPr/>
        <p:txBody>
          <a:bodyPr/>
          <a:lstStyle/>
          <a:p>
            <a:fld id="{73F16DA1-46B7-4688-B9C4-C6F7F8E219DB}" type="datetimeFigureOut">
              <a:rPr lang="en-US" smtClean="0"/>
              <a:t>10/29/2026</a:t>
            </a:fld>
            <a:endParaRPr lang="en-US"/>
          </a:p>
        </p:txBody>
      </p:sp>
      <p:sp>
        <p:nvSpPr>
          <p:cNvPr id="3" name="Footer Placeholder 2">
            <a:extLst>
              <a:ext uri="{FF2B5EF4-FFF2-40B4-BE49-F238E27FC236}">
                <a16:creationId xmlns:a16="http://schemas.microsoft.com/office/drawing/2014/main" id="{9953F849-B127-F5D5-A59A-D65371CF0A8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11BD13-8C3B-6A19-FFA7-DF32B1B34B2D}"/>
              </a:ext>
            </a:extLst>
          </p:cNvPr>
          <p:cNvSpPr>
            <a:spLocks noGrp="1"/>
          </p:cNvSpPr>
          <p:nvPr>
            <p:ph type="sldNum" sz="quarter" idx="12"/>
          </p:nvPr>
        </p:nvSpPr>
        <p:spPr/>
        <p:txBody>
          <a:bodyPr/>
          <a:lstStyle/>
          <a:p>
            <a:fld id="{B0A324F0-6BD9-4F99-9B69-C34DA094007C}" type="slidenum">
              <a:rPr lang="en-US" smtClean="0"/>
              <a:t>‹#›</a:t>
            </a:fld>
            <a:endParaRPr lang="en-US"/>
          </a:p>
        </p:txBody>
      </p:sp>
    </p:spTree>
    <p:extLst>
      <p:ext uri="{BB962C8B-B14F-4D97-AF65-F5344CB8AC3E}">
        <p14:creationId xmlns:p14="http://schemas.microsoft.com/office/powerpoint/2010/main" val="147673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CECE-3E04-8732-EB93-8B28E1793A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2EE063-9590-FA12-6485-D75E56D82B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8D8566-5621-8526-03B0-4A7627518A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D4A418-7B2A-0450-B1B3-1B49F1E20F1D}"/>
              </a:ext>
            </a:extLst>
          </p:cNvPr>
          <p:cNvSpPr>
            <a:spLocks noGrp="1"/>
          </p:cNvSpPr>
          <p:nvPr>
            <p:ph type="dt" sz="half" idx="10"/>
          </p:nvPr>
        </p:nvSpPr>
        <p:spPr/>
        <p:txBody>
          <a:bodyPr/>
          <a:lstStyle/>
          <a:p>
            <a:fld id="{73F16DA1-46B7-4688-B9C4-C6F7F8E219DB}" type="datetimeFigureOut">
              <a:rPr lang="en-US" smtClean="0"/>
              <a:t>10/29/2026</a:t>
            </a:fld>
            <a:endParaRPr lang="en-US"/>
          </a:p>
        </p:txBody>
      </p:sp>
      <p:sp>
        <p:nvSpPr>
          <p:cNvPr id="6" name="Footer Placeholder 5">
            <a:extLst>
              <a:ext uri="{FF2B5EF4-FFF2-40B4-BE49-F238E27FC236}">
                <a16:creationId xmlns:a16="http://schemas.microsoft.com/office/drawing/2014/main" id="{92787BF4-53DD-718D-5FC8-8D1ECD7259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007396-48A4-1862-8682-3A5B96AFC5D4}"/>
              </a:ext>
            </a:extLst>
          </p:cNvPr>
          <p:cNvSpPr>
            <a:spLocks noGrp="1"/>
          </p:cNvSpPr>
          <p:nvPr>
            <p:ph type="sldNum" sz="quarter" idx="12"/>
          </p:nvPr>
        </p:nvSpPr>
        <p:spPr/>
        <p:txBody>
          <a:bodyPr/>
          <a:lstStyle/>
          <a:p>
            <a:fld id="{B0A324F0-6BD9-4F99-9B69-C34DA094007C}" type="slidenum">
              <a:rPr lang="en-US" smtClean="0"/>
              <a:t>‹#›</a:t>
            </a:fld>
            <a:endParaRPr lang="en-US"/>
          </a:p>
        </p:txBody>
      </p:sp>
    </p:spTree>
    <p:extLst>
      <p:ext uri="{BB962C8B-B14F-4D97-AF65-F5344CB8AC3E}">
        <p14:creationId xmlns:p14="http://schemas.microsoft.com/office/powerpoint/2010/main" val="2548223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2FC5B-1E8A-216A-6224-1399074BFE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C1F6E2-CB9A-CD39-BA95-040A1D5C81B1}"/>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7BE6B7B-3026-A685-497B-B59271F185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6EC0C6-6CBC-8552-4FD7-5BEA5C721E3C}"/>
              </a:ext>
            </a:extLst>
          </p:cNvPr>
          <p:cNvSpPr>
            <a:spLocks noGrp="1"/>
          </p:cNvSpPr>
          <p:nvPr>
            <p:ph type="dt" sz="half" idx="10"/>
          </p:nvPr>
        </p:nvSpPr>
        <p:spPr/>
        <p:txBody>
          <a:bodyPr/>
          <a:lstStyle/>
          <a:p>
            <a:fld id="{73F16DA1-46B7-4688-B9C4-C6F7F8E219DB}" type="datetimeFigureOut">
              <a:rPr lang="en-US" smtClean="0"/>
              <a:t>10/29/2026</a:t>
            </a:fld>
            <a:endParaRPr lang="en-US"/>
          </a:p>
        </p:txBody>
      </p:sp>
      <p:sp>
        <p:nvSpPr>
          <p:cNvPr id="6" name="Footer Placeholder 5">
            <a:extLst>
              <a:ext uri="{FF2B5EF4-FFF2-40B4-BE49-F238E27FC236}">
                <a16:creationId xmlns:a16="http://schemas.microsoft.com/office/drawing/2014/main" id="{8FFD9A3F-7728-8FEB-A92E-A685805798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DAE56B-175D-5F20-0D43-BC0F8F9EDC2D}"/>
              </a:ext>
            </a:extLst>
          </p:cNvPr>
          <p:cNvSpPr>
            <a:spLocks noGrp="1"/>
          </p:cNvSpPr>
          <p:nvPr>
            <p:ph type="sldNum" sz="quarter" idx="12"/>
          </p:nvPr>
        </p:nvSpPr>
        <p:spPr/>
        <p:txBody>
          <a:bodyPr/>
          <a:lstStyle/>
          <a:p>
            <a:fld id="{B0A324F0-6BD9-4F99-9B69-C34DA094007C}" type="slidenum">
              <a:rPr lang="en-US" smtClean="0"/>
              <a:t>‹#›</a:t>
            </a:fld>
            <a:endParaRPr lang="en-US"/>
          </a:p>
        </p:txBody>
      </p:sp>
    </p:spTree>
    <p:extLst>
      <p:ext uri="{BB962C8B-B14F-4D97-AF65-F5344CB8AC3E}">
        <p14:creationId xmlns:p14="http://schemas.microsoft.com/office/powerpoint/2010/main" val="2640462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BD0B7-5477-BB24-CFD6-6E85897F1D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3D74C74-1ED4-DFE6-2181-E946F327A5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7AF942-D489-A138-6057-78C0907BF5F1}"/>
              </a:ext>
            </a:extLst>
          </p:cNvPr>
          <p:cNvSpPr>
            <a:spLocks noGrp="1"/>
          </p:cNvSpPr>
          <p:nvPr>
            <p:ph type="dt" sz="half" idx="10"/>
          </p:nvPr>
        </p:nvSpPr>
        <p:spPr/>
        <p:txBody>
          <a:bodyPr/>
          <a:lstStyle/>
          <a:p>
            <a:fld id="{73F16DA1-46B7-4688-B9C4-C6F7F8E219DB}" type="datetimeFigureOut">
              <a:rPr lang="en-US" smtClean="0"/>
              <a:t>10/29/2026</a:t>
            </a:fld>
            <a:endParaRPr lang="en-US"/>
          </a:p>
        </p:txBody>
      </p:sp>
      <p:sp>
        <p:nvSpPr>
          <p:cNvPr id="5" name="Footer Placeholder 4">
            <a:extLst>
              <a:ext uri="{FF2B5EF4-FFF2-40B4-BE49-F238E27FC236}">
                <a16:creationId xmlns:a16="http://schemas.microsoft.com/office/drawing/2014/main" id="{6AFBAE11-344C-9D59-3755-175674FA3F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EAA756-640C-E3C1-FE39-70E1BEAA1BC1}"/>
              </a:ext>
            </a:extLst>
          </p:cNvPr>
          <p:cNvSpPr>
            <a:spLocks noGrp="1"/>
          </p:cNvSpPr>
          <p:nvPr>
            <p:ph type="sldNum" sz="quarter" idx="12"/>
          </p:nvPr>
        </p:nvSpPr>
        <p:spPr/>
        <p:txBody>
          <a:bodyPr/>
          <a:lstStyle/>
          <a:p>
            <a:fld id="{B0A324F0-6BD9-4F99-9B69-C34DA094007C}" type="slidenum">
              <a:rPr lang="en-US" smtClean="0"/>
              <a:t>‹#›</a:t>
            </a:fld>
            <a:endParaRPr lang="en-US"/>
          </a:p>
        </p:txBody>
      </p:sp>
    </p:spTree>
    <p:extLst>
      <p:ext uri="{BB962C8B-B14F-4D97-AF65-F5344CB8AC3E}">
        <p14:creationId xmlns:p14="http://schemas.microsoft.com/office/powerpoint/2010/main" val="3940651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2F0B42-3456-DC2A-9D4B-2E82F6B2D1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8B7532-EA2F-2520-25A4-E73F63F9E9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1161C6-125A-A346-47CE-7E29E0609120}"/>
              </a:ext>
            </a:extLst>
          </p:cNvPr>
          <p:cNvSpPr>
            <a:spLocks noGrp="1"/>
          </p:cNvSpPr>
          <p:nvPr>
            <p:ph type="dt" sz="half" idx="10"/>
          </p:nvPr>
        </p:nvSpPr>
        <p:spPr/>
        <p:txBody>
          <a:bodyPr/>
          <a:lstStyle/>
          <a:p>
            <a:fld id="{73F16DA1-46B7-4688-B9C4-C6F7F8E219DB}" type="datetimeFigureOut">
              <a:rPr lang="en-US" smtClean="0"/>
              <a:t>10/29/2026</a:t>
            </a:fld>
            <a:endParaRPr lang="en-US"/>
          </a:p>
        </p:txBody>
      </p:sp>
      <p:sp>
        <p:nvSpPr>
          <p:cNvPr id="5" name="Footer Placeholder 4">
            <a:extLst>
              <a:ext uri="{FF2B5EF4-FFF2-40B4-BE49-F238E27FC236}">
                <a16:creationId xmlns:a16="http://schemas.microsoft.com/office/drawing/2014/main" id="{E453A1AF-809D-D707-9F0B-5AE27FDDCD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49225B-A21B-8297-99F3-4002BC3A07A0}"/>
              </a:ext>
            </a:extLst>
          </p:cNvPr>
          <p:cNvSpPr>
            <a:spLocks noGrp="1"/>
          </p:cNvSpPr>
          <p:nvPr>
            <p:ph type="sldNum" sz="quarter" idx="12"/>
          </p:nvPr>
        </p:nvSpPr>
        <p:spPr/>
        <p:txBody>
          <a:bodyPr/>
          <a:lstStyle/>
          <a:p>
            <a:fld id="{B0A324F0-6BD9-4F99-9B69-C34DA094007C}" type="slidenum">
              <a:rPr lang="en-US" smtClean="0"/>
              <a:t>‹#›</a:t>
            </a:fld>
            <a:endParaRPr lang="en-US"/>
          </a:p>
        </p:txBody>
      </p:sp>
    </p:spTree>
    <p:extLst>
      <p:ext uri="{BB962C8B-B14F-4D97-AF65-F5344CB8AC3E}">
        <p14:creationId xmlns:p14="http://schemas.microsoft.com/office/powerpoint/2010/main" val="2691111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536A85-4432-5ADF-AC67-4C2B433F7A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A07F6D-3011-C915-B391-BE2A8EE363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ECBCB4-D71E-5668-9373-AD0AA8A2C2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F16DA1-46B7-4688-B9C4-C6F7F8E219DB}" type="datetimeFigureOut">
              <a:rPr lang="en-US" smtClean="0"/>
              <a:t>10/29/2026</a:t>
            </a:fld>
            <a:endParaRPr lang="en-US"/>
          </a:p>
        </p:txBody>
      </p:sp>
      <p:sp>
        <p:nvSpPr>
          <p:cNvPr id="5" name="Footer Placeholder 4">
            <a:extLst>
              <a:ext uri="{FF2B5EF4-FFF2-40B4-BE49-F238E27FC236}">
                <a16:creationId xmlns:a16="http://schemas.microsoft.com/office/drawing/2014/main" id="{E1CA1779-1FC0-BDB5-C18B-850434ECCD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2C87867-4247-47C0-3A7D-E53C3786E6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A324F0-6BD9-4F99-9B69-C34DA094007C}" type="slidenum">
              <a:rPr lang="en-US" smtClean="0"/>
              <a:t>‹#›</a:t>
            </a:fld>
            <a:endParaRPr lang="en-US"/>
          </a:p>
        </p:txBody>
      </p:sp>
    </p:spTree>
    <p:extLst>
      <p:ext uri="{BB962C8B-B14F-4D97-AF65-F5344CB8AC3E}">
        <p14:creationId xmlns:p14="http://schemas.microsoft.com/office/powerpoint/2010/main" val="3452995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E6508-3050-CD8B-4FE4-9CB650195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4EB1AD-FB9B-3718-2EF4-D8057E49E8D2}"/>
              </a:ext>
            </a:extLst>
          </p:cNvPr>
          <p:cNvSpPr>
            <a:spLocks noGrp="1"/>
          </p:cNvSpPr>
          <p:nvPr>
            <p:ph type="ctrTitle"/>
          </p:nvPr>
        </p:nvSpPr>
        <p:spPr/>
        <p:txBody>
          <a:bodyPr/>
          <a:lstStyle/>
          <a:p>
            <a:r>
              <a:rPr lang="en-US" dirty="0">
                <a:solidFill>
                  <a:srgbClr val="C00000"/>
                </a:solidFill>
              </a:rPr>
              <a:t>Binary Heap</a:t>
            </a:r>
          </a:p>
        </p:txBody>
      </p:sp>
    </p:spTree>
    <p:extLst>
      <p:ext uri="{BB962C8B-B14F-4D97-AF65-F5344CB8AC3E}">
        <p14:creationId xmlns:p14="http://schemas.microsoft.com/office/powerpoint/2010/main" val="23434729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2CC40-5484-4B08-E077-4823CDD3B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42F3D9-8AB1-2BF4-338D-AC720A28AD94}"/>
              </a:ext>
            </a:extLst>
          </p:cNvPr>
          <p:cNvSpPr>
            <a:spLocks noGrp="1"/>
          </p:cNvSpPr>
          <p:nvPr>
            <p:ph type="title"/>
          </p:nvPr>
        </p:nvSpPr>
        <p:spPr/>
        <p:txBody>
          <a:bodyPr/>
          <a:lstStyle/>
          <a:p>
            <a:r>
              <a:rPr lang="en-US" dirty="0">
                <a:solidFill>
                  <a:srgbClr val="C00000"/>
                </a:solidFill>
              </a:rPr>
              <a:t>Abstract Data Type &amp; Data Structures</a:t>
            </a:r>
          </a:p>
        </p:txBody>
      </p:sp>
      <p:sp>
        <p:nvSpPr>
          <p:cNvPr id="3" name="Rectangle 2">
            <a:extLst>
              <a:ext uri="{FF2B5EF4-FFF2-40B4-BE49-F238E27FC236}">
                <a16:creationId xmlns:a16="http://schemas.microsoft.com/office/drawing/2014/main" id="{79B34A11-7BE1-025E-4EAA-7BDD01F52BBB}"/>
              </a:ext>
            </a:extLst>
          </p:cNvPr>
          <p:cNvSpPr/>
          <p:nvPr/>
        </p:nvSpPr>
        <p:spPr>
          <a:xfrm>
            <a:off x="7655899" y="1886698"/>
            <a:ext cx="1839619" cy="353088"/>
          </a:xfrm>
          <a:prstGeom prst="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Stack</a:t>
            </a:r>
          </a:p>
        </p:txBody>
      </p:sp>
      <p:sp>
        <p:nvSpPr>
          <p:cNvPr id="6" name="TextBox 5">
            <a:extLst>
              <a:ext uri="{FF2B5EF4-FFF2-40B4-BE49-F238E27FC236}">
                <a16:creationId xmlns:a16="http://schemas.microsoft.com/office/drawing/2014/main" id="{77D3AC6D-4D2E-E3F2-1324-F445D6715731}"/>
              </a:ext>
            </a:extLst>
          </p:cNvPr>
          <p:cNvSpPr txBox="1"/>
          <p:nvPr/>
        </p:nvSpPr>
        <p:spPr>
          <a:xfrm>
            <a:off x="7815967" y="2292648"/>
            <a:ext cx="1510018" cy="369332"/>
          </a:xfrm>
          <a:prstGeom prst="rect">
            <a:avLst/>
          </a:prstGeom>
          <a:solidFill>
            <a:schemeClr val="accent6">
              <a:lumMod val="20000"/>
              <a:lumOff val="80000"/>
            </a:schemeClr>
          </a:solidFill>
        </p:spPr>
        <p:txBody>
          <a:bodyPr wrap="square" rtlCol="0">
            <a:spAutoFit/>
          </a:bodyPr>
          <a:lstStyle/>
          <a:p>
            <a:pPr algn="ctr"/>
            <a:r>
              <a:rPr lang="en-US" dirty="0" err="1"/>
              <a:t>isEmpty</a:t>
            </a:r>
            <a:endParaRPr lang="en-US" dirty="0"/>
          </a:p>
        </p:txBody>
      </p:sp>
      <p:sp>
        <p:nvSpPr>
          <p:cNvPr id="11" name="TextBox 10">
            <a:extLst>
              <a:ext uri="{FF2B5EF4-FFF2-40B4-BE49-F238E27FC236}">
                <a16:creationId xmlns:a16="http://schemas.microsoft.com/office/drawing/2014/main" id="{67C348D7-D0BF-8C58-9376-141368673224}"/>
              </a:ext>
            </a:extLst>
          </p:cNvPr>
          <p:cNvSpPr txBox="1"/>
          <p:nvPr/>
        </p:nvSpPr>
        <p:spPr>
          <a:xfrm>
            <a:off x="7815967" y="2678759"/>
            <a:ext cx="1510018" cy="369332"/>
          </a:xfrm>
          <a:prstGeom prst="rect">
            <a:avLst/>
          </a:prstGeom>
          <a:solidFill>
            <a:schemeClr val="accent6">
              <a:lumMod val="20000"/>
              <a:lumOff val="80000"/>
            </a:schemeClr>
          </a:solidFill>
        </p:spPr>
        <p:txBody>
          <a:bodyPr wrap="square" rtlCol="0">
            <a:spAutoFit/>
          </a:bodyPr>
          <a:lstStyle/>
          <a:p>
            <a:pPr algn="ctr"/>
            <a:r>
              <a:rPr lang="en-US" dirty="0"/>
              <a:t>pop</a:t>
            </a:r>
          </a:p>
        </p:txBody>
      </p:sp>
      <p:sp>
        <p:nvSpPr>
          <p:cNvPr id="13" name="TextBox 12">
            <a:extLst>
              <a:ext uri="{FF2B5EF4-FFF2-40B4-BE49-F238E27FC236}">
                <a16:creationId xmlns:a16="http://schemas.microsoft.com/office/drawing/2014/main" id="{438E688D-F33C-A01B-0F9F-D33F59502A8D}"/>
              </a:ext>
            </a:extLst>
          </p:cNvPr>
          <p:cNvSpPr txBox="1"/>
          <p:nvPr/>
        </p:nvSpPr>
        <p:spPr>
          <a:xfrm>
            <a:off x="7817828" y="3068724"/>
            <a:ext cx="1510018" cy="369332"/>
          </a:xfrm>
          <a:prstGeom prst="rect">
            <a:avLst/>
          </a:prstGeom>
          <a:solidFill>
            <a:schemeClr val="accent6">
              <a:lumMod val="20000"/>
              <a:lumOff val="80000"/>
            </a:schemeClr>
          </a:solidFill>
        </p:spPr>
        <p:txBody>
          <a:bodyPr wrap="square" rtlCol="0">
            <a:spAutoFit/>
          </a:bodyPr>
          <a:lstStyle/>
          <a:p>
            <a:pPr algn="ctr"/>
            <a:r>
              <a:rPr lang="en-US" dirty="0"/>
              <a:t>peek</a:t>
            </a:r>
          </a:p>
        </p:txBody>
      </p:sp>
      <p:sp>
        <p:nvSpPr>
          <p:cNvPr id="15" name="TextBox 14">
            <a:extLst>
              <a:ext uri="{FF2B5EF4-FFF2-40B4-BE49-F238E27FC236}">
                <a16:creationId xmlns:a16="http://schemas.microsoft.com/office/drawing/2014/main" id="{8BFF6002-B8D6-D17A-1D1A-73C5924B1DA6}"/>
              </a:ext>
            </a:extLst>
          </p:cNvPr>
          <p:cNvSpPr txBox="1"/>
          <p:nvPr/>
        </p:nvSpPr>
        <p:spPr>
          <a:xfrm>
            <a:off x="7815967" y="3452821"/>
            <a:ext cx="1510018" cy="369332"/>
          </a:xfrm>
          <a:prstGeom prst="rect">
            <a:avLst/>
          </a:prstGeom>
          <a:solidFill>
            <a:schemeClr val="accent6">
              <a:lumMod val="20000"/>
              <a:lumOff val="80000"/>
            </a:schemeClr>
          </a:solidFill>
        </p:spPr>
        <p:txBody>
          <a:bodyPr wrap="square" rtlCol="0">
            <a:spAutoFit/>
          </a:bodyPr>
          <a:lstStyle/>
          <a:p>
            <a:pPr algn="ctr"/>
            <a:r>
              <a:rPr lang="en-US" dirty="0"/>
              <a:t>push</a:t>
            </a:r>
          </a:p>
        </p:txBody>
      </p:sp>
      <p:sp>
        <p:nvSpPr>
          <p:cNvPr id="39" name="TextBox 38">
            <a:extLst>
              <a:ext uri="{FF2B5EF4-FFF2-40B4-BE49-F238E27FC236}">
                <a16:creationId xmlns:a16="http://schemas.microsoft.com/office/drawing/2014/main" id="{F1813DEB-4246-58C6-A440-D253E8B7A3F6}"/>
              </a:ext>
            </a:extLst>
          </p:cNvPr>
          <p:cNvSpPr txBox="1"/>
          <p:nvPr/>
        </p:nvSpPr>
        <p:spPr>
          <a:xfrm>
            <a:off x="5844684" y="2274459"/>
            <a:ext cx="1510018" cy="369332"/>
          </a:xfrm>
          <a:prstGeom prst="rect">
            <a:avLst/>
          </a:prstGeom>
          <a:solidFill>
            <a:schemeClr val="accent5">
              <a:lumMod val="20000"/>
              <a:lumOff val="80000"/>
            </a:schemeClr>
          </a:solidFill>
        </p:spPr>
        <p:txBody>
          <a:bodyPr wrap="square" rtlCol="0">
            <a:spAutoFit/>
          </a:bodyPr>
          <a:lstStyle/>
          <a:p>
            <a:pPr algn="ctr"/>
            <a:r>
              <a:rPr lang="en-US" dirty="0" err="1"/>
              <a:t>isEmpty</a:t>
            </a:r>
            <a:endParaRPr lang="en-US" dirty="0"/>
          </a:p>
        </p:txBody>
      </p:sp>
      <p:sp>
        <p:nvSpPr>
          <p:cNvPr id="40" name="TextBox 39">
            <a:extLst>
              <a:ext uri="{FF2B5EF4-FFF2-40B4-BE49-F238E27FC236}">
                <a16:creationId xmlns:a16="http://schemas.microsoft.com/office/drawing/2014/main" id="{66B99B87-28C2-A230-4D2C-25850F69464B}"/>
              </a:ext>
            </a:extLst>
          </p:cNvPr>
          <p:cNvSpPr txBox="1"/>
          <p:nvPr/>
        </p:nvSpPr>
        <p:spPr>
          <a:xfrm>
            <a:off x="5844684" y="2660570"/>
            <a:ext cx="1510018" cy="369332"/>
          </a:xfrm>
          <a:prstGeom prst="rect">
            <a:avLst/>
          </a:prstGeom>
          <a:solidFill>
            <a:schemeClr val="accent5">
              <a:lumMod val="20000"/>
              <a:lumOff val="80000"/>
            </a:schemeClr>
          </a:solidFill>
        </p:spPr>
        <p:txBody>
          <a:bodyPr wrap="square" rtlCol="0">
            <a:spAutoFit/>
          </a:bodyPr>
          <a:lstStyle/>
          <a:p>
            <a:pPr algn="ctr"/>
            <a:r>
              <a:rPr lang="en-US" dirty="0"/>
              <a:t>dequeue</a:t>
            </a:r>
          </a:p>
        </p:txBody>
      </p:sp>
      <p:sp>
        <p:nvSpPr>
          <p:cNvPr id="41" name="TextBox 40">
            <a:extLst>
              <a:ext uri="{FF2B5EF4-FFF2-40B4-BE49-F238E27FC236}">
                <a16:creationId xmlns:a16="http://schemas.microsoft.com/office/drawing/2014/main" id="{ED8E84DB-ED0C-251D-AB28-6624E4281D16}"/>
              </a:ext>
            </a:extLst>
          </p:cNvPr>
          <p:cNvSpPr txBox="1"/>
          <p:nvPr/>
        </p:nvSpPr>
        <p:spPr>
          <a:xfrm>
            <a:off x="5841134" y="3050535"/>
            <a:ext cx="1510018" cy="369332"/>
          </a:xfrm>
          <a:prstGeom prst="rect">
            <a:avLst/>
          </a:prstGeom>
          <a:solidFill>
            <a:schemeClr val="accent5">
              <a:lumMod val="20000"/>
              <a:lumOff val="80000"/>
            </a:schemeClr>
          </a:solidFill>
        </p:spPr>
        <p:txBody>
          <a:bodyPr wrap="square" rtlCol="0">
            <a:spAutoFit/>
          </a:bodyPr>
          <a:lstStyle/>
          <a:p>
            <a:pPr algn="ctr"/>
            <a:r>
              <a:rPr lang="en-US" dirty="0"/>
              <a:t>peek</a:t>
            </a:r>
          </a:p>
        </p:txBody>
      </p:sp>
      <p:sp>
        <p:nvSpPr>
          <p:cNvPr id="42" name="TextBox 41">
            <a:extLst>
              <a:ext uri="{FF2B5EF4-FFF2-40B4-BE49-F238E27FC236}">
                <a16:creationId xmlns:a16="http://schemas.microsoft.com/office/drawing/2014/main" id="{A5D84E23-2EFC-FEC9-E358-C6FFA39B0018}"/>
              </a:ext>
            </a:extLst>
          </p:cNvPr>
          <p:cNvSpPr txBox="1"/>
          <p:nvPr/>
        </p:nvSpPr>
        <p:spPr>
          <a:xfrm>
            <a:off x="5839273" y="3434632"/>
            <a:ext cx="1510018" cy="369332"/>
          </a:xfrm>
          <a:prstGeom prst="rect">
            <a:avLst/>
          </a:prstGeom>
          <a:solidFill>
            <a:schemeClr val="accent5">
              <a:lumMod val="20000"/>
              <a:lumOff val="80000"/>
            </a:schemeClr>
          </a:solidFill>
        </p:spPr>
        <p:txBody>
          <a:bodyPr wrap="square" rtlCol="0">
            <a:spAutoFit/>
          </a:bodyPr>
          <a:lstStyle/>
          <a:p>
            <a:pPr algn="ctr"/>
            <a:r>
              <a:rPr lang="en-US" dirty="0"/>
              <a:t>enqueue</a:t>
            </a:r>
          </a:p>
        </p:txBody>
      </p:sp>
      <p:sp>
        <p:nvSpPr>
          <p:cNvPr id="43" name="Rectangle 42">
            <a:extLst>
              <a:ext uri="{FF2B5EF4-FFF2-40B4-BE49-F238E27FC236}">
                <a16:creationId xmlns:a16="http://schemas.microsoft.com/office/drawing/2014/main" id="{288AD300-D6DE-E679-F6F0-B92D0D8EA184}"/>
              </a:ext>
            </a:extLst>
          </p:cNvPr>
          <p:cNvSpPr/>
          <p:nvPr/>
        </p:nvSpPr>
        <p:spPr>
          <a:xfrm>
            <a:off x="5710291" y="1864658"/>
            <a:ext cx="1774692" cy="353088"/>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Queue</a:t>
            </a:r>
          </a:p>
        </p:txBody>
      </p:sp>
      <p:sp>
        <p:nvSpPr>
          <p:cNvPr id="44" name="Rectangle 43">
            <a:extLst>
              <a:ext uri="{FF2B5EF4-FFF2-40B4-BE49-F238E27FC236}">
                <a16:creationId xmlns:a16="http://schemas.microsoft.com/office/drawing/2014/main" id="{6864BB5F-CCD3-B63F-C578-AB2A37218B06}"/>
              </a:ext>
            </a:extLst>
          </p:cNvPr>
          <p:cNvSpPr/>
          <p:nvPr/>
        </p:nvSpPr>
        <p:spPr>
          <a:xfrm>
            <a:off x="3477502" y="1690688"/>
            <a:ext cx="8276963" cy="2328362"/>
          </a:xfrm>
          <a:prstGeom prst="rect">
            <a:avLst/>
          </a:prstGeom>
          <a:noFill/>
          <a:ln>
            <a:solidFill>
              <a:schemeClr val="bg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CDA3360-F7C8-76C0-F848-FCAD2B610569}"/>
              </a:ext>
            </a:extLst>
          </p:cNvPr>
          <p:cNvSpPr/>
          <p:nvPr/>
        </p:nvSpPr>
        <p:spPr>
          <a:xfrm>
            <a:off x="6043898" y="1285195"/>
            <a:ext cx="2436259" cy="469784"/>
          </a:xfrm>
          <a:prstGeom prst="rect">
            <a:avLst/>
          </a:prstGeom>
          <a:solidFill>
            <a:schemeClr val="bg2">
              <a:lumMod val="90000"/>
            </a:schemeClr>
          </a:solidFill>
          <a:ln>
            <a:solidFill>
              <a:schemeClr val="bg2"/>
            </a:solidFill>
            <a:prstDash val="dash"/>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t>Abstract Data Type</a:t>
            </a:r>
          </a:p>
        </p:txBody>
      </p:sp>
      <p:sp>
        <p:nvSpPr>
          <p:cNvPr id="19" name="Left Brace 18">
            <a:extLst>
              <a:ext uri="{FF2B5EF4-FFF2-40B4-BE49-F238E27FC236}">
                <a16:creationId xmlns:a16="http://schemas.microsoft.com/office/drawing/2014/main" id="{F0EEEAA9-7DF4-64EC-97E1-364CE782B7CC}"/>
              </a:ext>
            </a:extLst>
          </p:cNvPr>
          <p:cNvSpPr/>
          <p:nvPr/>
        </p:nvSpPr>
        <p:spPr>
          <a:xfrm>
            <a:off x="2723103" y="1652562"/>
            <a:ext cx="447152" cy="257405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4" name="Left Brace 23">
            <a:extLst>
              <a:ext uri="{FF2B5EF4-FFF2-40B4-BE49-F238E27FC236}">
                <a16:creationId xmlns:a16="http://schemas.microsoft.com/office/drawing/2014/main" id="{289216EB-0A29-6FF4-75F9-1ABFADD85770}"/>
              </a:ext>
            </a:extLst>
          </p:cNvPr>
          <p:cNvSpPr/>
          <p:nvPr/>
        </p:nvSpPr>
        <p:spPr>
          <a:xfrm>
            <a:off x="2725341" y="4305328"/>
            <a:ext cx="447152" cy="228097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5" name="Rectangle 24">
            <a:extLst>
              <a:ext uri="{FF2B5EF4-FFF2-40B4-BE49-F238E27FC236}">
                <a16:creationId xmlns:a16="http://schemas.microsoft.com/office/drawing/2014/main" id="{D8CD417C-41F9-7888-A090-E1C1770B7FD8}"/>
              </a:ext>
            </a:extLst>
          </p:cNvPr>
          <p:cNvSpPr/>
          <p:nvPr/>
        </p:nvSpPr>
        <p:spPr>
          <a:xfrm>
            <a:off x="6494423" y="5064893"/>
            <a:ext cx="1883327" cy="358385"/>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LinkedList</a:t>
            </a:r>
          </a:p>
        </p:txBody>
      </p:sp>
      <p:sp>
        <p:nvSpPr>
          <p:cNvPr id="26" name="Rectangle 25">
            <a:extLst>
              <a:ext uri="{FF2B5EF4-FFF2-40B4-BE49-F238E27FC236}">
                <a16:creationId xmlns:a16="http://schemas.microsoft.com/office/drawing/2014/main" id="{00402C0A-67DF-4E9B-5E8D-77E84B63A892}"/>
              </a:ext>
            </a:extLst>
          </p:cNvPr>
          <p:cNvSpPr/>
          <p:nvPr/>
        </p:nvSpPr>
        <p:spPr>
          <a:xfrm>
            <a:off x="3477502" y="4787004"/>
            <a:ext cx="8260291" cy="1681530"/>
          </a:xfrm>
          <a:prstGeom prst="rect">
            <a:avLst/>
          </a:prstGeom>
          <a:noFill/>
          <a:ln w="285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1891F71-0AA3-488D-4361-DC645A401D94}"/>
              </a:ext>
            </a:extLst>
          </p:cNvPr>
          <p:cNvSpPr/>
          <p:nvPr/>
        </p:nvSpPr>
        <p:spPr>
          <a:xfrm>
            <a:off x="6043897" y="4356933"/>
            <a:ext cx="2436259" cy="484937"/>
          </a:xfrm>
          <a:prstGeom prst="rect">
            <a:avLst/>
          </a:prstGeom>
          <a:solidFill>
            <a:schemeClr val="bg2">
              <a:lumMod val="90000"/>
            </a:schemeClr>
          </a:solidFill>
          <a:ln w="38100">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t>Data Structure</a:t>
            </a:r>
          </a:p>
        </p:txBody>
      </p:sp>
      <p:sp>
        <p:nvSpPr>
          <p:cNvPr id="29" name="Rectangle 28">
            <a:extLst>
              <a:ext uri="{FF2B5EF4-FFF2-40B4-BE49-F238E27FC236}">
                <a16:creationId xmlns:a16="http://schemas.microsoft.com/office/drawing/2014/main" id="{152F9810-3CE9-D1F7-15BE-F42360169478}"/>
              </a:ext>
            </a:extLst>
          </p:cNvPr>
          <p:cNvSpPr/>
          <p:nvPr/>
        </p:nvSpPr>
        <p:spPr>
          <a:xfrm>
            <a:off x="4828423" y="5888769"/>
            <a:ext cx="1883327" cy="358385"/>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rPr>
              <a:t>ArrayList</a:t>
            </a:r>
            <a:endParaRPr lang="en-US" sz="2000" dirty="0">
              <a:solidFill>
                <a:schemeClr val="tx1"/>
              </a:solidFill>
            </a:endParaRPr>
          </a:p>
        </p:txBody>
      </p:sp>
      <p:sp>
        <p:nvSpPr>
          <p:cNvPr id="31" name="Rectangle 30">
            <a:extLst>
              <a:ext uri="{FF2B5EF4-FFF2-40B4-BE49-F238E27FC236}">
                <a16:creationId xmlns:a16="http://schemas.microsoft.com/office/drawing/2014/main" id="{0098311E-6A5B-9EEE-E1C4-8480DD96BB2C}"/>
              </a:ext>
            </a:extLst>
          </p:cNvPr>
          <p:cNvSpPr/>
          <p:nvPr/>
        </p:nvSpPr>
        <p:spPr>
          <a:xfrm>
            <a:off x="3664411" y="5066568"/>
            <a:ext cx="1883327" cy="358385"/>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Array</a:t>
            </a:r>
          </a:p>
        </p:txBody>
      </p:sp>
      <p:sp>
        <p:nvSpPr>
          <p:cNvPr id="34" name="TextBox 33">
            <a:extLst>
              <a:ext uri="{FF2B5EF4-FFF2-40B4-BE49-F238E27FC236}">
                <a16:creationId xmlns:a16="http://schemas.microsoft.com/office/drawing/2014/main" id="{E23688BE-B17F-D11A-C567-9F22AA52183A}"/>
              </a:ext>
            </a:extLst>
          </p:cNvPr>
          <p:cNvSpPr txBox="1"/>
          <p:nvPr/>
        </p:nvSpPr>
        <p:spPr>
          <a:xfrm>
            <a:off x="356717" y="2217413"/>
            <a:ext cx="2366386" cy="1477328"/>
          </a:xfrm>
          <a:prstGeom prst="rect">
            <a:avLst/>
          </a:prstGeom>
          <a:noFill/>
        </p:spPr>
        <p:txBody>
          <a:bodyPr wrap="square">
            <a:spAutoFit/>
          </a:bodyPr>
          <a:lstStyle/>
          <a:p>
            <a:pPr algn="ctr"/>
            <a:r>
              <a:rPr lang="en-US" b="1" i="0" dirty="0">
                <a:solidFill>
                  <a:srgbClr val="212529"/>
                </a:solidFill>
                <a:effectLst/>
                <a:latin typeface="system-ui"/>
              </a:rPr>
              <a:t>Contract: </a:t>
            </a:r>
            <a:r>
              <a:rPr lang="en-US" b="0" i="0" dirty="0">
                <a:solidFill>
                  <a:srgbClr val="212529"/>
                </a:solidFill>
                <a:effectLst/>
                <a:latin typeface="system-ui"/>
              </a:rPr>
              <a:t>formal description of the behavior of a data type </a:t>
            </a:r>
          </a:p>
          <a:p>
            <a:pPr algn="ctr"/>
            <a:r>
              <a:rPr lang="en-US" b="0" i="0" dirty="0">
                <a:solidFill>
                  <a:srgbClr val="212529"/>
                </a:solidFill>
                <a:effectLst/>
                <a:latin typeface="system-ui"/>
              </a:rPr>
              <a:t>(</a:t>
            </a:r>
            <a:r>
              <a:rPr lang="en-US" b="0" i="1" dirty="0">
                <a:solidFill>
                  <a:srgbClr val="212529"/>
                </a:solidFill>
                <a:effectLst/>
                <a:latin typeface="system-ui"/>
              </a:rPr>
              <a:t>What Operations The Data Type Has?</a:t>
            </a:r>
            <a:r>
              <a:rPr lang="en-US" b="0" dirty="0">
                <a:solidFill>
                  <a:srgbClr val="212529"/>
                </a:solidFill>
                <a:effectLst/>
                <a:latin typeface="system-ui"/>
              </a:rPr>
              <a:t>)</a:t>
            </a:r>
            <a:endParaRPr lang="en-US" dirty="0"/>
          </a:p>
        </p:txBody>
      </p:sp>
      <p:sp>
        <p:nvSpPr>
          <p:cNvPr id="35" name="TextBox 34">
            <a:extLst>
              <a:ext uri="{FF2B5EF4-FFF2-40B4-BE49-F238E27FC236}">
                <a16:creationId xmlns:a16="http://schemas.microsoft.com/office/drawing/2014/main" id="{6306009A-4391-5CEC-B33C-5B4910F483D2}"/>
              </a:ext>
            </a:extLst>
          </p:cNvPr>
          <p:cNvSpPr txBox="1"/>
          <p:nvPr/>
        </p:nvSpPr>
        <p:spPr>
          <a:xfrm>
            <a:off x="158506" y="5052387"/>
            <a:ext cx="2699598" cy="923330"/>
          </a:xfrm>
          <a:prstGeom prst="rect">
            <a:avLst/>
          </a:prstGeom>
          <a:noFill/>
        </p:spPr>
        <p:txBody>
          <a:bodyPr wrap="square">
            <a:spAutoFit/>
          </a:bodyPr>
          <a:lstStyle/>
          <a:p>
            <a:pPr algn="ctr"/>
            <a:r>
              <a:rPr lang="en-US" b="1" i="0" dirty="0">
                <a:solidFill>
                  <a:srgbClr val="212529"/>
                </a:solidFill>
                <a:effectLst/>
                <a:latin typeface="system-ui"/>
              </a:rPr>
              <a:t>Implementation:</a:t>
            </a:r>
          </a:p>
          <a:p>
            <a:pPr algn="ctr"/>
            <a:r>
              <a:rPr lang="en-US" b="1" i="0" dirty="0">
                <a:solidFill>
                  <a:srgbClr val="212529"/>
                </a:solidFill>
                <a:effectLst/>
                <a:latin typeface="system-ui"/>
              </a:rPr>
              <a:t> </a:t>
            </a:r>
            <a:r>
              <a:rPr lang="en-US" b="0" i="0" dirty="0">
                <a:solidFill>
                  <a:srgbClr val="212529"/>
                </a:solidFill>
                <a:effectLst/>
                <a:latin typeface="system-ui"/>
              </a:rPr>
              <a:t>(</a:t>
            </a:r>
            <a:r>
              <a:rPr lang="en-US" b="0" i="1" dirty="0">
                <a:solidFill>
                  <a:srgbClr val="212529"/>
                </a:solidFill>
                <a:effectLst/>
                <a:latin typeface="system-ui"/>
              </a:rPr>
              <a:t>How Are These Operations Implemented?</a:t>
            </a:r>
            <a:r>
              <a:rPr lang="en-US" b="0" dirty="0">
                <a:solidFill>
                  <a:srgbClr val="212529"/>
                </a:solidFill>
                <a:effectLst/>
                <a:latin typeface="system-ui"/>
              </a:rPr>
              <a:t>)</a:t>
            </a:r>
            <a:endParaRPr lang="en-US" dirty="0"/>
          </a:p>
        </p:txBody>
      </p:sp>
      <p:sp>
        <p:nvSpPr>
          <p:cNvPr id="7" name="Rectangle 6">
            <a:extLst>
              <a:ext uri="{FF2B5EF4-FFF2-40B4-BE49-F238E27FC236}">
                <a16:creationId xmlns:a16="http://schemas.microsoft.com/office/drawing/2014/main" id="{EE86846D-5D5D-2FC4-E729-D8282865BF96}"/>
              </a:ext>
            </a:extLst>
          </p:cNvPr>
          <p:cNvSpPr/>
          <p:nvPr/>
        </p:nvSpPr>
        <p:spPr>
          <a:xfrm>
            <a:off x="9633835" y="1881428"/>
            <a:ext cx="1839620" cy="353088"/>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Priority Queue</a:t>
            </a:r>
          </a:p>
        </p:txBody>
      </p:sp>
      <p:sp>
        <p:nvSpPr>
          <p:cNvPr id="9" name="TextBox 8">
            <a:extLst>
              <a:ext uri="{FF2B5EF4-FFF2-40B4-BE49-F238E27FC236}">
                <a16:creationId xmlns:a16="http://schemas.microsoft.com/office/drawing/2014/main" id="{475BD0C4-22F2-EEA1-1B4D-7D1EC61BF284}"/>
              </a:ext>
            </a:extLst>
          </p:cNvPr>
          <p:cNvSpPr txBox="1"/>
          <p:nvPr/>
        </p:nvSpPr>
        <p:spPr>
          <a:xfrm>
            <a:off x="9810931" y="2276534"/>
            <a:ext cx="1510018" cy="369332"/>
          </a:xfrm>
          <a:prstGeom prst="rect">
            <a:avLst/>
          </a:prstGeom>
          <a:solidFill>
            <a:schemeClr val="tx2">
              <a:lumMod val="10000"/>
              <a:lumOff val="90000"/>
            </a:schemeClr>
          </a:solidFill>
          <a:ln>
            <a:solidFill>
              <a:schemeClr val="accent4">
                <a:lumMod val="20000"/>
                <a:lumOff val="80000"/>
              </a:schemeClr>
            </a:solidFill>
          </a:ln>
        </p:spPr>
        <p:txBody>
          <a:bodyPr wrap="square" rtlCol="0">
            <a:spAutoFit/>
          </a:bodyPr>
          <a:lstStyle/>
          <a:p>
            <a:pPr algn="ctr"/>
            <a:r>
              <a:rPr lang="en-US" dirty="0"/>
              <a:t>add</a:t>
            </a:r>
          </a:p>
        </p:txBody>
      </p:sp>
      <p:sp>
        <p:nvSpPr>
          <p:cNvPr id="20" name="TextBox 19">
            <a:extLst>
              <a:ext uri="{FF2B5EF4-FFF2-40B4-BE49-F238E27FC236}">
                <a16:creationId xmlns:a16="http://schemas.microsoft.com/office/drawing/2014/main" id="{9641C688-6719-A7CC-1999-4D39FA9F5C33}"/>
              </a:ext>
            </a:extLst>
          </p:cNvPr>
          <p:cNvSpPr txBox="1"/>
          <p:nvPr/>
        </p:nvSpPr>
        <p:spPr>
          <a:xfrm>
            <a:off x="9810931" y="2659016"/>
            <a:ext cx="1510018" cy="369332"/>
          </a:xfrm>
          <a:prstGeom prst="rect">
            <a:avLst/>
          </a:prstGeom>
          <a:solidFill>
            <a:schemeClr val="tx2">
              <a:lumMod val="10000"/>
              <a:lumOff val="90000"/>
            </a:schemeClr>
          </a:solidFill>
          <a:ln>
            <a:solidFill>
              <a:schemeClr val="accent4">
                <a:lumMod val="20000"/>
                <a:lumOff val="80000"/>
              </a:schemeClr>
            </a:solidFill>
          </a:ln>
        </p:spPr>
        <p:txBody>
          <a:bodyPr wrap="square" rtlCol="0">
            <a:spAutoFit/>
          </a:bodyPr>
          <a:lstStyle/>
          <a:p>
            <a:pPr algn="ctr"/>
            <a:r>
              <a:rPr lang="en-US" dirty="0" err="1"/>
              <a:t>removeMax</a:t>
            </a:r>
            <a:endParaRPr lang="en-US" dirty="0"/>
          </a:p>
        </p:txBody>
      </p:sp>
      <p:sp>
        <p:nvSpPr>
          <p:cNvPr id="22" name="TextBox 21">
            <a:extLst>
              <a:ext uri="{FF2B5EF4-FFF2-40B4-BE49-F238E27FC236}">
                <a16:creationId xmlns:a16="http://schemas.microsoft.com/office/drawing/2014/main" id="{DEC1C2FD-721D-E8D1-877E-AF4011BA0E28}"/>
              </a:ext>
            </a:extLst>
          </p:cNvPr>
          <p:cNvSpPr txBox="1"/>
          <p:nvPr/>
        </p:nvSpPr>
        <p:spPr>
          <a:xfrm>
            <a:off x="9810931" y="3047618"/>
            <a:ext cx="1510018" cy="369332"/>
          </a:xfrm>
          <a:prstGeom prst="rect">
            <a:avLst/>
          </a:prstGeom>
          <a:solidFill>
            <a:schemeClr val="tx2">
              <a:lumMod val="10000"/>
              <a:lumOff val="90000"/>
            </a:schemeClr>
          </a:solidFill>
          <a:ln>
            <a:solidFill>
              <a:schemeClr val="accent4">
                <a:lumMod val="20000"/>
                <a:lumOff val="80000"/>
              </a:schemeClr>
            </a:solidFill>
          </a:ln>
        </p:spPr>
        <p:txBody>
          <a:bodyPr wrap="square" rtlCol="0">
            <a:spAutoFit/>
          </a:bodyPr>
          <a:lstStyle/>
          <a:p>
            <a:pPr algn="ctr"/>
            <a:r>
              <a:rPr lang="en-US" dirty="0" err="1"/>
              <a:t>peekMax</a:t>
            </a:r>
            <a:endParaRPr lang="en-US" sz="1300" dirty="0"/>
          </a:p>
        </p:txBody>
      </p:sp>
      <p:sp>
        <p:nvSpPr>
          <p:cNvPr id="36" name="Rectangle 35">
            <a:extLst>
              <a:ext uri="{FF2B5EF4-FFF2-40B4-BE49-F238E27FC236}">
                <a16:creationId xmlns:a16="http://schemas.microsoft.com/office/drawing/2014/main" id="{44078383-D789-983C-E836-E292375312B2}"/>
              </a:ext>
            </a:extLst>
          </p:cNvPr>
          <p:cNvSpPr/>
          <p:nvPr/>
        </p:nvSpPr>
        <p:spPr>
          <a:xfrm>
            <a:off x="7740498" y="5888769"/>
            <a:ext cx="2436259" cy="358385"/>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Binary Search Tree</a:t>
            </a:r>
          </a:p>
        </p:txBody>
      </p:sp>
      <p:sp>
        <p:nvSpPr>
          <p:cNvPr id="38" name="Rectangle 37">
            <a:extLst>
              <a:ext uri="{FF2B5EF4-FFF2-40B4-BE49-F238E27FC236}">
                <a16:creationId xmlns:a16="http://schemas.microsoft.com/office/drawing/2014/main" id="{C0606E99-0F14-0CED-6A85-E928751BBB00}"/>
              </a:ext>
            </a:extLst>
          </p:cNvPr>
          <p:cNvSpPr/>
          <p:nvPr/>
        </p:nvSpPr>
        <p:spPr>
          <a:xfrm>
            <a:off x="9511344" y="5064893"/>
            <a:ext cx="1883327" cy="358385"/>
          </a:xfrm>
          <a:prstGeom prst="rect">
            <a:avLst/>
          </a:prstGeom>
          <a:solidFill>
            <a:schemeClr val="bg1"/>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Binary Heap</a:t>
            </a:r>
          </a:p>
        </p:txBody>
      </p:sp>
      <p:sp>
        <p:nvSpPr>
          <p:cNvPr id="46" name="Rectangle 45">
            <a:extLst>
              <a:ext uri="{FF2B5EF4-FFF2-40B4-BE49-F238E27FC236}">
                <a16:creationId xmlns:a16="http://schemas.microsoft.com/office/drawing/2014/main" id="{B5093DFD-16E3-DED5-3642-5615F3C311CA}"/>
              </a:ext>
            </a:extLst>
          </p:cNvPr>
          <p:cNvSpPr/>
          <p:nvPr/>
        </p:nvSpPr>
        <p:spPr>
          <a:xfrm>
            <a:off x="3702556" y="1893601"/>
            <a:ext cx="1839620" cy="353088"/>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List</a:t>
            </a:r>
          </a:p>
        </p:txBody>
      </p:sp>
      <p:sp>
        <p:nvSpPr>
          <p:cNvPr id="48" name="TextBox 47">
            <a:extLst>
              <a:ext uri="{FF2B5EF4-FFF2-40B4-BE49-F238E27FC236}">
                <a16:creationId xmlns:a16="http://schemas.microsoft.com/office/drawing/2014/main" id="{D31A87BC-7709-ED60-C359-052916B6611A}"/>
              </a:ext>
            </a:extLst>
          </p:cNvPr>
          <p:cNvSpPr txBox="1"/>
          <p:nvPr/>
        </p:nvSpPr>
        <p:spPr>
          <a:xfrm>
            <a:off x="3879652" y="2288707"/>
            <a:ext cx="1510018" cy="369332"/>
          </a:xfrm>
          <a:prstGeom prst="rect">
            <a:avLst/>
          </a:prstGeom>
          <a:solidFill>
            <a:schemeClr val="accent2">
              <a:lumMod val="20000"/>
              <a:lumOff val="80000"/>
            </a:schemeClr>
          </a:solidFill>
        </p:spPr>
        <p:txBody>
          <a:bodyPr wrap="square" rtlCol="0">
            <a:spAutoFit/>
          </a:bodyPr>
          <a:lstStyle/>
          <a:p>
            <a:pPr algn="ctr"/>
            <a:r>
              <a:rPr lang="en-US" dirty="0"/>
              <a:t>add</a:t>
            </a:r>
          </a:p>
        </p:txBody>
      </p:sp>
      <p:sp>
        <p:nvSpPr>
          <p:cNvPr id="50" name="TextBox 49">
            <a:extLst>
              <a:ext uri="{FF2B5EF4-FFF2-40B4-BE49-F238E27FC236}">
                <a16:creationId xmlns:a16="http://schemas.microsoft.com/office/drawing/2014/main" id="{DFD24B5F-C6B0-AA42-278E-2977DB40DCEB}"/>
              </a:ext>
            </a:extLst>
          </p:cNvPr>
          <p:cNvSpPr txBox="1"/>
          <p:nvPr/>
        </p:nvSpPr>
        <p:spPr>
          <a:xfrm>
            <a:off x="3879652" y="2671189"/>
            <a:ext cx="1510018" cy="369332"/>
          </a:xfrm>
          <a:prstGeom prst="rect">
            <a:avLst/>
          </a:prstGeom>
          <a:solidFill>
            <a:schemeClr val="accent2">
              <a:lumMod val="20000"/>
              <a:lumOff val="80000"/>
            </a:schemeClr>
          </a:solidFill>
        </p:spPr>
        <p:txBody>
          <a:bodyPr wrap="square" rtlCol="0">
            <a:spAutoFit/>
          </a:bodyPr>
          <a:lstStyle/>
          <a:p>
            <a:pPr algn="ctr"/>
            <a:r>
              <a:rPr lang="en-US" dirty="0"/>
              <a:t>remove</a:t>
            </a:r>
          </a:p>
        </p:txBody>
      </p:sp>
      <p:sp>
        <p:nvSpPr>
          <p:cNvPr id="52" name="TextBox 51">
            <a:extLst>
              <a:ext uri="{FF2B5EF4-FFF2-40B4-BE49-F238E27FC236}">
                <a16:creationId xmlns:a16="http://schemas.microsoft.com/office/drawing/2014/main" id="{BE946D93-16E4-9683-06F8-41657D64E961}"/>
              </a:ext>
            </a:extLst>
          </p:cNvPr>
          <p:cNvSpPr txBox="1"/>
          <p:nvPr/>
        </p:nvSpPr>
        <p:spPr>
          <a:xfrm>
            <a:off x="3879652" y="3059791"/>
            <a:ext cx="1510018" cy="369332"/>
          </a:xfrm>
          <a:prstGeom prst="rect">
            <a:avLst/>
          </a:prstGeom>
          <a:solidFill>
            <a:schemeClr val="accent2">
              <a:lumMod val="20000"/>
              <a:lumOff val="80000"/>
            </a:schemeClr>
          </a:solidFill>
        </p:spPr>
        <p:txBody>
          <a:bodyPr wrap="square" rtlCol="0">
            <a:spAutoFit/>
          </a:bodyPr>
          <a:lstStyle/>
          <a:p>
            <a:pPr algn="ctr"/>
            <a:r>
              <a:rPr lang="en-US" dirty="0"/>
              <a:t>get</a:t>
            </a:r>
            <a:endParaRPr lang="en-US" sz="1300" dirty="0"/>
          </a:p>
        </p:txBody>
      </p:sp>
      <p:sp>
        <p:nvSpPr>
          <p:cNvPr id="54" name="TextBox 53">
            <a:extLst>
              <a:ext uri="{FF2B5EF4-FFF2-40B4-BE49-F238E27FC236}">
                <a16:creationId xmlns:a16="http://schemas.microsoft.com/office/drawing/2014/main" id="{7B7FBD3A-354C-917F-6BA8-5BDE8AEF7BD0}"/>
              </a:ext>
            </a:extLst>
          </p:cNvPr>
          <p:cNvSpPr txBox="1"/>
          <p:nvPr/>
        </p:nvSpPr>
        <p:spPr>
          <a:xfrm>
            <a:off x="3879652" y="3446805"/>
            <a:ext cx="1510018" cy="369332"/>
          </a:xfrm>
          <a:prstGeom prst="rect">
            <a:avLst/>
          </a:prstGeom>
          <a:solidFill>
            <a:schemeClr val="accent2">
              <a:lumMod val="20000"/>
              <a:lumOff val="80000"/>
            </a:schemeClr>
          </a:solidFill>
        </p:spPr>
        <p:txBody>
          <a:bodyPr wrap="square" rtlCol="0">
            <a:spAutoFit/>
          </a:bodyPr>
          <a:lstStyle/>
          <a:p>
            <a:pPr algn="ctr"/>
            <a:r>
              <a:rPr lang="en-US" dirty="0"/>
              <a:t>size</a:t>
            </a:r>
          </a:p>
        </p:txBody>
      </p:sp>
    </p:spTree>
    <p:extLst>
      <p:ext uri="{BB962C8B-B14F-4D97-AF65-F5344CB8AC3E}">
        <p14:creationId xmlns:p14="http://schemas.microsoft.com/office/powerpoint/2010/main" val="275127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B6E13-8271-97AF-8A62-7AAD7D97D1CB}"/>
              </a:ext>
            </a:extLst>
          </p:cNvPr>
          <p:cNvSpPr>
            <a:spLocks noGrp="1"/>
          </p:cNvSpPr>
          <p:nvPr>
            <p:ph type="title"/>
          </p:nvPr>
        </p:nvSpPr>
        <p:spPr/>
        <p:txBody>
          <a:bodyPr/>
          <a:lstStyle/>
          <a:p>
            <a:r>
              <a:rPr lang="en-US" dirty="0">
                <a:solidFill>
                  <a:srgbClr val="C00000"/>
                </a:solidFill>
              </a:rPr>
              <a:t>Binary Heap – Properties?</a:t>
            </a:r>
            <a:endParaRPr lang="en-US" dirty="0"/>
          </a:p>
        </p:txBody>
      </p:sp>
      <p:pic>
        <p:nvPicPr>
          <p:cNvPr id="5" name="Picture 4" descr="The diagram represents a series of numerical values arranged in a hierarchical or sequential pattern, potentially indicating a flow or structure.&#10;&#10;AI-generated content may be incorrect.">
            <a:extLst>
              <a:ext uri="{FF2B5EF4-FFF2-40B4-BE49-F238E27FC236}">
                <a16:creationId xmlns:a16="http://schemas.microsoft.com/office/drawing/2014/main" id="{1B17B559-9BCE-B5FE-3F44-F4495CF6E78F}"/>
              </a:ext>
            </a:extLst>
          </p:cNvPr>
          <p:cNvPicPr>
            <a:picLocks noChangeAspect="1"/>
          </p:cNvPicPr>
          <p:nvPr/>
        </p:nvPicPr>
        <p:blipFill>
          <a:blip r:embed="rId3"/>
          <a:srcRect t="4007"/>
          <a:stretch>
            <a:fillRect/>
          </a:stretch>
        </p:blipFill>
        <p:spPr>
          <a:xfrm>
            <a:off x="533055" y="1794927"/>
            <a:ext cx="5476915" cy="3346462"/>
          </a:xfrm>
          <a:prstGeom prst="rect">
            <a:avLst/>
          </a:prstGeom>
        </p:spPr>
      </p:pic>
      <p:sp>
        <p:nvSpPr>
          <p:cNvPr id="3" name="Content Placeholder 2">
            <a:extLst>
              <a:ext uri="{FF2B5EF4-FFF2-40B4-BE49-F238E27FC236}">
                <a16:creationId xmlns:a16="http://schemas.microsoft.com/office/drawing/2014/main" id="{A6B32B2B-5BFA-23EC-1CE6-95328BE59C05}"/>
              </a:ext>
            </a:extLst>
          </p:cNvPr>
          <p:cNvSpPr>
            <a:spLocks noGrp="1"/>
          </p:cNvSpPr>
          <p:nvPr>
            <p:ph idx="1"/>
          </p:nvPr>
        </p:nvSpPr>
        <p:spPr>
          <a:xfrm>
            <a:off x="2678772" y="5452963"/>
            <a:ext cx="5816642" cy="942521"/>
          </a:xfrm>
        </p:spPr>
        <p:txBody>
          <a:bodyPr/>
          <a:lstStyle/>
          <a:p>
            <a:r>
              <a:rPr lang="en-US" dirty="0">
                <a:solidFill>
                  <a:srgbClr val="FF0000"/>
                </a:solidFill>
              </a:rPr>
              <a:t>Why is it good for Priority Queue?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C93BEE1-1DB1-694F-33A2-9AC832392C4A}"/>
                  </a:ext>
                </a:extLst>
              </p:cNvPr>
              <p:cNvSpPr txBox="1"/>
              <p:nvPr/>
            </p:nvSpPr>
            <p:spPr>
              <a:xfrm>
                <a:off x="6801637" y="1720840"/>
                <a:ext cx="4995531" cy="3139321"/>
              </a:xfrm>
              <a:prstGeom prst="rect">
                <a:avLst/>
              </a:prstGeom>
              <a:noFill/>
            </p:spPr>
            <p:txBody>
              <a:bodyPr wrap="square">
                <a:spAutoFit/>
              </a:bodyPr>
              <a:lstStyle/>
              <a:p>
                <a:r>
                  <a:rPr lang="en-US" dirty="0"/>
                  <a:t>A </a:t>
                </a:r>
                <a:r>
                  <a:rPr lang="en-US" b="1" i="1" dirty="0">
                    <a:solidFill>
                      <a:srgbClr val="FF0000"/>
                    </a:solidFill>
                  </a:rPr>
                  <a:t>binary heap</a:t>
                </a:r>
                <a:r>
                  <a:rPr lang="en-US" dirty="0">
                    <a:solidFill>
                      <a:srgbClr val="FF0000"/>
                    </a:solidFill>
                  </a:rPr>
                  <a:t> </a:t>
                </a:r>
                <a:r>
                  <a:rPr lang="en-US" dirty="0"/>
                  <a:t>is a type of binary tree (but not a binary </a:t>
                </a:r>
                <a:r>
                  <a:rPr lang="en-US" i="1" dirty="0"/>
                  <a:t>search</a:t>
                </a:r>
                <a:r>
                  <a:rPr lang="en-US" dirty="0"/>
                  <a:t> tree) that has the following properties:</a:t>
                </a:r>
              </a:p>
              <a:p>
                <a:endParaRPr lang="en-US" dirty="0"/>
              </a:p>
              <a:p>
                <a:pPr lvl="0"/>
                <a:r>
                  <a:rPr lang="en-US" b="1" dirty="0"/>
                  <a:t>Shape: </a:t>
                </a:r>
                <a:r>
                  <a:rPr lang="en-US" dirty="0"/>
                  <a:t>It is a </a:t>
                </a:r>
                <a:r>
                  <a:rPr lang="en-US" i="1" dirty="0"/>
                  <a:t>complete</a:t>
                </a:r>
                <a:r>
                  <a:rPr lang="en-US" dirty="0"/>
                  <a:t> tree.</a:t>
                </a:r>
              </a:p>
              <a:p>
                <a:pPr lvl="0"/>
                <a:r>
                  <a:rPr lang="en-US" dirty="0"/>
                  <a:t> (tree where every level except the last one is completely filled, and the last level has all of the leaves as far left as possible.)</a:t>
                </a:r>
              </a:p>
              <a:p>
                <a:pPr lvl="0"/>
                <a:endParaRPr lang="en-US" dirty="0"/>
              </a:p>
              <a:p>
                <a:pPr lvl="0"/>
                <a:r>
                  <a:rPr lang="en-US" b="1" dirty="0"/>
                  <a:t>Order (heap): </a:t>
                </a:r>
                <a:r>
                  <a:rPr lang="en-US" dirty="0"/>
                  <a:t>The parent of a node is </a:t>
                </a:r>
                <a14:m>
                  <m:oMath xmlns:m="http://schemas.openxmlformats.org/officeDocument/2006/math">
                    <m:r>
                      <a:rPr lang="en-US">
                        <a:latin typeface="Cambria Math" panose="02040503050406030204" pitchFamily="18" charset="0"/>
                      </a:rPr>
                      <m:t>≥</m:t>
                    </m:r>
                  </m:oMath>
                </a14:m>
                <a:r>
                  <a:rPr lang="en-US" dirty="0"/>
                  <a:t>all of its children.</a:t>
                </a:r>
              </a:p>
            </p:txBody>
          </p:sp>
        </mc:Choice>
        <mc:Fallback xmlns="">
          <p:sp>
            <p:nvSpPr>
              <p:cNvPr id="6" name="TextBox 5">
                <a:extLst>
                  <a:ext uri="{FF2B5EF4-FFF2-40B4-BE49-F238E27FC236}">
                    <a16:creationId xmlns:a16="http://schemas.microsoft.com/office/drawing/2014/main" id="{0C93BEE1-1DB1-694F-33A2-9AC832392C4A}"/>
                  </a:ext>
                </a:extLst>
              </p:cNvPr>
              <p:cNvSpPr txBox="1">
                <a:spLocks noRot="1" noChangeAspect="1" noMove="1" noResize="1" noEditPoints="1" noAdjustHandles="1" noChangeArrowheads="1" noChangeShapeType="1" noTextEdit="1"/>
              </p:cNvSpPr>
              <p:nvPr/>
            </p:nvSpPr>
            <p:spPr>
              <a:xfrm>
                <a:off x="6801637" y="1720840"/>
                <a:ext cx="4995531" cy="3139321"/>
              </a:xfrm>
              <a:prstGeom prst="rect">
                <a:avLst/>
              </a:prstGeom>
              <a:blipFill>
                <a:blip r:embed="rId4"/>
                <a:stretch>
                  <a:fillRect l="-1099" t="-777" b="-2330"/>
                </a:stretch>
              </a:blipFill>
            </p:spPr>
            <p:txBody>
              <a:bodyPr/>
              <a:lstStyle/>
              <a:p>
                <a:r>
                  <a:rPr lang="en-US">
                    <a:noFill/>
                  </a:rPr>
                  <a:t> </a:t>
                </a:r>
              </a:p>
            </p:txBody>
          </p:sp>
        </mc:Fallback>
      </mc:AlternateContent>
    </p:spTree>
    <p:extLst>
      <p:ext uri="{BB962C8B-B14F-4D97-AF65-F5344CB8AC3E}">
        <p14:creationId xmlns:p14="http://schemas.microsoft.com/office/powerpoint/2010/main" val="3284563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04F78-43A7-BB96-6A6D-4E928629CF99}"/>
              </a:ext>
            </a:extLst>
          </p:cNvPr>
          <p:cNvSpPr>
            <a:spLocks noGrp="1"/>
          </p:cNvSpPr>
          <p:nvPr>
            <p:ph type="title"/>
          </p:nvPr>
        </p:nvSpPr>
        <p:spPr/>
        <p:txBody>
          <a:bodyPr/>
          <a:lstStyle/>
          <a:p>
            <a:r>
              <a:rPr lang="en-US" dirty="0">
                <a:solidFill>
                  <a:srgbClr val="C00000"/>
                </a:solidFill>
              </a:rPr>
              <a:t>Min Heap</a:t>
            </a:r>
          </a:p>
        </p:txBody>
      </p:sp>
      <p:pic>
        <p:nvPicPr>
          <p:cNvPr id="4" name="Picture 3" descr="Heap Data Structure | Binary Heap | Examples | Gate Vidyalay">
            <a:extLst>
              <a:ext uri="{FF2B5EF4-FFF2-40B4-BE49-F238E27FC236}">
                <a16:creationId xmlns:a16="http://schemas.microsoft.com/office/drawing/2014/main" id="{81AB2E4E-7E8A-26E6-A9A1-EB1C1B753B34}"/>
              </a:ext>
            </a:extLst>
          </p:cNvPr>
          <p:cNvPicPr>
            <a:picLocks noChangeAspect="1"/>
          </p:cNvPicPr>
          <p:nvPr/>
        </p:nvPicPr>
        <p:blipFill>
          <a:blip r:embed="rId3"/>
          <a:srcRect b="15177"/>
          <a:stretch>
            <a:fillRect/>
          </a:stretch>
        </p:blipFill>
        <p:spPr>
          <a:xfrm>
            <a:off x="2701228" y="1699537"/>
            <a:ext cx="5968133" cy="3458925"/>
          </a:xfrm>
          <a:prstGeom prst="rect">
            <a:avLst/>
          </a:prstGeom>
        </p:spPr>
      </p:pic>
    </p:spTree>
    <p:extLst>
      <p:ext uri="{BB962C8B-B14F-4D97-AF65-F5344CB8AC3E}">
        <p14:creationId xmlns:p14="http://schemas.microsoft.com/office/powerpoint/2010/main" val="2680077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DBBA9-A673-0C79-27AF-38F6C27E088B}"/>
              </a:ext>
            </a:extLst>
          </p:cNvPr>
          <p:cNvSpPr>
            <a:spLocks noGrp="1"/>
          </p:cNvSpPr>
          <p:nvPr>
            <p:ph type="title"/>
          </p:nvPr>
        </p:nvSpPr>
        <p:spPr>
          <a:xfrm>
            <a:off x="927212" y="575518"/>
            <a:ext cx="10515600" cy="1325563"/>
          </a:xfrm>
        </p:spPr>
        <p:txBody>
          <a:bodyPr/>
          <a:lstStyle/>
          <a:p>
            <a:r>
              <a:rPr lang="en-US" dirty="0">
                <a:solidFill>
                  <a:srgbClr val="C00000"/>
                </a:solidFill>
              </a:rPr>
              <a:t>A Cool Consequence…</a:t>
            </a:r>
            <a:endParaRPr lang="en-US" dirty="0"/>
          </a:p>
        </p:txBody>
      </p:sp>
      <p:pic>
        <p:nvPicPr>
          <p:cNvPr id="7" name="Picture 6" descr="The image illustrates a series of steps in the max heap data structure, showing the process of removing the maximum element and re-arranging the heap.&#10;&#10;AI-generated content may be incorrect.">
            <a:extLst>
              <a:ext uri="{FF2B5EF4-FFF2-40B4-BE49-F238E27FC236}">
                <a16:creationId xmlns:a16="http://schemas.microsoft.com/office/drawing/2014/main" id="{002C4728-66C5-B048-0EBF-3E4738ECBECC}"/>
              </a:ext>
            </a:extLst>
          </p:cNvPr>
          <p:cNvPicPr>
            <a:picLocks noChangeAspect="1"/>
          </p:cNvPicPr>
          <p:nvPr/>
        </p:nvPicPr>
        <p:blipFill>
          <a:blip r:embed="rId3"/>
          <a:srcRect b="62962"/>
          <a:stretch>
            <a:fillRect/>
          </a:stretch>
        </p:blipFill>
        <p:spPr>
          <a:xfrm>
            <a:off x="449563" y="2272618"/>
            <a:ext cx="3634800" cy="3650752"/>
          </a:xfrm>
          <a:prstGeom prst="rect">
            <a:avLst/>
          </a:prstGeom>
        </p:spPr>
      </p:pic>
      <p:pic>
        <p:nvPicPr>
          <p:cNvPr id="9" name="Picture 8" descr="The image illustrates a series of steps in the max heap data structure, showing the process of removing the maximum element and re-arranging the heap.&#10;&#10;AI-generated content may be incorrect.">
            <a:extLst>
              <a:ext uri="{FF2B5EF4-FFF2-40B4-BE49-F238E27FC236}">
                <a16:creationId xmlns:a16="http://schemas.microsoft.com/office/drawing/2014/main" id="{0405AA20-422F-6255-406B-589E0BCC12D2}"/>
              </a:ext>
            </a:extLst>
          </p:cNvPr>
          <p:cNvPicPr>
            <a:picLocks noChangeAspect="1"/>
          </p:cNvPicPr>
          <p:nvPr/>
        </p:nvPicPr>
        <p:blipFill>
          <a:blip r:embed="rId3"/>
          <a:srcRect t="36628" b="30950"/>
          <a:stretch>
            <a:fillRect/>
          </a:stretch>
        </p:blipFill>
        <p:spPr>
          <a:xfrm>
            <a:off x="4084363" y="2447219"/>
            <a:ext cx="3755048" cy="3301550"/>
          </a:xfrm>
          <a:prstGeom prst="rect">
            <a:avLst/>
          </a:prstGeom>
        </p:spPr>
      </p:pic>
      <p:pic>
        <p:nvPicPr>
          <p:cNvPr id="11" name="Picture 10" descr="The image illustrates a series of steps in the max heap data structure, showing the process of removing the maximum element and re-arranging the heap.&#10;&#10;AI-generated content may be incorrect.">
            <a:extLst>
              <a:ext uri="{FF2B5EF4-FFF2-40B4-BE49-F238E27FC236}">
                <a16:creationId xmlns:a16="http://schemas.microsoft.com/office/drawing/2014/main" id="{2B1E374F-4884-3247-F971-B6F81A5E47A4}"/>
              </a:ext>
            </a:extLst>
          </p:cNvPr>
          <p:cNvPicPr>
            <a:picLocks noChangeAspect="1"/>
          </p:cNvPicPr>
          <p:nvPr/>
        </p:nvPicPr>
        <p:blipFill>
          <a:blip r:embed="rId3"/>
          <a:srcRect t="70821"/>
          <a:stretch>
            <a:fillRect/>
          </a:stretch>
        </p:blipFill>
        <p:spPr>
          <a:xfrm>
            <a:off x="7719163" y="2498105"/>
            <a:ext cx="4247074" cy="3360529"/>
          </a:xfrm>
          <a:prstGeom prst="rect">
            <a:avLst/>
          </a:prstGeom>
        </p:spPr>
      </p:pic>
      <p:sp>
        <p:nvSpPr>
          <p:cNvPr id="12" name="Rectangle 11">
            <a:extLst>
              <a:ext uri="{FF2B5EF4-FFF2-40B4-BE49-F238E27FC236}">
                <a16:creationId xmlns:a16="http://schemas.microsoft.com/office/drawing/2014/main" id="{DA35F005-8F39-487E-AD45-8361BA42D5B9}"/>
              </a:ext>
            </a:extLst>
          </p:cNvPr>
          <p:cNvSpPr/>
          <p:nvPr/>
        </p:nvSpPr>
        <p:spPr>
          <a:xfrm>
            <a:off x="776835" y="4199766"/>
            <a:ext cx="3422931" cy="19663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50299A-4EFE-B99B-1C25-6E10C96D116E}"/>
              </a:ext>
            </a:extLst>
          </p:cNvPr>
          <p:cNvSpPr/>
          <p:nvPr/>
        </p:nvSpPr>
        <p:spPr>
          <a:xfrm>
            <a:off x="4448632" y="4199766"/>
            <a:ext cx="3422931" cy="19663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785C5FD-F57B-50EA-E045-4C2549ED3654}"/>
              </a:ext>
            </a:extLst>
          </p:cNvPr>
          <p:cNvSpPr/>
          <p:nvPr/>
        </p:nvSpPr>
        <p:spPr>
          <a:xfrm>
            <a:off x="8436656" y="4312070"/>
            <a:ext cx="3422931" cy="19663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F926EFB-1A20-55A8-C37F-5A602EDF5135}"/>
              </a:ext>
            </a:extLst>
          </p:cNvPr>
          <p:cNvSpPr txBox="1"/>
          <p:nvPr/>
        </p:nvSpPr>
        <p:spPr>
          <a:xfrm>
            <a:off x="2488300" y="5809097"/>
            <a:ext cx="6627377" cy="584775"/>
          </a:xfrm>
          <a:prstGeom prst="rect">
            <a:avLst/>
          </a:prstGeom>
          <a:noFill/>
        </p:spPr>
        <p:txBody>
          <a:bodyPr wrap="square" rtlCol="0">
            <a:spAutoFit/>
          </a:bodyPr>
          <a:lstStyle/>
          <a:p>
            <a:pPr algn="ctr"/>
            <a:r>
              <a:rPr lang="en-US" sz="3200" b="1" dirty="0">
                <a:solidFill>
                  <a:srgbClr val="FF0000"/>
                </a:solidFill>
              </a:rPr>
              <a:t>Heap Sort</a:t>
            </a:r>
          </a:p>
        </p:txBody>
      </p:sp>
    </p:spTree>
    <p:extLst>
      <p:ext uri="{BB962C8B-B14F-4D97-AF65-F5344CB8AC3E}">
        <p14:creationId xmlns:p14="http://schemas.microsoft.com/office/powerpoint/2010/main" val="2692442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AA9C1-F1E2-D0E4-AED2-F2C11E72B735}"/>
              </a:ext>
            </a:extLst>
          </p:cNvPr>
          <p:cNvSpPr>
            <a:spLocks noGrp="1"/>
          </p:cNvSpPr>
          <p:nvPr>
            <p:ph type="title"/>
          </p:nvPr>
        </p:nvSpPr>
        <p:spPr/>
        <p:txBody>
          <a:bodyPr/>
          <a:lstStyle/>
          <a:p>
            <a:r>
              <a:rPr lang="en-US" dirty="0">
                <a:solidFill>
                  <a:srgbClr val="C00000"/>
                </a:solidFill>
              </a:rPr>
              <a:t>Max Heap- Array Representation</a:t>
            </a:r>
            <a:endParaRPr lang="en-US" dirty="0"/>
          </a:p>
        </p:txBody>
      </p:sp>
      <p:pic>
        <p:nvPicPr>
          <p:cNvPr id="7" name="Picture 6" descr="The image appears to be a diagram or flowchart with a series of numbers arranged in a grid-like pattern, potentially representing a sequence or connection between different elements.&#10;&#10;AI-generated content may be incorrect.">
            <a:extLst>
              <a:ext uri="{FF2B5EF4-FFF2-40B4-BE49-F238E27FC236}">
                <a16:creationId xmlns:a16="http://schemas.microsoft.com/office/drawing/2014/main" id="{A0B8525C-B5AB-A241-0D6A-638CDC3D6C28}"/>
              </a:ext>
            </a:extLst>
          </p:cNvPr>
          <p:cNvPicPr>
            <a:picLocks noChangeAspect="1"/>
          </p:cNvPicPr>
          <p:nvPr/>
        </p:nvPicPr>
        <p:blipFill>
          <a:blip r:embed="rId3"/>
          <a:srcRect l="49627" t="23316" b="13201"/>
          <a:stretch>
            <a:fillRect/>
          </a:stretch>
        </p:blipFill>
        <p:spPr>
          <a:xfrm>
            <a:off x="2912091" y="4916458"/>
            <a:ext cx="5510676" cy="1281906"/>
          </a:xfrm>
          <a:prstGeom prst="rect">
            <a:avLst/>
          </a:prstGeom>
        </p:spPr>
      </p:pic>
      <p:pic>
        <p:nvPicPr>
          <p:cNvPr id="9" name="Picture 8" descr="The image displays a sequence of numbers, 9, 7, 8, 3, 5, and 6, arranged in a linear, ascending order.&#10;&#10;AI-generated content may be incorrect.">
            <a:extLst>
              <a:ext uri="{FF2B5EF4-FFF2-40B4-BE49-F238E27FC236}">
                <a16:creationId xmlns:a16="http://schemas.microsoft.com/office/drawing/2014/main" id="{A1B4BE6B-F9EE-E1F3-BCCC-0D532698D354}"/>
              </a:ext>
            </a:extLst>
          </p:cNvPr>
          <p:cNvPicPr>
            <a:picLocks noChangeAspect="1"/>
          </p:cNvPicPr>
          <p:nvPr/>
        </p:nvPicPr>
        <p:blipFill>
          <a:blip r:embed="rId4"/>
          <a:stretch>
            <a:fillRect/>
          </a:stretch>
        </p:blipFill>
        <p:spPr>
          <a:xfrm>
            <a:off x="2433487" y="1528848"/>
            <a:ext cx="5989280" cy="2784206"/>
          </a:xfrm>
          <a:prstGeom prst="rect">
            <a:avLst/>
          </a:prstGeom>
        </p:spPr>
      </p:pic>
      <p:sp>
        <p:nvSpPr>
          <p:cNvPr id="10" name="Rectangle 9">
            <a:extLst>
              <a:ext uri="{FF2B5EF4-FFF2-40B4-BE49-F238E27FC236}">
                <a16:creationId xmlns:a16="http://schemas.microsoft.com/office/drawing/2014/main" id="{A36363B4-84E1-46D7-39A9-3B50EBE2D170}"/>
              </a:ext>
            </a:extLst>
          </p:cNvPr>
          <p:cNvSpPr/>
          <p:nvPr/>
        </p:nvSpPr>
        <p:spPr>
          <a:xfrm>
            <a:off x="2735108" y="4916458"/>
            <a:ext cx="1100517" cy="128190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323FB90-3BF3-A386-29A5-9B1C891035BA}"/>
              </a:ext>
            </a:extLst>
          </p:cNvPr>
          <p:cNvSpPr/>
          <p:nvPr/>
        </p:nvSpPr>
        <p:spPr>
          <a:xfrm>
            <a:off x="3860208" y="4898790"/>
            <a:ext cx="1739480" cy="128190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C0CB45A5-06FA-098F-430B-91A8734B4FC6}"/>
              </a:ext>
            </a:extLst>
          </p:cNvPr>
          <p:cNvGrpSpPr/>
          <p:nvPr/>
        </p:nvGrpSpPr>
        <p:grpSpPr>
          <a:xfrm>
            <a:off x="8269001" y="4916458"/>
            <a:ext cx="1010908" cy="1281906"/>
            <a:chOff x="8269001" y="4916458"/>
            <a:chExt cx="1010908" cy="1281906"/>
          </a:xfrm>
        </p:grpSpPr>
        <p:pic>
          <p:nvPicPr>
            <p:cNvPr id="15" name="Picture 14" descr="The image appears to be a diagram or flowchart with a series of numbers arranged in a grid-like pattern, potentially representing a sequence or connection between different elements.&#10;&#10;AI-generated content may be incorrect.">
              <a:extLst>
                <a:ext uri="{FF2B5EF4-FFF2-40B4-BE49-F238E27FC236}">
                  <a16:creationId xmlns:a16="http://schemas.microsoft.com/office/drawing/2014/main" id="{6D9D4468-53D3-B91A-3517-84B8F8F010E5}"/>
                </a:ext>
              </a:extLst>
            </p:cNvPr>
            <p:cNvPicPr>
              <a:picLocks noChangeAspect="1"/>
            </p:cNvPicPr>
            <p:nvPr/>
          </p:nvPicPr>
          <p:blipFill>
            <a:blip r:embed="rId3"/>
            <a:srcRect l="90759" t="23316" b="13201"/>
            <a:stretch>
              <a:fillRect/>
            </a:stretch>
          </p:blipFill>
          <p:spPr>
            <a:xfrm>
              <a:off x="8269001" y="4916458"/>
              <a:ext cx="1010908" cy="1281906"/>
            </a:xfrm>
            <a:prstGeom prst="rect">
              <a:avLst/>
            </a:prstGeom>
          </p:spPr>
        </p:pic>
        <p:pic>
          <p:nvPicPr>
            <p:cNvPr id="18" name="Picture 17" descr="The image depicts a simple, plain white square with clear, sharp edges.&#10;&#10;AI-generated content may be incorrect.">
              <a:extLst>
                <a:ext uri="{FF2B5EF4-FFF2-40B4-BE49-F238E27FC236}">
                  <a16:creationId xmlns:a16="http://schemas.microsoft.com/office/drawing/2014/main" id="{58D2292C-0265-ED58-A91F-2A9546692C39}"/>
                </a:ext>
              </a:extLst>
            </p:cNvPr>
            <p:cNvPicPr>
              <a:picLocks noChangeAspect="1"/>
            </p:cNvPicPr>
            <p:nvPr/>
          </p:nvPicPr>
          <p:blipFill>
            <a:blip r:embed="rId5"/>
            <a:srcRect l="39824" t="29879" r="23368" b="31853"/>
            <a:stretch>
              <a:fillRect/>
            </a:stretch>
          </p:blipFill>
          <p:spPr>
            <a:xfrm flipH="1" flipV="1">
              <a:off x="8421725" y="5206749"/>
              <a:ext cx="559410" cy="540056"/>
            </a:xfrm>
            <a:prstGeom prst="rect">
              <a:avLst/>
            </a:prstGeom>
          </p:spPr>
        </p:pic>
      </p:grpSp>
      <p:sp>
        <p:nvSpPr>
          <p:cNvPr id="20" name="Rectangle 19">
            <a:extLst>
              <a:ext uri="{FF2B5EF4-FFF2-40B4-BE49-F238E27FC236}">
                <a16:creationId xmlns:a16="http://schemas.microsoft.com/office/drawing/2014/main" id="{FE065659-06CB-1FD4-0D78-887CA7D29046}"/>
              </a:ext>
            </a:extLst>
          </p:cNvPr>
          <p:cNvSpPr/>
          <p:nvPr/>
        </p:nvSpPr>
        <p:spPr>
          <a:xfrm>
            <a:off x="8421725" y="5866726"/>
            <a:ext cx="559410" cy="2508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4" name="Rectangle 13">
            <a:extLst>
              <a:ext uri="{FF2B5EF4-FFF2-40B4-BE49-F238E27FC236}">
                <a16:creationId xmlns:a16="http://schemas.microsoft.com/office/drawing/2014/main" id="{E039D35E-ACEA-8171-47BA-68D784B5DF8E}"/>
              </a:ext>
            </a:extLst>
          </p:cNvPr>
          <p:cNvSpPr/>
          <p:nvPr/>
        </p:nvSpPr>
        <p:spPr>
          <a:xfrm>
            <a:off x="5667430" y="4916458"/>
            <a:ext cx="3612480" cy="128190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8793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E1123-900C-DFFF-B377-A3E747738CE1}"/>
              </a:ext>
            </a:extLst>
          </p:cNvPr>
          <p:cNvSpPr>
            <a:spLocks noGrp="1"/>
          </p:cNvSpPr>
          <p:nvPr>
            <p:ph type="title"/>
          </p:nvPr>
        </p:nvSpPr>
        <p:spPr/>
        <p:txBody>
          <a:bodyPr/>
          <a:lstStyle/>
          <a:p>
            <a:r>
              <a:rPr lang="en-US" dirty="0">
                <a:solidFill>
                  <a:srgbClr val="C00000"/>
                </a:solidFill>
              </a:rPr>
              <a:t>Max Heap Operations</a:t>
            </a:r>
            <a:endParaRPr lang="en-US" dirty="0"/>
          </a:p>
        </p:txBody>
      </p:sp>
      <p:sp>
        <p:nvSpPr>
          <p:cNvPr id="3" name="Content Placeholder 2">
            <a:extLst>
              <a:ext uri="{FF2B5EF4-FFF2-40B4-BE49-F238E27FC236}">
                <a16:creationId xmlns:a16="http://schemas.microsoft.com/office/drawing/2014/main" id="{93B0A06C-7D1D-F8D3-BC5B-44C1C5DED498}"/>
              </a:ext>
            </a:extLst>
          </p:cNvPr>
          <p:cNvSpPr>
            <a:spLocks noGrp="1"/>
          </p:cNvSpPr>
          <p:nvPr>
            <p:ph idx="1"/>
          </p:nvPr>
        </p:nvSpPr>
        <p:spPr/>
        <p:txBody>
          <a:bodyPr/>
          <a:lstStyle/>
          <a:p>
            <a:pPr marL="0" indent="0">
              <a:buNone/>
            </a:pPr>
            <a:r>
              <a:rPr lang="en-US" dirty="0"/>
              <a:t>For something to be called a </a:t>
            </a:r>
            <a:r>
              <a:rPr lang="en-US" b="1" dirty="0"/>
              <a:t>valid heap</a:t>
            </a:r>
            <a:r>
              <a:rPr lang="en-US" dirty="0"/>
              <a:t>, two things have to be true:</a:t>
            </a:r>
          </a:p>
          <a:p>
            <a:pPr marL="0" indent="0">
              <a:buNone/>
            </a:pPr>
            <a:endParaRPr lang="en-US" dirty="0"/>
          </a:p>
          <a:p>
            <a:pPr lvl="0"/>
            <a:r>
              <a:rPr lang="en-US" b="1" dirty="0"/>
              <a:t>Shape: complete tree.</a:t>
            </a:r>
            <a:r>
              <a:rPr lang="en-US" dirty="0"/>
              <a:t> Every level is full except possibly the last one, which is filled from the left. This is what lets us store it in an array with no holes and use the index formulas.</a:t>
            </a:r>
          </a:p>
          <a:p>
            <a:pPr lvl="0"/>
            <a:endParaRPr lang="en-US" b="1" dirty="0"/>
          </a:p>
          <a:p>
            <a:pPr lvl="0"/>
            <a:r>
              <a:rPr lang="en-US" b="1" dirty="0"/>
              <a:t>Order: heap property.</a:t>
            </a:r>
            <a:r>
              <a:rPr lang="en-US" dirty="0"/>
              <a:t> Every parent ≥ each of its children.</a:t>
            </a:r>
          </a:p>
        </p:txBody>
      </p:sp>
      <p:sp>
        <p:nvSpPr>
          <p:cNvPr id="5" name="TextBox 4">
            <a:extLst>
              <a:ext uri="{FF2B5EF4-FFF2-40B4-BE49-F238E27FC236}">
                <a16:creationId xmlns:a16="http://schemas.microsoft.com/office/drawing/2014/main" id="{64BDBE0C-5A32-D00D-E668-18D3E848391C}"/>
              </a:ext>
            </a:extLst>
          </p:cNvPr>
          <p:cNvSpPr txBox="1"/>
          <p:nvPr/>
        </p:nvSpPr>
        <p:spPr>
          <a:xfrm>
            <a:off x="1051965" y="5590662"/>
            <a:ext cx="9718534" cy="461665"/>
          </a:xfrm>
          <a:prstGeom prst="rect">
            <a:avLst/>
          </a:prstGeom>
          <a:noFill/>
        </p:spPr>
        <p:txBody>
          <a:bodyPr wrap="square">
            <a:spAutoFit/>
          </a:bodyPr>
          <a:lstStyle/>
          <a:p>
            <a:r>
              <a:rPr lang="en-US" sz="2400" b="0" i="0" dirty="0">
                <a:solidFill>
                  <a:srgbClr val="FF0000"/>
                </a:solidFill>
                <a:effectLst/>
                <a:latin typeface="+mn-lt"/>
              </a:rPr>
              <a:t>Every Operation should ensure that our two properties are maintained</a:t>
            </a:r>
            <a:endParaRPr lang="en-US" sz="2400" dirty="0">
              <a:solidFill>
                <a:srgbClr val="FF0000"/>
              </a:solidFill>
            </a:endParaRPr>
          </a:p>
        </p:txBody>
      </p:sp>
    </p:spTree>
    <p:extLst>
      <p:ext uri="{BB962C8B-B14F-4D97-AF65-F5344CB8AC3E}">
        <p14:creationId xmlns:p14="http://schemas.microsoft.com/office/powerpoint/2010/main" val="3805648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F1C80-C958-55F9-22FF-FCB8127B4B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44276-E533-D23A-DC03-8AEA55EEE61D}"/>
              </a:ext>
            </a:extLst>
          </p:cNvPr>
          <p:cNvSpPr>
            <a:spLocks noGrp="1"/>
          </p:cNvSpPr>
          <p:nvPr>
            <p:ph type="title"/>
          </p:nvPr>
        </p:nvSpPr>
        <p:spPr/>
        <p:txBody>
          <a:bodyPr/>
          <a:lstStyle/>
          <a:p>
            <a:r>
              <a:rPr lang="en-US" dirty="0">
                <a:solidFill>
                  <a:srgbClr val="C00000"/>
                </a:solidFill>
              </a:rPr>
              <a:t>Max Heap Operations - </a:t>
            </a:r>
            <a:r>
              <a:rPr lang="en-US" b="1" dirty="0">
                <a:solidFill>
                  <a:srgbClr val="C00000"/>
                </a:solidFill>
              </a:rPr>
              <a:t>Add</a:t>
            </a:r>
            <a:endParaRPr lang="en-US" b="1" dirty="0"/>
          </a:p>
        </p:txBody>
      </p:sp>
      <p:sp>
        <p:nvSpPr>
          <p:cNvPr id="6" name="TextBox 5">
            <a:extLst>
              <a:ext uri="{FF2B5EF4-FFF2-40B4-BE49-F238E27FC236}">
                <a16:creationId xmlns:a16="http://schemas.microsoft.com/office/drawing/2014/main" id="{B61CFCAC-9010-8DF5-2AF5-ADCA1C2151C4}"/>
              </a:ext>
            </a:extLst>
          </p:cNvPr>
          <p:cNvSpPr txBox="1"/>
          <p:nvPr/>
        </p:nvSpPr>
        <p:spPr>
          <a:xfrm>
            <a:off x="2110027" y="2028929"/>
            <a:ext cx="3236814" cy="369332"/>
          </a:xfrm>
          <a:prstGeom prst="rect">
            <a:avLst/>
          </a:prstGeom>
          <a:noFill/>
        </p:spPr>
        <p:txBody>
          <a:bodyPr wrap="square" rtlCol="0">
            <a:spAutoFit/>
          </a:bodyPr>
          <a:lstStyle/>
          <a:p>
            <a:pPr algn="ctr"/>
            <a:r>
              <a:rPr lang="en-US" dirty="0">
                <a:solidFill>
                  <a:srgbClr val="FF0000"/>
                </a:solidFill>
              </a:rPr>
              <a:t>Add 33</a:t>
            </a:r>
          </a:p>
        </p:txBody>
      </p:sp>
      <p:sp>
        <p:nvSpPr>
          <p:cNvPr id="7" name="Rectangle 6">
            <a:extLst>
              <a:ext uri="{FF2B5EF4-FFF2-40B4-BE49-F238E27FC236}">
                <a16:creationId xmlns:a16="http://schemas.microsoft.com/office/drawing/2014/main" id="{50ED37F7-3D96-0046-DDB4-6D9B7E101FF6}"/>
              </a:ext>
            </a:extLst>
          </p:cNvPr>
          <p:cNvSpPr/>
          <p:nvPr/>
        </p:nvSpPr>
        <p:spPr>
          <a:xfrm rot="19988792">
            <a:off x="2699957" y="4952326"/>
            <a:ext cx="1189529" cy="7849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98BDEF4-A9D1-568D-9546-807EA6213DB4}"/>
              </a:ext>
            </a:extLst>
          </p:cNvPr>
          <p:cNvSpPr txBox="1"/>
          <p:nvPr/>
        </p:nvSpPr>
        <p:spPr>
          <a:xfrm>
            <a:off x="7410949" y="2083393"/>
            <a:ext cx="4208532" cy="646331"/>
          </a:xfrm>
          <a:prstGeom prst="rect">
            <a:avLst/>
          </a:prstGeom>
          <a:noFill/>
        </p:spPr>
        <p:txBody>
          <a:bodyPr wrap="square">
            <a:spAutoFit/>
          </a:bodyPr>
          <a:lstStyle/>
          <a:p>
            <a:pPr lvl="0" algn="l"/>
            <a:r>
              <a:rPr lang="en-US" sz="1800" b="0" i="0" dirty="0">
                <a:solidFill>
                  <a:srgbClr val="FF0000"/>
                </a:solidFill>
                <a:effectLst/>
                <a:latin typeface="+mn-lt"/>
              </a:rPr>
              <a:t>What's the best way to add the item so I end up with a valid heap?</a:t>
            </a:r>
          </a:p>
        </p:txBody>
      </p:sp>
      <p:sp>
        <p:nvSpPr>
          <p:cNvPr id="11" name="TextBox 10">
            <a:extLst>
              <a:ext uri="{FF2B5EF4-FFF2-40B4-BE49-F238E27FC236}">
                <a16:creationId xmlns:a16="http://schemas.microsoft.com/office/drawing/2014/main" id="{BF5B9F49-2DFF-B579-2CC3-62E1A6B8D83C}"/>
              </a:ext>
            </a:extLst>
          </p:cNvPr>
          <p:cNvSpPr txBox="1"/>
          <p:nvPr/>
        </p:nvSpPr>
        <p:spPr>
          <a:xfrm>
            <a:off x="7410949" y="3105834"/>
            <a:ext cx="4208532" cy="1477328"/>
          </a:xfrm>
          <a:prstGeom prst="rect">
            <a:avLst/>
          </a:prstGeom>
          <a:noFill/>
        </p:spPr>
        <p:txBody>
          <a:bodyPr wrap="square">
            <a:spAutoFit/>
          </a:bodyPr>
          <a:lstStyle/>
          <a:p>
            <a:pPr lvl="0" algn="l"/>
            <a:r>
              <a:rPr lang="en-US" sz="1800" b="0" i="0" dirty="0">
                <a:solidFill>
                  <a:srgbClr val="FF0000"/>
                </a:solidFill>
                <a:effectLst/>
                <a:latin typeface="+mn-lt"/>
              </a:rPr>
              <a:t>Should I aim for completeness first or order first? </a:t>
            </a:r>
          </a:p>
          <a:p>
            <a:pPr lvl="0" algn="l"/>
            <a:endParaRPr lang="en-US" dirty="0">
              <a:solidFill>
                <a:srgbClr val="FF0000"/>
              </a:solidFill>
            </a:endParaRPr>
          </a:p>
          <a:p>
            <a:pPr lvl="0" algn="l"/>
            <a:r>
              <a:rPr lang="en-US" sz="1800" b="0" i="0" dirty="0">
                <a:solidFill>
                  <a:srgbClr val="FF0000"/>
                </a:solidFill>
                <a:effectLst/>
                <a:latin typeface="+mn-lt"/>
              </a:rPr>
              <a:t>If I fix it for one, how to satisfy the other as well?</a:t>
            </a:r>
          </a:p>
        </p:txBody>
      </p:sp>
      <p:pic>
        <p:nvPicPr>
          <p:cNvPr id="13" name="Picture 12" descr="The diagram illustrates a tree structure with numbers 50, 35, 45, 20, 25, and 40 as branch points, and an additional number 7 at the base.&#10;&#10;AI-generated content may be incorrect.">
            <a:extLst>
              <a:ext uri="{FF2B5EF4-FFF2-40B4-BE49-F238E27FC236}">
                <a16:creationId xmlns:a16="http://schemas.microsoft.com/office/drawing/2014/main" id="{067DB6A4-6E9A-AB6B-94E8-71650D4AFC88}"/>
              </a:ext>
            </a:extLst>
          </p:cNvPr>
          <p:cNvPicPr>
            <a:picLocks noChangeAspect="1"/>
          </p:cNvPicPr>
          <p:nvPr/>
        </p:nvPicPr>
        <p:blipFill>
          <a:blip r:embed="rId3"/>
          <a:stretch>
            <a:fillRect/>
          </a:stretch>
        </p:blipFill>
        <p:spPr>
          <a:xfrm>
            <a:off x="970465" y="2596417"/>
            <a:ext cx="5681012" cy="2706940"/>
          </a:xfrm>
          <a:prstGeom prst="rect">
            <a:avLst/>
          </a:prstGeom>
        </p:spPr>
      </p:pic>
    </p:spTree>
    <p:extLst>
      <p:ext uri="{BB962C8B-B14F-4D97-AF65-F5344CB8AC3E}">
        <p14:creationId xmlns:p14="http://schemas.microsoft.com/office/powerpoint/2010/main" val="1164675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4799266-5661-1E67-1F34-E75D2D78155A}"/>
              </a:ext>
            </a:extLst>
          </p:cNvPr>
          <p:cNvSpPr>
            <a:spLocks noGrp="1"/>
          </p:cNvSpPr>
          <p:nvPr>
            <p:ph type="title"/>
          </p:nvPr>
        </p:nvSpPr>
        <p:spPr>
          <a:xfrm>
            <a:off x="838200" y="365125"/>
            <a:ext cx="10515600" cy="1325563"/>
          </a:xfrm>
        </p:spPr>
        <p:txBody>
          <a:bodyPr/>
          <a:lstStyle/>
          <a:p>
            <a:r>
              <a:rPr lang="en-US" dirty="0">
                <a:solidFill>
                  <a:srgbClr val="C00000"/>
                </a:solidFill>
              </a:rPr>
              <a:t>Max Heap Operations - </a:t>
            </a:r>
            <a:r>
              <a:rPr lang="en-US" b="1" dirty="0">
                <a:solidFill>
                  <a:srgbClr val="C00000"/>
                </a:solidFill>
              </a:rPr>
              <a:t>Add</a:t>
            </a:r>
            <a:endParaRPr lang="en-US" b="1" dirty="0"/>
          </a:p>
        </p:txBody>
      </p:sp>
      <p:sp>
        <p:nvSpPr>
          <p:cNvPr id="11" name="TextBox 10">
            <a:extLst>
              <a:ext uri="{FF2B5EF4-FFF2-40B4-BE49-F238E27FC236}">
                <a16:creationId xmlns:a16="http://schemas.microsoft.com/office/drawing/2014/main" id="{1E252EA4-9086-0F76-3E03-D290A3EAD162}"/>
              </a:ext>
            </a:extLst>
          </p:cNvPr>
          <p:cNvSpPr txBox="1"/>
          <p:nvPr/>
        </p:nvSpPr>
        <p:spPr>
          <a:xfrm>
            <a:off x="8713072" y="3682907"/>
            <a:ext cx="2678806" cy="646331"/>
          </a:xfrm>
          <a:prstGeom prst="rect">
            <a:avLst/>
          </a:prstGeom>
          <a:noFill/>
        </p:spPr>
        <p:txBody>
          <a:bodyPr wrap="square" rtlCol="0">
            <a:spAutoFit/>
          </a:bodyPr>
          <a:lstStyle/>
          <a:p>
            <a:pPr algn="ctr"/>
            <a:r>
              <a:rPr lang="en-US" dirty="0">
                <a:solidFill>
                  <a:srgbClr val="FF0000"/>
                </a:solidFill>
              </a:rPr>
              <a:t>This is called </a:t>
            </a:r>
            <a:r>
              <a:rPr lang="en-US" b="1" dirty="0" err="1">
                <a:solidFill>
                  <a:srgbClr val="FF0000"/>
                </a:solidFill>
              </a:rPr>
              <a:t>Heapify</a:t>
            </a:r>
            <a:r>
              <a:rPr lang="en-US" b="1" dirty="0">
                <a:solidFill>
                  <a:srgbClr val="FF0000"/>
                </a:solidFill>
              </a:rPr>
              <a:t> Up </a:t>
            </a:r>
            <a:r>
              <a:rPr lang="en-US" dirty="0">
                <a:solidFill>
                  <a:srgbClr val="FF0000"/>
                </a:solidFill>
              </a:rPr>
              <a:t>(Bubble Up)</a:t>
            </a:r>
          </a:p>
        </p:txBody>
      </p:sp>
      <p:pic>
        <p:nvPicPr>
          <p:cNvPr id="15" name="Picture 14" descr="The image depicts a binary search tree diagram illustrating a step-by-step process of comparing and swapping values to reorder a list.&#10;&#10;AI-generated content may be incorrect.">
            <a:extLst>
              <a:ext uri="{FF2B5EF4-FFF2-40B4-BE49-F238E27FC236}">
                <a16:creationId xmlns:a16="http://schemas.microsoft.com/office/drawing/2014/main" id="{1AB9FF8E-51C0-868A-D27A-F27A45742113}"/>
              </a:ext>
            </a:extLst>
          </p:cNvPr>
          <p:cNvPicPr>
            <a:picLocks noChangeAspect="1"/>
          </p:cNvPicPr>
          <p:nvPr/>
        </p:nvPicPr>
        <p:blipFill>
          <a:blip r:embed="rId3"/>
          <a:srcRect b="50560"/>
          <a:stretch>
            <a:fillRect/>
          </a:stretch>
        </p:blipFill>
        <p:spPr>
          <a:xfrm>
            <a:off x="505098" y="1432865"/>
            <a:ext cx="7640116" cy="2218296"/>
          </a:xfrm>
          <a:prstGeom prst="rect">
            <a:avLst/>
          </a:prstGeom>
        </p:spPr>
      </p:pic>
      <p:pic>
        <p:nvPicPr>
          <p:cNvPr id="17" name="Picture 16" descr="The image depicts a binary search tree diagram illustrating a step-by-step process of comparing and swapping values to reorder a list.&#10;&#10;AI-generated content may be incorrect.">
            <a:extLst>
              <a:ext uri="{FF2B5EF4-FFF2-40B4-BE49-F238E27FC236}">
                <a16:creationId xmlns:a16="http://schemas.microsoft.com/office/drawing/2014/main" id="{FB3BF534-CAE9-08B3-7EA9-C09B8E1147B2}"/>
              </a:ext>
            </a:extLst>
          </p:cNvPr>
          <p:cNvPicPr>
            <a:picLocks noChangeAspect="1"/>
          </p:cNvPicPr>
          <p:nvPr/>
        </p:nvPicPr>
        <p:blipFill>
          <a:blip r:embed="rId3"/>
          <a:srcRect t="52336"/>
          <a:stretch>
            <a:fillRect/>
          </a:stretch>
        </p:blipFill>
        <p:spPr>
          <a:xfrm>
            <a:off x="414946" y="3965822"/>
            <a:ext cx="7640116" cy="2138610"/>
          </a:xfrm>
          <a:prstGeom prst="rect">
            <a:avLst/>
          </a:prstGeom>
        </p:spPr>
      </p:pic>
      <p:sp>
        <p:nvSpPr>
          <p:cNvPr id="18" name="Rectangle 17">
            <a:extLst>
              <a:ext uri="{FF2B5EF4-FFF2-40B4-BE49-F238E27FC236}">
                <a16:creationId xmlns:a16="http://schemas.microsoft.com/office/drawing/2014/main" id="{16F7D432-3A71-E2E3-D205-04479E8ECADA}"/>
              </a:ext>
            </a:extLst>
          </p:cNvPr>
          <p:cNvSpPr/>
          <p:nvPr/>
        </p:nvSpPr>
        <p:spPr>
          <a:xfrm>
            <a:off x="838200" y="1867437"/>
            <a:ext cx="3424707" cy="19704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39AF1E7-835C-84C1-D0F8-470DAD4A6C40}"/>
              </a:ext>
            </a:extLst>
          </p:cNvPr>
          <p:cNvSpPr/>
          <p:nvPr/>
        </p:nvSpPr>
        <p:spPr>
          <a:xfrm>
            <a:off x="4027888" y="2368765"/>
            <a:ext cx="4323469" cy="779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C14BAD1-C1F4-01A6-2B28-839B22617BA4}"/>
              </a:ext>
            </a:extLst>
          </p:cNvPr>
          <p:cNvSpPr/>
          <p:nvPr/>
        </p:nvSpPr>
        <p:spPr>
          <a:xfrm>
            <a:off x="3934265" y="3173619"/>
            <a:ext cx="4323469" cy="779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6965BAB-BB1B-D92E-F7EF-F47DE7935877}"/>
              </a:ext>
            </a:extLst>
          </p:cNvPr>
          <p:cNvSpPr/>
          <p:nvPr/>
        </p:nvSpPr>
        <p:spPr>
          <a:xfrm>
            <a:off x="505098" y="3964953"/>
            <a:ext cx="4323469" cy="3642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C8049C7-5D01-B976-DDA0-6936444F13BA}"/>
              </a:ext>
            </a:extLst>
          </p:cNvPr>
          <p:cNvSpPr/>
          <p:nvPr/>
        </p:nvSpPr>
        <p:spPr>
          <a:xfrm>
            <a:off x="180979" y="4278745"/>
            <a:ext cx="3846909" cy="18385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38F3B18-A51A-D5CD-3C6C-67C9AB67E9D1}"/>
              </a:ext>
            </a:extLst>
          </p:cNvPr>
          <p:cNvSpPr/>
          <p:nvPr/>
        </p:nvSpPr>
        <p:spPr>
          <a:xfrm>
            <a:off x="3965560" y="4852549"/>
            <a:ext cx="4323469" cy="7046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08C3BA6-D130-8141-1892-1FE396481C52}"/>
              </a:ext>
            </a:extLst>
          </p:cNvPr>
          <p:cNvSpPr/>
          <p:nvPr/>
        </p:nvSpPr>
        <p:spPr>
          <a:xfrm>
            <a:off x="4079324" y="5673346"/>
            <a:ext cx="4323469" cy="2960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BA407010-E190-30A4-1E33-6382967F4EAC}"/>
              </a:ext>
            </a:extLst>
          </p:cNvPr>
          <p:cNvSpPr txBox="1"/>
          <p:nvPr/>
        </p:nvSpPr>
        <p:spPr>
          <a:xfrm>
            <a:off x="8647744" y="2249625"/>
            <a:ext cx="2744134" cy="584775"/>
          </a:xfrm>
          <a:prstGeom prst="rect">
            <a:avLst/>
          </a:prstGeom>
          <a:noFill/>
        </p:spPr>
        <p:txBody>
          <a:bodyPr wrap="square">
            <a:spAutoFit/>
          </a:bodyPr>
          <a:lstStyle/>
          <a:p>
            <a:pPr algn="ctr" rtl="0" eaLnBrk="1" fontAlgn="ctr" latinLnBrk="0" hangingPunct="1"/>
            <a:r>
              <a:rPr lang="en-US" sz="1600" b="1" dirty="0">
                <a:solidFill>
                  <a:srgbClr val="FF0000"/>
                </a:solidFill>
              </a:rPr>
              <a:t>P</a:t>
            </a:r>
            <a:r>
              <a:rPr lang="en-US" sz="1600" b="1" i="0" u="none" strike="noStrike" kern="1200" dirty="0">
                <a:solidFill>
                  <a:srgbClr val="FF0000"/>
                </a:solidFill>
                <a:effectLst/>
                <a:latin typeface="+mn-lt"/>
                <a:ea typeface="+mn-ea"/>
                <a:cs typeface="+mn-cs"/>
              </a:rPr>
              <a:t>arent of </a:t>
            </a:r>
            <a:r>
              <a:rPr lang="en-US" sz="1600" b="1" dirty="0">
                <a:solidFill>
                  <a:srgbClr val="FF0000"/>
                </a:solidFill>
              </a:rPr>
              <a:t>i</a:t>
            </a:r>
            <a:r>
              <a:rPr lang="en-US" sz="1600" b="1" i="0" u="none" strike="noStrike" kern="1200" dirty="0">
                <a:solidFill>
                  <a:srgbClr val="FF0000"/>
                </a:solidFill>
                <a:effectLst/>
                <a:latin typeface="+mn-lt"/>
                <a:ea typeface="+mn-ea"/>
                <a:cs typeface="+mn-cs"/>
              </a:rPr>
              <a:t> </a:t>
            </a:r>
            <a:r>
              <a:rPr lang="en-US" sz="1600" b="0" i="0" u="none" strike="noStrike" kern="1200" dirty="0">
                <a:effectLst/>
                <a:latin typeface="+mn-lt"/>
                <a:ea typeface="+mn-ea"/>
                <a:cs typeface="+mn-cs"/>
              </a:rPr>
              <a:t>is at index</a:t>
            </a:r>
          </a:p>
          <a:p>
            <a:pPr algn="ctr" rtl="0" eaLnBrk="1" fontAlgn="ctr" latinLnBrk="0" hangingPunct="1"/>
            <a:r>
              <a:rPr lang="en-US" sz="1600" b="0" i="0" u="none" strike="noStrike" kern="1200" dirty="0">
                <a:solidFill>
                  <a:schemeClr val="tx1"/>
                </a:solidFill>
                <a:effectLst/>
                <a:latin typeface="+mn-lt"/>
                <a:ea typeface="+mn-ea"/>
                <a:cs typeface="+mn-cs"/>
              </a:rPr>
              <a:t>(</a:t>
            </a:r>
            <a:r>
              <a:rPr lang="en-US" sz="1600" b="0" i="0" u="none" strike="noStrike" kern="1200" dirty="0" err="1">
                <a:solidFill>
                  <a:schemeClr val="tx1"/>
                </a:solidFill>
                <a:effectLst/>
                <a:latin typeface="+mn-lt"/>
                <a:ea typeface="+mn-ea"/>
                <a:cs typeface="+mn-cs"/>
              </a:rPr>
              <a:t>i</a:t>
            </a:r>
            <a:r>
              <a:rPr lang="en-US" sz="1600" b="0" i="0" u="none" strike="noStrike" kern="1200" dirty="0">
                <a:solidFill>
                  <a:schemeClr val="tx1"/>
                </a:solidFill>
                <a:effectLst/>
                <a:latin typeface="+mn-lt"/>
                <a:ea typeface="+mn-ea"/>
                <a:cs typeface="+mn-cs"/>
              </a:rPr>
              <a:t> - 1) / 2 (integer division)</a:t>
            </a:r>
          </a:p>
        </p:txBody>
      </p:sp>
    </p:spTree>
    <p:extLst>
      <p:ext uri="{BB962C8B-B14F-4D97-AF65-F5344CB8AC3E}">
        <p14:creationId xmlns:p14="http://schemas.microsoft.com/office/powerpoint/2010/main" val="2606925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animBg="1"/>
      <p:bldP spid="19" grpId="0" animBg="1"/>
      <p:bldP spid="20" grpId="0" animBg="1"/>
      <p:bldP spid="21" grpId="0" animBg="1"/>
      <p:bldP spid="22" grpId="0" animBg="1"/>
      <p:bldP spid="23" grpId="0" animBg="1"/>
      <p:bldP spid="24" grpId="0" animBg="1"/>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The text describes a step-by-step process of sorting an array using a variation of the insertion sort algorithm, specifically focusing on swapping elements based on their values.&#10;&#10;AI-generated content may be incorrect.">
            <a:extLst>
              <a:ext uri="{FF2B5EF4-FFF2-40B4-BE49-F238E27FC236}">
                <a16:creationId xmlns:a16="http://schemas.microsoft.com/office/drawing/2014/main" id="{63828135-C755-46B1-4FBC-F2A10141D16A}"/>
              </a:ext>
            </a:extLst>
          </p:cNvPr>
          <p:cNvPicPr>
            <a:picLocks noChangeAspect="1"/>
          </p:cNvPicPr>
          <p:nvPr/>
        </p:nvPicPr>
        <p:blipFill>
          <a:blip r:embed="rId3"/>
          <a:srcRect l="13292" t="4242" r="3428" b="65993"/>
          <a:stretch>
            <a:fillRect/>
          </a:stretch>
        </p:blipFill>
        <p:spPr>
          <a:xfrm>
            <a:off x="627069" y="4932443"/>
            <a:ext cx="4938054" cy="1515356"/>
          </a:xfrm>
          <a:prstGeom prst="rect">
            <a:avLst/>
          </a:prstGeom>
        </p:spPr>
      </p:pic>
      <p:sp>
        <p:nvSpPr>
          <p:cNvPr id="2" name="Title 1">
            <a:extLst>
              <a:ext uri="{FF2B5EF4-FFF2-40B4-BE49-F238E27FC236}">
                <a16:creationId xmlns:a16="http://schemas.microsoft.com/office/drawing/2014/main" id="{F0D4888E-F838-9EEB-517A-6D3180D66B3C}"/>
              </a:ext>
            </a:extLst>
          </p:cNvPr>
          <p:cNvSpPr>
            <a:spLocks noGrp="1"/>
          </p:cNvSpPr>
          <p:nvPr>
            <p:ph type="title"/>
          </p:nvPr>
        </p:nvSpPr>
        <p:spPr/>
        <p:txBody>
          <a:bodyPr/>
          <a:lstStyle/>
          <a:p>
            <a:r>
              <a:rPr lang="en-US" dirty="0">
                <a:solidFill>
                  <a:srgbClr val="C00000"/>
                </a:solidFill>
              </a:rPr>
              <a:t>Max Heap Operations - </a:t>
            </a:r>
            <a:r>
              <a:rPr lang="en-US" b="1" dirty="0">
                <a:solidFill>
                  <a:srgbClr val="C00000"/>
                </a:solidFill>
              </a:rPr>
              <a:t>Add</a:t>
            </a:r>
            <a:endParaRPr lang="en-US" b="1" dirty="0"/>
          </a:p>
        </p:txBody>
      </p:sp>
      <p:sp>
        <p:nvSpPr>
          <p:cNvPr id="5" name="TextBox 4">
            <a:extLst>
              <a:ext uri="{FF2B5EF4-FFF2-40B4-BE49-F238E27FC236}">
                <a16:creationId xmlns:a16="http://schemas.microsoft.com/office/drawing/2014/main" id="{7E06ACE2-3711-B67F-4545-C0B11FF86DE1}"/>
              </a:ext>
            </a:extLst>
          </p:cNvPr>
          <p:cNvSpPr txBox="1"/>
          <p:nvPr/>
        </p:nvSpPr>
        <p:spPr>
          <a:xfrm>
            <a:off x="838200" y="1691559"/>
            <a:ext cx="3236814" cy="369332"/>
          </a:xfrm>
          <a:prstGeom prst="rect">
            <a:avLst/>
          </a:prstGeom>
          <a:noFill/>
        </p:spPr>
        <p:txBody>
          <a:bodyPr wrap="square" rtlCol="0">
            <a:spAutoFit/>
          </a:bodyPr>
          <a:lstStyle/>
          <a:p>
            <a:pPr algn="ctr"/>
            <a:r>
              <a:rPr lang="en-US" dirty="0">
                <a:solidFill>
                  <a:srgbClr val="FF0000"/>
                </a:solidFill>
              </a:rPr>
              <a:t>Add 38</a:t>
            </a:r>
          </a:p>
        </p:txBody>
      </p:sp>
      <p:pic>
        <p:nvPicPr>
          <p:cNvPr id="9" name="Picture 8" descr="The diagram shows a series of numerical values: 50, 35, 45, 33, 25, 40, and 7, arranged in ascending order.&#10;&#10;AI-generated content may be incorrect.">
            <a:extLst>
              <a:ext uri="{FF2B5EF4-FFF2-40B4-BE49-F238E27FC236}">
                <a16:creationId xmlns:a16="http://schemas.microsoft.com/office/drawing/2014/main" id="{AB029BEE-8326-2397-44D9-20BC07641D89}"/>
              </a:ext>
            </a:extLst>
          </p:cNvPr>
          <p:cNvPicPr>
            <a:picLocks noChangeAspect="1"/>
          </p:cNvPicPr>
          <p:nvPr/>
        </p:nvPicPr>
        <p:blipFill>
          <a:blip r:embed="rId4"/>
          <a:stretch>
            <a:fillRect/>
          </a:stretch>
        </p:blipFill>
        <p:spPr>
          <a:xfrm>
            <a:off x="627068" y="2055813"/>
            <a:ext cx="3429479" cy="1905266"/>
          </a:xfrm>
          <a:prstGeom prst="rect">
            <a:avLst/>
          </a:prstGeom>
        </p:spPr>
      </p:pic>
      <p:pic>
        <p:nvPicPr>
          <p:cNvPr id="11" name="Picture 10" descr="The text describes a step-by-step process of sorting an array using a variation of the insertion sort algorithm, specifically focusing on swapping elements based on their values.&#10;&#10;AI-generated content may be incorrect.">
            <a:extLst>
              <a:ext uri="{FF2B5EF4-FFF2-40B4-BE49-F238E27FC236}">
                <a16:creationId xmlns:a16="http://schemas.microsoft.com/office/drawing/2014/main" id="{E7387C34-1D3E-A3BC-6E2F-1C51CFF76D6E}"/>
              </a:ext>
            </a:extLst>
          </p:cNvPr>
          <p:cNvPicPr>
            <a:picLocks noChangeAspect="1"/>
          </p:cNvPicPr>
          <p:nvPr/>
        </p:nvPicPr>
        <p:blipFill>
          <a:blip r:embed="rId3"/>
          <a:srcRect t="35892"/>
          <a:stretch>
            <a:fillRect/>
          </a:stretch>
        </p:blipFill>
        <p:spPr>
          <a:xfrm>
            <a:off x="5135570" y="1512071"/>
            <a:ext cx="6775731" cy="3729631"/>
          </a:xfrm>
          <a:prstGeom prst="rect">
            <a:avLst/>
          </a:prstGeom>
        </p:spPr>
      </p:pic>
      <p:sp>
        <p:nvSpPr>
          <p:cNvPr id="14" name="Rectangle 13">
            <a:extLst>
              <a:ext uri="{FF2B5EF4-FFF2-40B4-BE49-F238E27FC236}">
                <a16:creationId xmlns:a16="http://schemas.microsoft.com/office/drawing/2014/main" id="{94ECC611-EE5C-2382-3D7F-B0973E26D479}"/>
              </a:ext>
            </a:extLst>
          </p:cNvPr>
          <p:cNvSpPr/>
          <p:nvPr/>
        </p:nvSpPr>
        <p:spPr>
          <a:xfrm>
            <a:off x="476518" y="4737207"/>
            <a:ext cx="2416663" cy="18152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69BB6F4-1A9B-21AF-AE14-06D8DDD31B1B}"/>
              </a:ext>
            </a:extLst>
          </p:cNvPr>
          <p:cNvSpPr/>
          <p:nvPr/>
        </p:nvSpPr>
        <p:spPr>
          <a:xfrm>
            <a:off x="2972903" y="5436938"/>
            <a:ext cx="3035460" cy="6519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9F67D95-7703-F59E-9D89-D41635699A41}"/>
              </a:ext>
            </a:extLst>
          </p:cNvPr>
          <p:cNvSpPr/>
          <p:nvPr/>
        </p:nvSpPr>
        <p:spPr>
          <a:xfrm>
            <a:off x="3060540" y="6134939"/>
            <a:ext cx="3035460" cy="266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15EA62F-2C01-7B4C-E956-15B27F03F3F9}"/>
              </a:ext>
            </a:extLst>
          </p:cNvPr>
          <p:cNvSpPr/>
          <p:nvPr/>
        </p:nvSpPr>
        <p:spPr>
          <a:xfrm>
            <a:off x="5682991" y="1531163"/>
            <a:ext cx="3035460" cy="17461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2FBADEE-9577-FFF9-9F60-9B6B929EEA93}"/>
              </a:ext>
            </a:extLst>
          </p:cNvPr>
          <p:cNvSpPr/>
          <p:nvPr/>
        </p:nvSpPr>
        <p:spPr>
          <a:xfrm>
            <a:off x="8789549" y="2185362"/>
            <a:ext cx="3035460" cy="6519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5F308F7-C65C-3FFD-EE23-C27D286B370C}"/>
              </a:ext>
            </a:extLst>
          </p:cNvPr>
          <p:cNvSpPr/>
          <p:nvPr/>
        </p:nvSpPr>
        <p:spPr>
          <a:xfrm>
            <a:off x="8734835" y="2938279"/>
            <a:ext cx="3035460" cy="266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0A1298F-9144-12FC-E1BF-359C3FC2B6A7}"/>
              </a:ext>
            </a:extLst>
          </p:cNvPr>
          <p:cNvSpPr/>
          <p:nvPr/>
        </p:nvSpPr>
        <p:spPr>
          <a:xfrm>
            <a:off x="5722512" y="3404540"/>
            <a:ext cx="3035460" cy="17461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AD2C8C0-54C8-A6A6-4EB9-31FEB46FE26A}"/>
              </a:ext>
            </a:extLst>
          </p:cNvPr>
          <p:cNvSpPr/>
          <p:nvPr/>
        </p:nvSpPr>
        <p:spPr>
          <a:xfrm>
            <a:off x="8773165" y="3984290"/>
            <a:ext cx="3035460" cy="6519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D147B23-F456-9606-0D0A-5B24B19BAEED}"/>
              </a:ext>
            </a:extLst>
          </p:cNvPr>
          <p:cNvSpPr/>
          <p:nvPr/>
        </p:nvSpPr>
        <p:spPr>
          <a:xfrm>
            <a:off x="8718451" y="4737207"/>
            <a:ext cx="3035460" cy="266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63B534B-4603-C2D0-4F0A-E39E1A0F5B68}"/>
              </a:ext>
            </a:extLst>
          </p:cNvPr>
          <p:cNvSpPr txBox="1"/>
          <p:nvPr/>
        </p:nvSpPr>
        <p:spPr>
          <a:xfrm>
            <a:off x="7539751" y="6123543"/>
            <a:ext cx="3645550" cy="369332"/>
          </a:xfrm>
          <a:prstGeom prst="rect">
            <a:avLst/>
          </a:prstGeom>
          <a:noFill/>
        </p:spPr>
        <p:txBody>
          <a:bodyPr wrap="square" rtlCol="0">
            <a:spAutoFit/>
          </a:bodyPr>
          <a:lstStyle/>
          <a:p>
            <a:pPr algn="ctr"/>
            <a:r>
              <a:rPr lang="en-US" dirty="0">
                <a:solidFill>
                  <a:srgbClr val="FF0000"/>
                </a:solidFill>
              </a:rPr>
              <a:t>What Happens if I add 99?</a:t>
            </a:r>
          </a:p>
        </p:txBody>
      </p:sp>
    </p:spTree>
    <p:extLst>
      <p:ext uri="{BB962C8B-B14F-4D97-AF65-F5344CB8AC3E}">
        <p14:creationId xmlns:p14="http://schemas.microsoft.com/office/powerpoint/2010/main" val="214008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DD74C-0FB3-9DA2-523E-A0E0A761BBFF}"/>
              </a:ext>
            </a:extLst>
          </p:cNvPr>
          <p:cNvSpPr>
            <a:spLocks noGrp="1"/>
          </p:cNvSpPr>
          <p:nvPr>
            <p:ph type="title"/>
          </p:nvPr>
        </p:nvSpPr>
        <p:spPr/>
        <p:txBody>
          <a:bodyPr/>
          <a:lstStyle/>
          <a:p>
            <a:r>
              <a:rPr lang="en-US" dirty="0">
                <a:solidFill>
                  <a:srgbClr val="C00000"/>
                </a:solidFill>
              </a:rPr>
              <a:t>Max Heap </a:t>
            </a:r>
            <a:r>
              <a:rPr lang="en-US" b="1" dirty="0">
                <a:solidFill>
                  <a:srgbClr val="C00000"/>
                </a:solidFill>
              </a:rPr>
              <a:t>Add</a:t>
            </a:r>
            <a:r>
              <a:rPr lang="en-US" dirty="0">
                <a:solidFill>
                  <a:srgbClr val="C00000"/>
                </a:solidFill>
              </a:rPr>
              <a:t> - Efficiency</a:t>
            </a:r>
            <a:endParaRPr lang="en-US" dirty="0"/>
          </a:p>
        </p:txBody>
      </p:sp>
      <p:sp>
        <p:nvSpPr>
          <p:cNvPr id="3" name="Content Placeholder 2">
            <a:extLst>
              <a:ext uri="{FF2B5EF4-FFF2-40B4-BE49-F238E27FC236}">
                <a16:creationId xmlns:a16="http://schemas.microsoft.com/office/drawing/2014/main" id="{6E5ED02B-DF94-1F2E-44CC-7ED22C0BBDE6}"/>
              </a:ext>
            </a:extLst>
          </p:cNvPr>
          <p:cNvSpPr>
            <a:spLocks noGrp="1"/>
          </p:cNvSpPr>
          <p:nvPr>
            <p:ph idx="1"/>
          </p:nvPr>
        </p:nvSpPr>
        <p:spPr/>
        <p:txBody>
          <a:bodyPr/>
          <a:lstStyle/>
          <a:p>
            <a:r>
              <a:rPr lang="en-US" dirty="0"/>
              <a:t>Steps</a:t>
            </a:r>
          </a:p>
          <a:p>
            <a:pPr lvl="1"/>
            <a:r>
              <a:rPr lang="en-US" dirty="0"/>
              <a:t>Add item at the end</a:t>
            </a:r>
          </a:p>
          <a:p>
            <a:pPr lvl="1"/>
            <a:r>
              <a:rPr lang="en-US" dirty="0"/>
              <a:t>If needed happify up; at each level</a:t>
            </a:r>
          </a:p>
          <a:p>
            <a:pPr lvl="2"/>
            <a:r>
              <a:rPr lang="en-US" dirty="0"/>
              <a:t>Find parent’s index</a:t>
            </a:r>
          </a:p>
          <a:p>
            <a:pPr lvl="2"/>
            <a:r>
              <a:rPr lang="en-US" dirty="0"/>
              <a:t>Compare</a:t>
            </a:r>
          </a:p>
          <a:p>
            <a:pPr lvl="2"/>
            <a:r>
              <a:rPr lang="en-US" dirty="0"/>
              <a:t>Swap</a:t>
            </a:r>
          </a:p>
        </p:txBody>
      </p:sp>
      <p:sp>
        <p:nvSpPr>
          <p:cNvPr id="5" name="TextBox 4">
            <a:extLst>
              <a:ext uri="{FF2B5EF4-FFF2-40B4-BE49-F238E27FC236}">
                <a16:creationId xmlns:a16="http://schemas.microsoft.com/office/drawing/2014/main" id="{9E061F92-75AD-0032-8E81-EACC1FBDDAB0}"/>
              </a:ext>
            </a:extLst>
          </p:cNvPr>
          <p:cNvSpPr txBox="1"/>
          <p:nvPr/>
        </p:nvSpPr>
        <p:spPr>
          <a:xfrm>
            <a:off x="1315255" y="5222979"/>
            <a:ext cx="8698069" cy="923330"/>
          </a:xfrm>
          <a:prstGeom prst="rect">
            <a:avLst/>
          </a:prstGeom>
          <a:noFill/>
        </p:spPr>
        <p:txBody>
          <a:bodyPr wrap="square">
            <a:spAutoFit/>
          </a:bodyPr>
          <a:lstStyle/>
          <a:p>
            <a:pPr lvl="2" algn="ctr"/>
            <a:r>
              <a:rPr lang="en-US" b="0" i="0" kern="1200" dirty="0">
                <a:solidFill>
                  <a:schemeClr val="tx1"/>
                </a:solidFill>
                <a:effectLst/>
                <a:latin typeface="+mn-lt"/>
                <a:ea typeface="+mn-ea"/>
                <a:cs typeface="+mn-cs"/>
              </a:rPr>
              <a:t>Because we always add in a way that maintains the complete-tree property. </a:t>
            </a:r>
          </a:p>
          <a:p>
            <a:pPr lvl="2" algn="ctr"/>
            <a:r>
              <a:rPr lang="en-US" b="0" i="0" kern="1200" dirty="0">
                <a:solidFill>
                  <a:schemeClr val="tx1"/>
                </a:solidFill>
                <a:effectLst/>
                <a:latin typeface="+mn-lt"/>
                <a:ea typeface="+mn-ea"/>
                <a:cs typeface="+mn-cs"/>
              </a:rPr>
              <a:t>The heap </a:t>
            </a:r>
            <a:r>
              <a:rPr lang="en-US" b="1" i="0" kern="1200" dirty="0">
                <a:solidFill>
                  <a:schemeClr val="tx1"/>
                </a:solidFill>
                <a:effectLst/>
                <a:latin typeface="+mn-lt"/>
                <a:ea typeface="+mn-ea"/>
                <a:cs typeface="+mn-cs"/>
              </a:rPr>
              <a:t>can't</a:t>
            </a:r>
            <a:r>
              <a:rPr lang="en-US" b="0" i="0" kern="1200" dirty="0">
                <a:solidFill>
                  <a:schemeClr val="tx1"/>
                </a:solidFill>
                <a:effectLst/>
                <a:latin typeface="+mn-lt"/>
                <a:ea typeface="+mn-ea"/>
                <a:cs typeface="+mn-cs"/>
              </a:rPr>
              <a:t> become a stick the way a BST can.</a:t>
            </a:r>
          </a:p>
          <a:p>
            <a:pPr lvl="2" algn="ctr"/>
            <a:r>
              <a:rPr lang="en-US" b="0" i="0" kern="1200" dirty="0">
                <a:solidFill>
                  <a:schemeClr val="tx1"/>
                </a:solidFill>
                <a:effectLst/>
                <a:latin typeface="+mn-lt"/>
                <a:ea typeface="+mn-ea"/>
                <a:cs typeface="+mn-cs"/>
              </a:rPr>
              <a:t> Balance comes for free.</a:t>
            </a:r>
          </a:p>
        </p:txBody>
      </p:sp>
      <p:sp>
        <p:nvSpPr>
          <p:cNvPr id="7" name="TextBox 6">
            <a:extLst>
              <a:ext uri="{FF2B5EF4-FFF2-40B4-BE49-F238E27FC236}">
                <a16:creationId xmlns:a16="http://schemas.microsoft.com/office/drawing/2014/main" id="{41767916-CAFA-61C0-FFCE-808386E5D0A1}"/>
              </a:ext>
            </a:extLst>
          </p:cNvPr>
          <p:cNvSpPr txBox="1"/>
          <p:nvPr/>
        </p:nvSpPr>
        <p:spPr>
          <a:xfrm>
            <a:off x="2719053" y="4784450"/>
            <a:ext cx="6094926" cy="369332"/>
          </a:xfrm>
          <a:prstGeom prst="rect">
            <a:avLst/>
          </a:prstGeom>
          <a:noFill/>
        </p:spPr>
        <p:txBody>
          <a:bodyPr wrap="square">
            <a:spAutoFit/>
          </a:bodyPr>
          <a:lstStyle/>
          <a:p>
            <a:pPr algn="ctr"/>
            <a:r>
              <a:rPr lang="en-US" b="0" i="0" kern="1200" dirty="0">
                <a:solidFill>
                  <a:srgbClr val="FF0000"/>
                </a:solidFill>
                <a:effectLst/>
                <a:latin typeface="+mn-lt"/>
                <a:ea typeface="+mn-ea"/>
                <a:cs typeface="+mn-cs"/>
              </a:rPr>
              <a:t>Why is Balance guaranteed? </a:t>
            </a:r>
            <a:endParaRPr lang="en-US" sz="2800" dirty="0">
              <a:solidFill>
                <a:srgbClr val="FF0000"/>
              </a:solidFill>
            </a:endParaRPr>
          </a:p>
        </p:txBody>
      </p:sp>
    </p:spTree>
    <p:extLst>
      <p:ext uri="{BB962C8B-B14F-4D97-AF65-F5344CB8AC3E}">
        <p14:creationId xmlns:p14="http://schemas.microsoft.com/office/powerpoint/2010/main" val="793229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B4728-4574-CBA3-E2FA-5D5A72F4AC41}"/>
              </a:ext>
            </a:extLst>
          </p:cNvPr>
          <p:cNvSpPr>
            <a:spLocks noGrp="1"/>
          </p:cNvSpPr>
          <p:nvPr>
            <p:ph type="title"/>
          </p:nvPr>
        </p:nvSpPr>
        <p:spPr/>
        <p:txBody>
          <a:bodyPr/>
          <a:lstStyle/>
          <a:p>
            <a:r>
              <a:rPr lang="en-US" dirty="0">
                <a:solidFill>
                  <a:srgbClr val="C00000"/>
                </a:solidFill>
              </a:rPr>
              <a:t>Max Heap Operations - </a:t>
            </a:r>
            <a:r>
              <a:rPr lang="en-US" b="1" dirty="0" err="1">
                <a:solidFill>
                  <a:srgbClr val="C00000"/>
                </a:solidFill>
              </a:rPr>
              <a:t>RemoveMax</a:t>
            </a:r>
            <a:endParaRPr lang="en-US" b="1" dirty="0"/>
          </a:p>
        </p:txBody>
      </p:sp>
      <p:pic>
        <p:nvPicPr>
          <p:cNvPr id="9" name="Picture 8" descr="The image depicts a decision tree with various numerical values assigned to nodes, illustrating the process of choosing different paths based on numerical criteria.&#10;&#10;AI-generated content may be incorrect.">
            <a:extLst>
              <a:ext uri="{FF2B5EF4-FFF2-40B4-BE49-F238E27FC236}">
                <a16:creationId xmlns:a16="http://schemas.microsoft.com/office/drawing/2014/main" id="{F7DFFE29-B506-E8D5-3501-45BF7CA5B616}"/>
              </a:ext>
            </a:extLst>
          </p:cNvPr>
          <p:cNvPicPr>
            <a:picLocks noChangeAspect="1"/>
          </p:cNvPicPr>
          <p:nvPr/>
        </p:nvPicPr>
        <p:blipFill>
          <a:blip r:embed="rId3"/>
          <a:srcRect l="14158" t="11831" r="47059" b="70610"/>
          <a:stretch>
            <a:fillRect/>
          </a:stretch>
        </p:blipFill>
        <p:spPr>
          <a:xfrm>
            <a:off x="779170" y="2215165"/>
            <a:ext cx="4987465" cy="2672368"/>
          </a:xfrm>
          <a:prstGeom prst="rect">
            <a:avLst/>
          </a:prstGeom>
        </p:spPr>
      </p:pic>
    </p:spTree>
    <p:extLst>
      <p:ext uri="{BB962C8B-B14F-4D97-AF65-F5344CB8AC3E}">
        <p14:creationId xmlns:p14="http://schemas.microsoft.com/office/powerpoint/2010/main" val="687824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79798-4EA3-A0BB-86EF-60A8CB7CC2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3E68B1-600D-4A65-A93D-452774D2501F}"/>
              </a:ext>
            </a:extLst>
          </p:cNvPr>
          <p:cNvSpPr>
            <a:spLocks noGrp="1"/>
          </p:cNvSpPr>
          <p:nvPr>
            <p:ph type="title"/>
          </p:nvPr>
        </p:nvSpPr>
        <p:spPr/>
        <p:txBody>
          <a:bodyPr/>
          <a:lstStyle/>
          <a:p>
            <a:r>
              <a:rPr lang="en-US" dirty="0">
                <a:solidFill>
                  <a:srgbClr val="C00000"/>
                </a:solidFill>
              </a:rPr>
              <a:t>Max Heap Operations - </a:t>
            </a:r>
            <a:r>
              <a:rPr lang="en-US" b="1" dirty="0" err="1">
                <a:solidFill>
                  <a:srgbClr val="C00000"/>
                </a:solidFill>
              </a:rPr>
              <a:t>RemoveMax</a:t>
            </a:r>
            <a:endParaRPr lang="en-US" b="1" dirty="0"/>
          </a:p>
        </p:txBody>
      </p:sp>
      <p:pic>
        <p:nvPicPr>
          <p:cNvPr id="5" name="Picture 4" descr="The image depicts a decision tree with various numerical values assigned to nodes, illustrating the process of choosing different paths based on numerical criteria.&#10;&#10;AI-generated content may be incorrect.">
            <a:extLst>
              <a:ext uri="{FF2B5EF4-FFF2-40B4-BE49-F238E27FC236}">
                <a16:creationId xmlns:a16="http://schemas.microsoft.com/office/drawing/2014/main" id="{AA3ADA0B-C080-CE9B-E897-C110991BDD4A}"/>
              </a:ext>
            </a:extLst>
          </p:cNvPr>
          <p:cNvPicPr>
            <a:picLocks noChangeAspect="1"/>
          </p:cNvPicPr>
          <p:nvPr/>
        </p:nvPicPr>
        <p:blipFill>
          <a:blip r:embed="rId3"/>
          <a:srcRect l="11176" t="7324" r="2719" b="50047"/>
          <a:stretch>
            <a:fillRect/>
          </a:stretch>
        </p:blipFill>
        <p:spPr>
          <a:xfrm>
            <a:off x="291788" y="2099255"/>
            <a:ext cx="5407113" cy="3168205"/>
          </a:xfrm>
          <a:prstGeom prst="rect">
            <a:avLst/>
          </a:prstGeom>
        </p:spPr>
      </p:pic>
      <p:pic>
        <p:nvPicPr>
          <p:cNvPr id="7" name="Picture 6" descr="The image depicts a tree structure, illustrating the process of binary search with a node value of 7, including a visual representation of the steps to locate a node within the tree.&#10;&#10;AI-generated content may be incorrect.">
            <a:extLst>
              <a:ext uri="{FF2B5EF4-FFF2-40B4-BE49-F238E27FC236}">
                <a16:creationId xmlns:a16="http://schemas.microsoft.com/office/drawing/2014/main" id="{0F74B59E-62F5-580D-09C0-9CF8ACE0F7A4}"/>
              </a:ext>
            </a:extLst>
          </p:cNvPr>
          <p:cNvPicPr>
            <a:picLocks noChangeAspect="1"/>
          </p:cNvPicPr>
          <p:nvPr/>
        </p:nvPicPr>
        <p:blipFill>
          <a:blip r:embed="rId3"/>
          <a:srcRect l="3830" t="50397" r="2304" b="8246"/>
          <a:stretch>
            <a:fillRect/>
          </a:stretch>
        </p:blipFill>
        <p:spPr>
          <a:xfrm>
            <a:off x="5920169" y="3263568"/>
            <a:ext cx="5900671" cy="3076908"/>
          </a:xfrm>
          <a:prstGeom prst="rect">
            <a:avLst/>
          </a:prstGeom>
        </p:spPr>
      </p:pic>
      <p:sp>
        <p:nvSpPr>
          <p:cNvPr id="8" name="Rectangle 7">
            <a:extLst>
              <a:ext uri="{FF2B5EF4-FFF2-40B4-BE49-F238E27FC236}">
                <a16:creationId xmlns:a16="http://schemas.microsoft.com/office/drawing/2014/main" id="{0B8F22E8-7447-64BD-90E6-1443B343217E}"/>
              </a:ext>
            </a:extLst>
          </p:cNvPr>
          <p:cNvSpPr/>
          <p:nvPr/>
        </p:nvSpPr>
        <p:spPr>
          <a:xfrm>
            <a:off x="437646" y="3802816"/>
            <a:ext cx="2406316" cy="16170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51077AF-52C4-798A-A57F-7E2FEA0D8F45}"/>
              </a:ext>
            </a:extLst>
          </p:cNvPr>
          <p:cNvSpPr/>
          <p:nvPr/>
        </p:nvSpPr>
        <p:spPr>
          <a:xfrm>
            <a:off x="3240076" y="3870193"/>
            <a:ext cx="2406316" cy="16170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5089A4E-F24F-A441-656F-F203DDBDFA48}"/>
              </a:ext>
            </a:extLst>
          </p:cNvPr>
          <p:cNvSpPr txBox="1"/>
          <p:nvPr/>
        </p:nvSpPr>
        <p:spPr>
          <a:xfrm>
            <a:off x="596767" y="5863770"/>
            <a:ext cx="4254366" cy="646331"/>
          </a:xfrm>
          <a:prstGeom prst="rect">
            <a:avLst/>
          </a:prstGeom>
          <a:noFill/>
        </p:spPr>
        <p:txBody>
          <a:bodyPr wrap="square" rtlCol="0">
            <a:spAutoFit/>
          </a:bodyPr>
          <a:lstStyle/>
          <a:p>
            <a:pPr algn="ctr"/>
            <a:r>
              <a:rPr lang="en-US" dirty="0">
                <a:solidFill>
                  <a:srgbClr val="FF0000"/>
                </a:solidFill>
              </a:rPr>
              <a:t>Now Completeness is Satisfied but Heap property is violated</a:t>
            </a:r>
          </a:p>
        </p:txBody>
      </p:sp>
      <p:sp>
        <p:nvSpPr>
          <p:cNvPr id="13" name="TextBox 12">
            <a:extLst>
              <a:ext uri="{FF2B5EF4-FFF2-40B4-BE49-F238E27FC236}">
                <a16:creationId xmlns:a16="http://schemas.microsoft.com/office/drawing/2014/main" id="{E96D7217-75E5-08AF-A526-540A9D393DC2}"/>
              </a:ext>
            </a:extLst>
          </p:cNvPr>
          <p:cNvSpPr txBox="1"/>
          <p:nvPr/>
        </p:nvSpPr>
        <p:spPr>
          <a:xfrm>
            <a:off x="7032078" y="1650423"/>
            <a:ext cx="4254366" cy="369332"/>
          </a:xfrm>
          <a:prstGeom prst="rect">
            <a:avLst/>
          </a:prstGeom>
          <a:noFill/>
        </p:spPr>
        <p:txBody>
          <a:bodyPr wrap="square" rtlCol="0">
            <a:spAutoFit/>
          </a:bodyPr>
          <a:lstStyle/>
          <a:p>
            <a:pPr algn="ctr"/>
            <a:r>
              <a:rPr lang="en-US" b="1" dirty="0" err="1">
                <a:solidFill>
                  <a:srgbClr val="FF0000"/>
                </a:solidFill>
              </a:rPr>
              <a:t>Heapify</a:t>
            </a:r>
            <a:r>
              <a:rPr lang="en-US" b="1" dirty="0">
                <a:solidFill>
                  <a:srgbClr val="FF0000"/>
                </a:solidFill>
              </a:rPr>
              <a:t> Down</a:t>
            </a:r>
          </a:p>
        </p:txBody>
      </p:sp>
      <p:sp>
        <p:nvSpPr>
          <p:cNvPr id="14" name="TextBox 13">
            <a:extLst>
              <a:ext uri="{FF2B5EF4-FFF2-40B4-BE49-F238E27FC236}">
                <a16:creationId xmlns:a16="http://schemas.microsoft.com/office/drawing/2014/main" id="{30F57148-0A8B-3170-6DA7-0400B01E1723}"/>
              </a:ext>
            </a:extLst>
          </p:cNvPr>
          <p:cNvSpPr txBox="1"/>
          <p:nvPr/>
        </p:nvSpPr>
        <p:spPr>
          <a:xfrm>
            <a:off x="6673831" y="2319958"/>
            <a:ext cx="5092781" cy="369332"/>
          </a:xfrm>
          <a:prstGeom prst="rect">
            <a:avLst/>
          </a:prstGeom>
          <a:noFill/>
        </p:spPr>
        <p:txBody>
          <a:bodyPr wrap="square" rtlCol="0">
            <a:spAutoFit/>
          </a:bodyPr>
          <a:lstStyle/>
          <a:p>
            <a:pPr algn="ctr"/>
            <a:r>
              <a:rPr lang="en-US" dirty="0">
                <a:solidFill>
                  <a:srgbClr val="FF0000"/>
                </a:solidFill>
              </a:rPr>
              <a:t>7 can have two children, which one to swap with?</a:t>
            </a:r>
          </a:p>
        </p:txBody>
      </p:sp>
      <p:sp>
        <p:nvSpPr>
          <p:cNvPr id="15" name="Rectangle 14">
            <a:extLst>
              <a:ext uri="{FF2B5EF4-FFF2-40B4-BE49-F238E27FC236}">
                <a16:creationId xmlns:a16="http://schemas.microsoft.com/office/drawing/2014/main" id="{6BBB8E8C-666B-D82C-950D-B6705DE59A36}"/>
              </a:ext>
            </a:extLst>
          </p:cNvPr>
          <p:cNvSpPr/>
          <p:nvPr/>
        </p:nvSpPr>
        <p:spPr>
          <a:xfrm>
            <a:off x="6464188" y="3161344"/>
            <a:ext cx="2406316" cy="16170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47B2E0F-EEBA-CE15-A2BC-9F760BA9F1EE}"/>
              </a:ext>
            </a:extLst>
          </p:cNvPr>
          <p:cNvSpPr/>
          <p:nvPr/>
        </p:nvSpPr>
        <p:spPr>
          <a:xfrm>
            <a:off x="9220222" y="3787338"/>
            <a:ext cx="2406316" cy="6201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6F2115D-3405-5E4E-5ACD-E6B7FADA1024}"/>
              </a:ext>
            </a:extLst>
          </p:cNvPr>
          <p:cNvSpPr/>
          <p:nvPr/>
        </p:nvSpPr>
        <p:spPr>
          <a:xfrm>
            <a:off x="9367809" y="4468301"/>
            <a:ext cx="2406316" cy="3100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2AB478D-26C9-5861-6F68-9AC208EF3231}"/>
              </a:ext>
            </a:extLst>
          </p:cNvPr>
          <p:cNvSpPr/>
          <p:nvPr/>
        </p:nvSpPr>
        <p:spPr>
          <a:xfrm>
            <a:off x="6347080" y="4875831"/>
            <a:ext cx="2406316" cy="16170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F9163B2-2876-BA24-4E68-B827B8E3EC94}"/>
              </a:ext>
            </a:extLst>
          </p:cNvPr>
          <p:cNvSpPr/>
          <p:nvPr/>
        </p:nvSpPr>
        <p:spPr>
          <a:xfrm>
            <a:off x="9271557" y="5352666"/>
            <a:ext cx="2406316" cy="6201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C17E23B-CE47-520C-1742-FBC5E1932DBF}"/>
              </a:ext>
            </a:extLst>
          </p:cNvPr>
          <p:cNvSpPr/>
          <p:nvPr/>
        </p:nvSpPr>
        <p:spPr>
          <a:xfrm>
            <a:off x="9271557" y="5998288"/>
            <a:ext cx="2406316" cy="3100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The image depicts a tree structure, illustrating the process of binary search with a node value of 7, including a visual representation of the steps to locate a node within the tree.&#10;&#10;AI-generated content may be incorrect.">
            <a:extLst>
              <a:ext uri="{FF2B5EF4-FFF2-40B4-BE49-F238E27FC236}">
                <a16:creationId xmlns:a16="http://schemas.microsoft.com/office/drawing/2014/main" id="{66EF686A-80B5-6B75-1D12-1A0EDFF47ECA}"/>
              </a:ext>
            </a:extLst>
          </p:cNvPr>
          <p:cNvPicPr>
            <a:picLocks noChangeAspect="1"/>
          </p:cNvPicPr>
          <p:nvPr/>
        </p:nvPicPr>
        <p:blipFill>
          <a:blip r:embed="rId3"/>
          <a:srcRect l="3830" t="93694" r="2304"/>
          <a:stretch>
            <a:fillRect/>
          </a:stretch>
        </p:blipFill>
        <p:spPr>
          <a:xfrm>
            <a:off x="6725166" y="2722871"/>
            <a:ext cx="5092781" cy="404892"/>
          </a:xfrm>
          <a:prstGeom prst="rect">
            <a:avLst/>
          </a:prstGeom>
        </p:spPr>
      </p:pic>
    </p:spTree>
    <p:extLst>
      <p:ext uri="{BB962C8B-B14F-4D97-AF65-F5344CB8AC3E}">
        <p14:creationId xmlns:p14="http://schemas.microsoft.com/office/powerpoint/2010/main" val="1334051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p:bldP spid="13" grpId="0"/>
      <p:bldP spid="14" grpId="0"/>
      <p:bldP spid="15" grpId="0" animBg="1"/>
      <p:bldP spid="16" grpId="0" animBg="1"/>
      <p:bldP spid="17" grpId="0" animBg="1"/>
      <p:bldP spid="18" grpId="0" animBg="1"/>
      <p:bldP spid="19" grpId="0" animBg="1"/>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B64F6-844B-53C5-1B42-317683C28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DF1584-C91F-59F6-2490-B1805DE20380}"/>
              </a:ext>
            </a:extLst>
          </p:cNvPr>
          <p:cNvSpPr>
            <a:spLocks noGrp="1"/>
          </p:cNvSpPr>
          <p:nvPr>
            <p:ph type="title"/>
          </p:nvPr>
        </p:nvSpPr>
        <p:spPr/>
        <p:txBody>
          <a:bodyPr/>
          <a:lstStyle/>
          <a:p>
            <a:r>
              <a:rPr lang="en-US" dirty="0">
                <a:solidFill>
                  <a:srgbClr val="C00000"/>
                </a:solidFill>
              </a:rPr>
              <a:t>Max Heap </a:t>
            </a:r>
            <a:r>
              <a:rPr lang="en-US" b="1" dirty="0" err="1">
                <a:solidFill>
                  <a:srgbClr val="C00000"/>
                </a:solidFill>
              </a:rPr>
              <a:t>RemoveMax</a:t>
            </a:r>
            <a:r>
              <a:rPr lang="en-US" dirty="0">
                <a:solidFill>
                  <a:srgbClr val="C00000"/>
                </a:solidFill>
              </a:rPr>
              <a:t> - Efficiency</a:t>
            </a:r>
            <a:endParaRPr lang="en-US" dirty="0"/>
          </a:p>
        </p:txBody>
      </p:sp>
      <p:sp>
        <p:nvSpPr>
          <p:cNvPr id="3" name="Content Placeholder 2">
            <a:extLst>
              <a:ext uri="{FF2B5EF4-FFF2-40B4-BE49-F238E27FC236}">
                <a16:creationId xmlns:a16="http://schemas.microsoft.com/office/drawing/2014/main" id="{73D747A2-67D7-0174-5869-85F9EB5BDEA0}"/>
              </a:ext>
            </a:extLst>
          </p:cNvPr>
          <p:cNvSpPr>
            <a:spLocks noGrp="1"/>
          </p:cNvSpPr>
          <p:nvPr>
            <p:ph idx="1"/>
          </p:nvPr>
        </p:nvSpPr>
        <p:spPr/>
        <p:txBody>
          <a:bodyPr/>
          <a:lstStyle/>
          <a:p>
            <a:r>
              <a:rPr lang="en-US" dirty="0"/>
              <a:t>Steps</a:t>
            </a:r>
          </a:p>
          <a:p>
            <a:pPr lvl="1"/>
            <a:r>
              <a:rPr lang="en-US" sz="1600" dirty="0"/>
              <a:t>Swap root with the leaf node to be removed: </a:t>
            </a:r>
          </a:p>
          <a:p>
            <a:pPr lvl="1"/>
            <a:r>
              <a:rPr lang="en-US" sz="1600" dirty="0"/>
              <a:t>Remove the last slot</a:t>
            </a:r>
          </a:p>
          <a:p>
            <a:pPr lvl="1"/>
            <a:r>
              <a:rPr lang="en-US" sz="1600" dirty="0" err="1"/>
              <a:t>Heapify</a:t>
            </a:r>
            <a:r>
              <a:rPr lang="en-US" sz="1600" dirty="0"/>
              <a:t> down: </a:t>
            </a:r>
          </a:p>
          <a:p>
            <a:pPr lvl="2"/>
            <a:r>
              <a:rPr lang="en-US" sz="1200" dirty="0"/>
              <a:t>at most one swap per level, </a:t>
            </a:r>
          </a:p>
          <a:p>
            <a:pPr lvl="2"/>
            <a:r>
              <a:rPr lang="en-US" sz="1200" dirty="0"/>
              <a:t>and each level costs at most 2 comparisons, </a:t>
            </a:r>
          </a:p>
          <a:p>
            <a:pPr lvl="2"/>
            <a:r>
              <a:rPr lang="en-US" sz="1200" dirty="0"/>
              <a:t>so the number of steps is at most the height.</a:t>
            </a:r>
          </a:p>
          <a:p>
            <a:pPr lvl="0"/>
            <a:r>
              <a:rPr lang="en-US" sz="2400" b="1" dirty="0"/>
              <a:t>Guaranteed O(log N)</a:t>
            </a:r>
            <a:r>
              <a:rPr lang="en-US" sz="2400" dirty="0"/>
              <a:t>, again because the tree is always complete.</a:t>
            </a:r>
          </a:p>
          <a:p>
            <a:pPr lvl="1"/>
            <a:endParaRPr lang="en-US" dirty="0"/>
          </a:p>
        </p:txBody>
      </p:sp>
    </p:spTree>
    <p:extLst>
      <p:ext uri="{BB962C8B-B14F-4D97-AF65-F5344CB8AC3E}">
        <p14:creationId xmlns:p14="http://schemas.microsoft.com/office/powerpoint/2010/main" val="3887787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6077E-747B-FF14-9C3C-128C23153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A091A4-84E2-8F25-DE16-75DC9464A725}"/>
              </a:ext>
            </a:extLst>
          </p:cNvPr>
          <p:cNvSpPr>
            <a:spLocks noGrp="1"/>
          </p:cNvSpPr>
          <p:nvPr>
            <p:ph type="title"/>
          </p:nvPr>
        </p:nvSpPr>
        <p:spPr/>
        <p:txBody>
          <a:bodyPr/>
          <a:lstStyle/>
          <a:p>
            <a:r>
              <a:rPr lang="en-US" dirty="0">
                <a:solidFill>
                  <a:srgbClr val="C00000"/>
                </a:solidFill>
              </a:rPr>
              <a:t>Max Heap Operations - </a:t>
            </a:r>
            <a:r>
              <a:rPr lang="en-US" b="1" dirty="0" err="1">
                <a:solidFill>
                  <a:srgbClr val="C00000"/>
                </a:solidFill>
              </a:rPr>
              <a:t>PeekMax</a:t>
            </a:r>
            <a:endParaRPr lang="en-US" b="1" dirty="0"/>
          </a:p>
        </p:txBody>
      </p:sp>
      <p:sp>
        <p:nvSpPr>
          <p:cNvPr id="4" name="TextBox 3">
            <a:extLst>
              <a:ext uri="{FF2B5EF4-FFF2-40B4-BE49-F238E27FC236}">
                <a16:creationId xmlns:a16="http://schemas.microsoft.com/office/drawing/2014/main" id="{13CE8D87-5091-3696-CA8A-B94D08ECB5B9}"/>
              </a:ext>
            </a:extLst>
          </p:cNvPr>
          <p:cNvSpPr txBox="1"/>
          <p:nvPr/>
        </p:nvSpPr>
        <p:spPr>
          <a:xfrm>
            <a:off x="838200" y="2087313"/>
            <a:ext cx="7107528" cy="2585323"/>
          </a:xfrm>
          <a:prstGeom prst="rect">
            <a:avLst/>
          </a:prstGeom>
          <a:noFill/>
        </p:spPr>
        <p:txBody>
          <a:bodyPr wrap="square">
            <a:spAutoFit/>
          </a:bodyPr>
          <a:lstStyle/>
          <a:p>
            <a:pPr marL="285750" marR="0" indent="-285750" algn="l">
              <a:buFont typeface="Arial" panose="020B0604020202020204" pitchFamily="34" charset="0"/>
              <a:buChar char="•"/>
            </a:pPr>
            <a:r>
              <a:rPr lang="en-US" sz="1800" b="0" i="0" dirty="0">
                <a:effectLst/>
                <a:latin typeface="+mn-lt"/>
              </a:rPr>
              <a:t>Return the root (array[0]) without removing it. </a:t>
            </a:r>
          </a:p>
          <a:p>
            <a:pPr marL="742950" lvl="1" indent="-285750">
              <a:buFont typeface="Arial" panose="020B0604020202020204" pitchFamily="34" charset="0"/>
              <a:buChar char="•"/>
            </a:pPr>
            <a:r>
              <a:rPr lang="en-US" b="1" i="0" dirty="0">
                <a:effectLst/>
                <a:latin typeface="+mn-lt"/>
              </a:rPr>
              <a:t>O(1).</a:t>
            </a:r>
          </a:p>
          <a:p>
            <a:pPr marL="285750" marR="0" indent="-285750" algn="l">
              <a:buFont typeface="Arial" panose="020B0604020202020204" pitchFamily="34" charset="0"/>
              <a:buChar char="•"/>
            </a:pPr>
            <a:endParaRPr lang="en-US" sz="1800" b="0" i="0" dirty="0">
              <a:effectLst/>
              <a:latin typeface="+mn-lt"/>
            </a:endParaRPr>
          </a:p>
          <a:p>
            <a:pPr marL="285750" marR="0" indent="-285750" algn="l">
              <a:buFont typeface="Arial" panose="020B0604020202020204" pitchFamily="34" charset="0"/>
              <a:buChar char="•"/>
            </a:pPr>
            <a:r>
              <a:rPr lang="en-US" sz="1800" b="0" i="0" dirty="0">
                <a:effectLst/>
                <a:latin typeface="+mn-lt"/>
              </a:rPr>
              <a:t>This is the one place where the heap actually </a:t>
            </a:r>
            <a:r>
              <a:rPr lang="en-US" sz="1800" b="1" i="0" dirty="0">
                <a:effectLst/>
                <a:latin typeface="+mn-lt"/>
              </a:rPr>
              <a:t>wins</a:t>
            </a:r>
            <a:r>
              <a:rPr lang="en-US" sz="1800" b="0" i="0" dirty="0">
                <a:effectLst/>
                <a:latin typeface="+mn-lt"/>
              </a:rPr>
              <a:t>. </a:t>
            </a:r>
          </a:p>
          <a:p>
            <a:pPr marL="285750" marR="0" indent="-285750" algn="l">
              <a:buFont typeface="Arial" panose="020B0604020202020204" pitchFamily="34" charset="0"/>
              <a:buChar char="•"/>
            </a:pPr>
            <a:endParaRPr lang="en-US" dirty="0"/>
          </a:p>
          <a:p>
            <a:pPr marL="285750" marR="0" indent="-285750" algn="l">
              <a:buFont typeface="Arial" panose="020B0604020202020204" pitchFamily="34" charset="0"/>
              <a:buChar char="•"/>
            </a:pPr>
            <a:r>
              <a:rPr lang="en-US" sz="1800" b="0" i="0" dirty="0">
                <a:effectLst/>
                <a:latin typeface="+mn-lt"/>
              </a:rPr>
              <a:t>Every other structure that had O(1) peek paid O(N) somewhere else, and the BST pays O(log N) to walk to its rightmost node. </a:t>
            </a:r>
          </a:p>
          <a:p>
            <a:pPr marL="285750" marR="0" indent="-285750" algn="l">
              <a:buFont typeface="Arial" panose="020B0604020202020204" pitchFamily="34" charset="0"/>
              <a:buChar char="•"/>
            </a:pPr>
            <a:endParaRPr lang="en-US" dirty="0"/>
          </a:p>
          <a:p>
            <a:pPr marL="285750" marR="0" indent="-285750" algn="l">
              <a:buFont typeface="Arial" panose="020B0604020202020204" pitchFamily="34" charset="0"/>
              <a:buChar char="•"/>
            </a:pPr>
            <a:r>
              <a:rPr lang="en-US" sz="1800" b="0" i="0" dirty="0">
                <a:effectLst/>
                <a:latin typeface="+mn-lt"/>
              </a:rPr>
              <a:t>The heap gives you O(1) peek </a:t>
            </a:r>
            <a:r>
              <a:rPr lang="en-US" sz="1800" b="1" i="0" dirty="0">
                <a:effectLst/>
                <a:latin typeface="+mn-lt"/>
              </a:rPr>
              <a:t>and</a:t>
            </a:r>
            <a:r>
              <a:rPr lang="en-US" sz="1800" b="0" i="0" dirty="0">
                <a:effectLst/>
                <a:latin typeface="+mn-lt"/>
              </a:rPr>
              <a:t> O(log N) add/remove.</a:t>
            </a:r>
            <a:endParaRPr lang="en-US" sz="1050" b="0" i="0" dirty="0">
              <a:effectLst/>
              <a:latin typeface="-apple-system"/>
            </a:endParaRPr>
          </a:p>
        </p:txBody>
      </p:sp>
    </p:spTree>
    <p:extLst>
      <p:ext uri="{BB962C8B-B14F-4D97-AF65-F5344CB8AC3E}">
        <p14:creationId xmlns:p14="http://schemas.microsoft.com/office/powerpoint/2010/main" val="492612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0F19C-7871-2155-8297-2C21B4EEDF9B}"/>
              </a:ext>
            </a:extLst>
          </p:cNvPr>
          <p:cNvSpPr>
            <a:spLocks noGrp="1"/>
          </p:cNvSpPr>
          <p:nvPr>
            <p:ph type="title"/>
          </p:nvPr>
        </p:nvSpPr>
        <p:spPr/>
        <p:txBody>
          <a:bodyPr/>
          <a:lstStyle/>
          <a:p>
            <a:r>
              <a:rPr lang="en-US" dirty="0">
                <a:solidFill>
                  <a:srgbClr val="C00000"/>
                </a:solidFill>
              </a:rPr>
              <a:t>Priority Queue Implementations Summary</a:t>
            </a:r>
            <a:endParaRPr lang="en-US" dirty="0"/>
          </a:p>
        </p:txBody>
      </p:sp>
      <p:pic>
        <p:nvPicPr>
          <p:cNvPr id="5" name="Picture 4" descr="The text describes the time complexity for various operations on different data structures: add, removeMax, and peekMax for arrays (unordered and sorted), linked lists (unordered and ordered), binary search trees (BST), and heaps.&#10;&#10;AI-generated content may be incorrect.">
            <a:extLst>
              <a:ext uri="{FF2B5EF4-FFF2-40B4-BE49-F238E27FC236}">
                <a16:creationId xmlns:a16="http://schemas.microsoft.com/office/drawing/2014/main" id="{FE8DC740-CCCB-D323-1B51-515129F1DC3F}"/>
              </a:ext>
            </a:extLst>
          </p:cNvPr>
          <p:cNvPicPr>
            <a:picLocks noChangeAspect="1"/>
          </p:cNvPicPr>
          <p:nvPr/>
        </p:nvPicPr>
        <p:blipFill>
          <a:blip r:embed="rId2"/>
          <a:stretch>
            <a:fillRect/>
          </a:stretch>
        </p:blipFill>
        <p:spPr>
          <a:xfrm>
            <a:off x="1160172" y="1818170"/>
            <a:ext cx="9516803" cy="3324689"/>
          </a:xfrm>
          <a:prstGeom prst="rect">
            <a:avLst/>
          </a:prstGeom>
        </p:spPr>
      </p:pic>
    </p:spTree>
    <p:extLst>
      <p:ext uri="{BB962C8B-B14F-4D97-AF65-F5344CB8AC3E}">
        <p14:creationId xmlns:p14="http://schemas.microsoft.com/office/powerpoint/2010/main" val="24069835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5138</TotalTime>
  <Words>609</Words>
  <Application>Microsoft Office PowerPoint</Application>
  <PresentationFormat>Widescreen</PresentationFormat>
  <Paragraphs>114</Paragraphs>
  <Slides>16</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-apple-system</vt:lpstr>
      <vt:lpstr>Aptos</vt:lpstr>
      <vt:lpstr>Aptos Display</vt:lpstr>
      <vt:lpstr>Arial</vt:lpstr>
      <vt:lpstr>Cambria Math</vt:lpstr>
      <vt:lpstr>system-ui</vt:lpstr>
      <vt:lpstr>Office Theme</vt:lpstr>
      <vt:lpstr>Binary Heap</vt:lpstr>
      <vt:lpstr>Abstract Data Type &amp; Data Structures</vt:lpstr>
      <vt:lpstr>Binary Heap – Properties?</vt:lpstr>
      <vt:lpstr>Min Heap</vt:lpstr>
      <vt:lpstr>A Cool Consequence…</vt:lpstr>
      <vt:lpstr>Max Heap- Array Representation</vt:lpstr>
      <vt:lpstr>Max Heap Operations</vt:lpstr>
      <vt:lpstr>Max Heap Operations - Add</vt:lpstr>
      <vt:lpstr>Max Heap Operations - Add</vt:lpstr>
      <vt:lpstr>Max Heap Operations - Add</vt:lpstr>
      <vt:lpstr>Max Heap Add - Efficiency</vt:lpstr>
      <vt:lpstr>Max Heap Operations - RemoveMax</vt:lpstr>
      <vt:lpstr>Max Heap Operations - RemoveMax</vt:lpstr>
      <vt:lpstr>Max Heap RemoveMax - Efficiency</vt:lpstr>
      <vt:lpstr>Max Heap Operations - PeekMax</vt:lpstr>
      <vt:lpstr>Priority Queue Implementations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Hend Gedawy</dc:creator>
  <cp:lastModifiedBy>Hend Gedawy</cp:lastModifiedBy>
  <cp:revision>24</cp:revision>
  <cp:lastPrinted>2026-10-27T04:41:19Z</cp:lastPrinted>
  <dcterms:created xsi:type="dcterms:W3CDTF">2026-10-23T06:29:18Z</dcterms:created>
  <dcterms:modified xsi:type="dcterms:W3CDTF">2026-10-29T08:05:20Z</dcterms:modified>
</cp:coreProperties>
</file>