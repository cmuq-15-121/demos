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691" r:id="rId3"/>
    <p:sldId id="683" r:id="rId4"/>
    <p:sldId id="684" r:id="rId5"/>
    <p:sldId id="686" r:id="rId6"/>
    <p:sldId id="677" r:id="rId7"/>
    <p:sldId id="678" r:id="rId8"/>
    <p:sldId id="679" r:id="rId9"/>
    <p:sldId id="696" r:id="rId10"/>
    <p:sldId id="697" r:id="rId11"/>
    <p:sldId id="726" r:id="rId12"/>
    <p:sldId id="670" r:id="rId13"/>
    <p:sldId id="690" r:id="rId14"/>
    <p:sldId id="673" r:id="rId15"/>
    <p:sldId id="675" r:id="rId16"/>
    <p:sldId id="676" r:id="rId17"/>
    <p:sldId id="674" r:id="rId18"/>
    <p:sldId id="722" r:id="rId19"/>
    <p:sldId id="713" r:id="rId20"/>
    <p:sldId id="714" r:id="rId21"/>
    <p:sldId id="716" r:id="rId22"/>
    <p:sldId id="715" r:id="rId23"/>
    <p:sldId id="710" r:id="rId24"/>
    <p:sldId id="723" r:id="rId25"/>
    <p:sldId id="692" r:id="rId26"/>
    <p:sldId id="695" r:id="rId27"/>
    <p:sldId id="728" r:id="rId28"/>
    <p:sldId id="693" r:id="rId29"/>
    <p:sldId id="707" r:id="rId30"/>
    <p:sldId id="699" r:id="rId31"/>
    <p:sldId id="694" r:id="rId32"/>
    <p:sldId id="717" r:id="rId33"/>
    <p:sldId id="701" r:id="rId34"/>
    <p:sldId id="700" r:id="rId35"/>
    <p:sldId id="719" r:id="rId36"/>
    <p:sldId id="718" r:id="rId37"/>
    <p:sldId id="721" r:id="rId38"/>
    <p:sldId id="703" r:id="rId39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5EF"/>
    <a:srgbClr val="FFFFFF"/>
    <a:srgbClr val="F2C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7" autoAdjust="0"/>
    <p:restoredTop sz="84311" autoAdjust="0"/>
  </p:normalViewPr>
  <p:slideViewPr>
    <p:cSldViewPr snapToGrid="0">
      <p:cViewPr varScale="1">
        <p:scale>
          <a:sx n="131" d="100"/>
          <a:sy n="131" d="100"/>
        </p:scale>
        <p:origin x="16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AC8A9-90CE-41C6-AB83-221DE2A3CCC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DADDE-60C8-4FA1-9615-FB4172EDE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35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9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47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10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3EFA-6685-4C7E-F014-9AF2CE3C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7A3ED-8BF5-2EF7-1FFC-D1F4109CD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A8FDA-CC08-7326-9ED5-ACC130132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FC74C-ACD5-FB47-444F-BAC9B6469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5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0301-1442-4BAA-84C7-59F08E51B6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51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B846-E3BD-D57D-054C-B5F4621A3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FC15D-59E2-44CD-F385-C31E2515A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B8ECF-E5DA-7204-E4F3-09C59750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73669-E3B6-B4D4-0C49-B2276E4F6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0301-1442-4BAA-84C7-59F08E51B6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65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4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0301-1442-4BAA-84C7-59F08E51B62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2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51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0301-1442-4BAA-84C7-59F08E51B6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19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8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16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F4E0-3CAE-DDEC-A942-FC04E1A17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F47FF-86D1-0890-D9FB-DA40ECA38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05C89-351A-ECF7-84C8-D06EF7CB3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794DE-4C48-D77E-B8C9-46B367AB7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3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1F34-83E3-C1DA-D5D5-1C877C9E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154A8-ADBF-A584-A4A3-A3490F17D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4CD0B-00D0-C79C-7484-AC9D7336F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24E84-0C04-AD79-9170-16C33FC66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44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76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110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98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11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259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22A8-BC7F-CDD6-63A6-A648F2A0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F7A0B-DD16-A275-1622-C95501BB3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701F1-5992-39EF-A74E-A55442FD3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ABE90-6E19-05AF-A3F1-E555939B2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75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40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04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81FB-D8E7-B9E6-891C-283235C1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B238F-71E1-D014-0D94-1A8BD2F19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7CAE8-B98B-E4A0-C5FA-1DBACADB6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37F0-A3CE-FC2C-A1B2-CEF95E31A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75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98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290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58536-B14D-90AC-ACA9-B0EFBE13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CE571-FBB3-0FFE-8E8F-16F216414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7B15D-7802-3859-3755-6E142F3BD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118B9-EE33-A4CF-966D-6C5E8EB75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879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9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DADDE-60C8-4FA1-9615-FB4172EDE24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9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142B-B422-4DE7-D0B6-ACA7C03A9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06AF3-8E1D-EDE9-FFB8-39991D632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9E7AC-AD93-F864-C194-A32C4C66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DCCA0-141D-F19A-D8AE-E902ACD3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A4480-5116-BBF9-7C70-12105C82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5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8143-6566-F55D-80B6-C5A0387E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00FF9-94AD-60D4-FC45-3A24473AF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9C70-1F0E-D4A0-B548-26591945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4D849-E5A5-EAE7-E2F8-59FCEA8C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83A3A-5B82-743B-BB92-3B33D047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9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1C94-B6DB-CDA2-0AB6-ADA441DA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B170B-B9B8-B1A6-7A74-7A5181FCA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7A830-D54C-BD1C-7550-89C49F8A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8A042-5384-9F95-39B7-DFD1221E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44066-863F-9204-B4DC-4E605500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8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FBA3-D5A4-1F5B-BCAD-B920A9C1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3304A-9974-B8D9-62E9-FAEE35C31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8A7AD-9B80-6651-B74B-BF93AB347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E9A40-D151-BA0B-C26B-107707DF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3E45C-BD86-D158-2EBC-30B1421B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AB2D9-76FF-FCE3-E584-5B8F3050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7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B569-7AD9-7DA4-14D9-75B30548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4958B-A4A7-23BB-669B-026786E33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C15A1-7672-B410-47E7-0BCABDD58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3E4E3-C2E3-6446-0A16-587D60ABE2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8FFB6-DCF1-55F0-049E-D110DD26F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FEB630-6C2F-29C1-887C-608D0B94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F3C23-5011-B042-07AC-D562C0FA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F7149-0BAC-A9F2-9763-76351F34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3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3AA4-877A-494F-EFF3-256F5E68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2CF41-DA65-E04B-A619-D6C87EA5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FC2E6-03AF-4F11-0395-A63DD7F68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84E94-D645-075D-72DC-168807178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01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DFA7F-8C83-96C8-414A-966F3D3B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95A9A-8557-8C87-506B-493C6613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EA5AA-C838-6792-C8C6-498848B6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1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347C-19BB-E5A3-3D67-C75E8BFE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11303-A185-ED33-2035-C5D49C03E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FD62E-58BF-D9B0-2988-CBE2A9CA3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81C87-EBD1-213B-D20C-CEDCD409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44646-AE2A-0E5D-58A1-D84CEBE3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1A0F6-E7D7-149F-12C1-5617D919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2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3BA4-67DD-5CB6-8BF8-C58285CB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22B99A-C485-0644-5A83-ABA041DFA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547B5-4952-2F26-610D-78487862F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8F1AF-244B-0384-B450-A38697A5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6704C-A7F7-D235-964F-6DBE192D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8AC33-2E4B-D518-2B89-B1BCBC6C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2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62F2-87C7-38AE-8B22-567D0D84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D7520-FE41-75CA-E59C-F5124FB64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62787-AF92-3F31-A26E-A9635E46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F2200-957E-575C-FBE7-A9BA462A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1095B-06B2-BDED-B2B0-8AC59F7B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2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C62084-26D5-0A96-0997-0204BB43A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00781-59FA-A47D-AD4B-34CC27F34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A45C-BC27-430B-79D2-B63298BF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DD6B1-116E-AAD9-35A9-266150A1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E619C-25D4-7359-FDFC-C597D26AE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2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F1C22-12D4-8147-BE4C-38CFD622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5206" y="6452666"/>
            <a:ext cx="559865" cy="4683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90BFAF7-59E2-F54D-A2A7-73B58BE9F199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273B2B-7BBB-434C-BEA3-6F742895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61" y="172407"/>
            <a:ext cx="11833348" cy="6011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800" b="1">
                <a:solidFill>
                  <a:schemeClr val="accent2">
                    <a:lumMod val="75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3E9A5C-CCF8-154D-9100-F43F91CFF477}"/>
              </a:ext>
            </a:extLst>
          </p:cNvPr>
          <p:cNvCxnSpPr>
            <a:cxnSpLocks/>
          </p:cNvCxnSpPr>
          <p:nvPr userDrawn="1"/>
        </p:nvCxnSpPr>
        <p:spPr>
          <a:xfrm>
            <a:off x="278205" y="773569"/>
            <a:ext cx="11789104" cy="0"/>
          </a:xfrm>
          <a:prstGeom prst="line">
            <a:avLst/>
          </a:prstGeom>
          <a:ln w="444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85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90739-C386-05A5-2048-9497A491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BE424-0445-97A4-28D4-1EB89E99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45CC1-A5A9-38EE-7C51-32C49AB7B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6E502-944E-4452-9181-F6206390DA7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4CF52-92D0-D56A-BD49-3B97AA2C5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0125-B468-5B90-7C74-2ECB91597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E903D-5A71-4EE8-AFC2-AC6E45573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eldung.com/java-hashcode" TargetMode="Externa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9D48-734B-C5C7-40AC-F41E6393D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Iterator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AB119-48B2-F03F-5FD8-14712876F6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7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7FA7-5899-A2EC-D26E-5472CD56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LinkedList Example -  Complexity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99BF1-024A-856A-18CF-B569DA7FD6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521" b="20463"/>
          <a:stretch>
            <a:fillRect/>
          </a:stretch>
        </p:blipFill>
        <p:spPr>
          <a:xfrm>
            <a:off x="5391330" y="3122010"/>
            <a:ext cx="1409339" cy="3590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C7D64-E2FD-F46B-B0A6-52F0E5F53A4B}"/>
              </a:ext>
            </a:extLst>
          </p:cNvPr>
          <p:cNvSpPr txBox="1"/>
          <p:nvPr/>
        </p:nvSpPr>
        <p:spPr>
          <a:xfrm>
            <a:off x="773927" y="2763872"/>
            <a:ext cx="2883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Each </a:t>
            </a:r>
            <a:r>
              <a:rPr lang="en-US" sz="24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get()</a:t>
            </a:r>
            <a:r>
              <a:rPr lang="en-US" sz="2400" b="1" i="1" dirty="0">
                <a:solidFill>
                  <a:srgbClr val="FF0000"/>
                </a:solidFill>
              </a:rPr>
              <a:t> starts over from the head.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AF9F7F-421B-02D6-CF5C-D62AAB6E0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841" y="1690688"/>
            <a:ext cx="6065255" cy="10854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1A10CA-7371-3806-69E6-DB5C821C7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89" y="4089033"/>
            <a:ext cx="4301861" cy="4671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E974FC-9071-0BDD-C218-B0C708206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6593" y="4713503"/>
            <a:ext cx="1857784" cy="9076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5423D3-22C8-420D-B592-3D72E2567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193" r="36905" b="20463"/>
          <a:stretch>
            <a:fillRect/>
          </a:stretch>
        </p:blipFill>
        <p:spPr>
          <a:xfrm>
            <a:off x="7071357" y="3112991"/>
            <a:ext cx="2239619" cy="35467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C5F71E-1D33-6841-D7F5-925B9602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272" r="4518" b="20463"/>
          <a:stretch>
            <a:fillRect/>
          </a:stretch>
        </p:blipFill>
        <p:spPr>
          <a:xfrm>
            <a:off x="9581664" y="3119304"/>
            <a:ext cx="1478089" cy="35961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7C9032F-6023-15C0-57AA-79597A65A0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9432" y="5694972"/>
            <a:ext cx="1421820" cy="727255"/>
          </a:xfrm>
          <a:prstGeom prst="rect">
            <a:avLst/>
          </a:prstGeom>
        </p:spPr>
      </p:pic>
      <p:pic>
        <p:nvPicPr>
          <p:cNvPr id="5122" name="Picture 2" descr="PHP - Linked List - AlphaCodingSkills">
            <a:extLst>
              <a:ext uri="{FF2B5EF4-FFF2-40B4-BE49-F238E27FC236}">
                <a16:creationId xmlns:a16="http://schemas.microsoft.com/office/drawing/2014/main" id="{95D3268B-AB36-9DBB-C1CB-F48381331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00" y="1690688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23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4AE2-FF95-1621-6197-1192587E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>
                <a:solidFill>
                  <a:srgbClr val="C00000"/>
                </a:solidFill>
              </a:rPr>
              <a:t> VS Iterator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7BB540-E994-61DD-52D1-9E7C63274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3" y="2326115"/>
            <a:ext cx="10954681" cy="249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4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7D66-5090-7444-247C-4735FD85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Making A Custom Class Work with For-Each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D51E8-4B7D-13FE-1450-43BD10A60AFB}"/>
              </a:ext>
            </a:extLst>
          </p:cNvPr>
          <p:cNvSpPr txBox="1"/>
          <p:nvPr/>
        </p:nvSpPr>
        <p:spPr>
          <a:xfrm>
            <a:off x="3318468" y="2071776"/>
            <a:ext cx="3129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Iterable</a:t>
            </a:r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(I can be tracked)</a:t>
            </a:r>
          </a:p>
        </p:txBody>
      </p:sp>
      <p:pic>
        <p:nvPicPr>
          <p:cNvPr id="4098" name="Picture 2" descr="79,400+ Open Book Isolated Stock Photos ...">
            <a:extLst>
              <a:ext uri="{FF2B5EF4-FFF2-40B4-BE49-F238E27FC236}">
                <a16:creationId xmlns:a16="http://schemas.microsoft.com/office/drawing/2014/main" id="{D8FF3812-8D0E-6786-5310-3379B263D2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2" t="17163" r="6332" b="12487"/>
          <a:stretch>
            <a:fillRect/>
          </a:stretch>
        </p:blipFill>
        <p:spPr bwMode="auto">
          <a:xfrm>
            <a:off x="723418" y="1733207"/>
            <a:ext cx="2482769" cy="112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ooden bookmark Meadow | BeWooden">
            <a:extLst>
              <a:ext uri="{FF2B5EF4-FFF2-40B4-BE49-F238E27FC236}">
                <a16:creationId xmlns:a16="http://schemas.microsoft.com/office/drawing/2014/main" id="{518801BA-E6F0-3938-E52F-AD2540C4D1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48" t="2484" r="26160" b="7706"/>
          <a:stretch>
            <a:fillRect/>
          </a:stretch>
        </p:blipFill>
        <p:spPr bwMode="auto">
          <a:xfrm rot="2217521">
            <a:off x="10689395" y="1507692"/>
            <a:ext cx="1413862" cy="221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CE141E-3740-5197-3123-83A06B1FF5D7}"/>
              </a:ext>
            </a:extLst>
          </p:cNvPr>
          <p:cNvSpPr txBox="1"/>
          <p:nvPr/>
        </p:nvSpPr>
        <p:spPr>
          <a:xfrm>
            <a:off x="7765677" y="2070797"/>
            <a:ext cx="3129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Iterator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(I track Position)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6A45D-428E-1CD3-6623-70A04BC53D25}"/>
              </a:ext>
            </a:extLst>
          </p:cNvPr>
          <p:cNvSpPr txBox="1"/>
          <p:nvPr/>
        </p:nvSpPr>
        <p:spPr>
          <a:xfrm>
            <a:off x="1432723" y="3552056"/>
            <a:ext cx="333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Roster</a:t>
            </a:r>
            <a:r>
              <a:rPr lang="en-US" b="1" dirty="0"/>
              <a:t> Implements </a:t>
            </a:r>
            <a:r>
              <a:rPr lang="en-US" u="sng" dirty="0" err="1"/>
              <a:t>Iterable</a:t>
            </a:r>
            <a:endParaRPr lang="en-US" u="sng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30F5211-5875-230B-4E8D-35D22B6AF6D1}"/>
              </a:ext>
            </a:extLst>
          </p:cNvPr>
          <p:cNvSpPr/>
          <p:nvPr/>
        </p:nvSpPr>
        <p:spPr>
          <a:xfrm>
            <a:off x="2717203" y="4414101"/>
            <a:ext cx="459645" cy="53788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C2909-3613-4FDC-6500-6AC3D013CC06}"/>
              </a:ext>
            </a:extLst>
          </p:cNvPr>
          <p:cNvSpPr txBox="1"/>
          <p:nvPr/>
        </p:nvSpPr>
        <p:spPr>
          <a:xfrm>
            <a:off x="1432723" y="5183182"/>
            <a:ext cx="3334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Implements </a:t>
            </a:r>
            <a:r>
              <a:rPr lang="en-US" u="sng" dirty="0"/>
              <a:t>iterator() </a:t>
            </a:r>
            <a:r>
              <a:rPr lang="en-US" dirty="0"/>
              <a:t>method</a:t>
            </a:r>
            <a:r>
              <a:rPr lang="en-US" b="1" dirty="0"/>
              <a:t>; </a:t>
            </a:r>
            <a:r>
              <a:rPr lang="en-US" dirty="0"/>
              <a:t>returns an object of the </a:t>
            </a:r>
            <a:r>
              <a:rPr lang="en-US" dirty="0" err="1"/>
              <a:t>RosterIterator</a:t>
            </a:r>
            <a:r>
              <a:rPr lang="en-US" dirty="0"/>
              <a:t> class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C31B7-BD90-393B-9A72-2AFCF412A47D}"/>
              </a:ext>
            </a:extLst>
          </p:cNvPr>
          <p:cNvSpPr txBox="1"/>
          <p:nvPr/>
        </p:nvSpPr>
        <p:spPr>
          <a:xfrm>
            <a:off x="7637264" y="3606985"/>
            <a:ext cx="392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RosterIterator</a:t>
            </a:r>
            <a:r>
              <a:rPr lang="en-US" b="1" dirty="0"/>
              <a:t> Implements </a:t>
            </a:r>
            <a:r>
              <a:rPr lang="en-US" u="sng" dirty="0"/>
              <a:t>Iterator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1B3AD9A-4FCC-3F89-9748-05A3A0CA1253}"/>
              </a:ext>
            </a:extLst>
          </p:cNvPr>
          <p:cNvSpPr/>
          <p:nvPr/>
        </p:nvSpPr>
        <p:spPr>
          <a:xfrm>
            <a:off x="9519121" y="4412574"/>
            <a:ext cx="459645" cy="53788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F54C8C-9C9E-2DD0-88D6-6A8AF6638CD7}"/>
              </a:ext>
            </a:extLst>
          </p:cNvPr>
          <p:cNvSpPr txBox="1"/>
          <p:nvPr/>
        </p:nvSpPr>
        <p:spPr>
          <a:xfrm>
            <a:off x="8185908" y="5282562"/>
            <a:ext cx="333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Implements </a:t>
            </a:r>
            <a:r>
              <a:rPr lang="en-US" u="sng" dirty="0" err="1"/>
              <a:t>hasNext</a:t>
            </a:r>
            <a:r>
              <a:rPr lang="en-US" u="sng" dirty="0"/>
              <a:t>(), next()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7FD5F1-BBF5-727C-D82A-17A6A343CCBB}"/>
              </a:ext>
            </a:extLst>
          </p:cNvPr>
          <p:cNvSpPr txBox="1"/>
          <p:nvPr/>
        </p:nvSpPr>
        <p:spPr>
          <a:xfrm>
            <a:off x="1031339" y="3922314"/>
            <a:ext cx="46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“This data collection can be iterated over”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3F725C-9DBD-9E73-274E-F5C1100AEDB6}"/>
              </a:ext>
            </a:extLst>
          </p:cNvPr>
          <p:cNvSpPr txBox="1"/>
          <p:nvPr/>
        </p:nvSpPr>
        <p:spPr>
          <a:xfrm>
            <a:off x="995585" y="6123543"/>
            <a:ext cx="4645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How? “This is the tracker to be used to iterate over the data collection”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44F69E-A2D5-E702-FE67-97BF7E2E78E1}"/>
              </a:ext>
            </a:extLst>
          </p:cNvPr>
          <p:cNvSpPr txBox="1"/>
          <p:nvPr/>
        </p:nvSpPr>
        <p:spPr>
          <a:xfrm>
            <a:off x="7802693" y="3922996"/>
            <a:ext cx="359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Usually a Private class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A50776-2BC5-400A-CF8E-0EC5EE7AB6FF}"/>
              </a:ext>
            </a:extLst>
          </p:cNvPr>
          <p:cNvSpPr txBox="1"/>
          <p:nvPr/>
        </p:nvSpPr>
        <p:spPr>
          <a:xfrm>
            <a:off x="7927144" y="5928893"/>
            <a:ext cx="359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Implements how to traverse through the data (one at a time)</a:t>
            </a:r>
          </a:p>
        </p:txBody>
      </p:sp>
    </p:spTree>
    <p:extLst>
      <p:ext uri="{BB962C8B-B14F-4D97-AF65-F5344CB8AC3E}">
        <p14:creationId xmlns:p14="http://schemas.microsoft.com/office/powerpoint/2010/main" val="54844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 animBg="1"/>
      <p:bldP spid="11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0FD4-C476-EE01-E7BB-762B912F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5D14-CD0C-8A03-77A7-70C4C404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Making A Custom Class Work with For-Each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1EE12-07CC-B30C-4EE6-5905C10D4B10}"/>
              </a:ext>
            </a:extLst>
          </p:cNvPr>
          <p:cNvSpPr txBox="1"/>
          <p:nvPr/>
        </p:nvSpPr>
        <p:spPr>
          <a:xfrm>
            <a:off x="3318468" y="2071776"/>
            <a:ext cx="3129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Iterable</a:t>
            </a:r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(I can be tracked)</a:t>
            </a:r>
          </a:p>
        </p:txBody>
      </p:sp>
      <p:pic>
        <p:nvPicPr>
          <p:cNvPr id="4098" name="Picture 2" descr="79,400+ Open Book Isolated Stock Photos ...">
            <a:extLst>
              <a:ext uri="{FF2B5EF4-FFF2-40B4-BE49-F238E27FC236}">
                <a16:creationId xmlns:a16="http://schemas.microsoft.com/office/drawing/2014/main" id="{DEC5B696-8E6A-1D8E-7EA3-6BE2750D05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2" t="17163" r="6332" b="12487"/>
          <a:stretch>
            <a:fillRect/>
          </a:stretch>
        </p:blipFill>
        <p:spPr bwMode="auto">
          <a:xfrm>
            <a:off x="723418" y="1733207"/>
            <a:ext cx="2482769" cy="112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ooden bookmark Meadow | BeWooden">
            <a:extLst>
              <a:ext uri="{FF2B5EF4-FFF2-40B4-BE49-F238E27FC236}">
                <a16:creationId xmlns:a16="http://schemas.microsoft.com/office/drawing/2014/main" id="{99499FAB-2551-780F-9565-088684188A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48" t="2484" r="26160" b="7706"/>
          <a:stretch>
            <a:fillRect/>
          </a:stretch>
        </p:blipFill>
        <p:spPr bwMode="auto">
          <a:xfrm rot="2217521">
            <a:off x="10689395" y="1507692"/>
            <a:ext cx="1413862" cy="221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C73ABE-425B-95BF-EAC0-8367188B8B65}"/>
              </a:ext>
            </a:extLst>
          </p:cNvPr>
          <p:cNvSpPr txBox="1"/>
          <p:nvPr/>
        </p:nvSpPr>
        <p:spPr>
          <a:xfrm>
            <a:off x="7765677" y="2070797"/>
            <a:ext cx="3129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Iterator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(I track Position)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868FE-82AC-FE1A-DE28-F34532D91562}"/>
              </a:ext>
            </a:extLst>
          </p:cNvPr>
          <p:cNvSpPr txBox="1"/>
          <p:nvPr/>
        </p:nvSpPr>
        <p:spPr>
          <a:xfrm>
            <a:off x="1432723" y="3552056"/>
            <a:ext cx="333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Roster</a:t>
            </a:r>
            <a:r>
              <a:rPr lang="en-US" b="1" dirty="0"/>
              <a:t> Implements </a:t>
            </a:r>
            <a:r>
              <a:rPr lang="en-US" u="sng" dirty="0" err="1"/>
              <a:t>Iterable</a:t>
            </a:r>
            <a:endParaRPr lang="en-US" u="sng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65E4574-C081-5220-E34F-C7897B76293A}"/>
              </a:ext>
            </a:extLst>
          </p:cNvPr>
          <p:cNvSpPr/>
          <p:nvPr/>
        </p:nvSpPr>
        <p:spPr>
          <a:xfrm>
            <a:off x="2717203" y="4414101"/>
            <a:ext cx="459645" cy="53788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ADBA6F-0A43-7BBC-56C9-1987BDAF3272}"/>
              </a:ext>
            </a:extLst>
          </p:cNvPr>
          <p:cNvSpPr txBox="1"/>
          <p:nvPr/>
        </p:nvSpPr>
        <p:spPr>
          <a:xfrm>
            <a:off x="1432723" y="5183182"/>
            <a:ext cx="3334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Implements </a:t>
            </a:r>
            <a:r>
              <a:rPr lang="en-US" u="sng" dirty="0"/>
              <a:t>iterator() </a:t>
            </a:r>
            <a:r>
              <a:rPr lang="en-US" dirty="0"/>
              <a:t>method</a:t>
            </a:r>
            <a:r>
              <a:rPr lang="en-US" b="1" dirty="0"/>
              <a:t>; </a:t>
            </a:r>
            <a:r>
              <a:rPr lang="en-US" dirty="0"/>
              <a:t>returns an object of the </a:t>
            </a:r>
            <a:r>
              <a:rPr lang="en-US" dirty="0" err="1"/>
              <a:t>RosterIterator</a:t>
            </a:r>
            <a:r>
              <a:rPr lang="en-US" dirty="0"/>
              <a:t> class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DC0DD-8A69-5493-E191-0338BCB84828}"/>
              </a:ext>
            </a:extLst>
          </p:cNvPr>
          <p:cNvSpPr txBox="1"/>
          <p:nvPr/>
        </p:nvSpPr>
        <p:spPr>
          <a:xfrm>
            <a:off x="7637264" y="3606985"/>
            <a:ext cx="392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RosterIterator</a:t>
            </a:r>
            <a:r>
              <a:rPr lang="en-US" b="1" dirty="0"/>
              <a:t> Implements </a:t>
            </a:r>
            <a:r>
              <a:rPr lang="en-US" u="sng" dirty="0"/>
              <a:t>Iterator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723518D-640B-3DB5-E225-CA4C8077FB79}"/>
              </a:ext>
            </a:extLst>
          </p:cNvPr>
          <p:cNvSpPr/>
          <p:nvPr/>
        </p:nvSpPr>
        <p:spPr>
          <a:xfrm>
            <a:off x="9519121" y="4412574"/>
            <a:ext cx="459645" cy="53788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8CB020-A071-BDCC-1A5C-C2786EF224CA}"/>
              </a:ext>
            </a:extLst>
          </p:cNvPr>
          <p:cNvSpPr txBox="1"/>
          <p:nvPr/>
        </p:nvSpPr>
        <p:spPr>
          <a:xfrm>
            <a:off x="8185908" y="5282562"/>
            <a:ext cx="333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Implements </a:t>
            </a:r>
            <a:r>
              <a:rPr lang="en-US" u="sng" dirty="0" err="1"/>
              <a:t>hasNext</a:t>
            </a:r>
            <a:r>
              <a:rPr lang="en-US" u="sng" dirty="0"/>
              <a:t>(), next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3DBF2-A7DC-34B5-7739-C879E003874B}"/>
              </a:ext>
            </a:extLst>
          </p:cNvPr>
          <p:cNvSpPr txBox="1"/>
          <p:nvPr/>
        </p:nvSpPr>
        <p:spPr>
          <a:xfrm>
            <a:off x="1031339" y="3922314"/>
            <a:ext cx="46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“This data collection can be iterated over”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47312F-5770-001C-DB90-DF95F1897401}"/>
              </a:ext>
            </a:extLst>
          </p:cNvPr>
          <p:cNvSpPr txBox="1"/>
          <p:nvPr/>
        </p:nvSpPr>
        <p:spPr>
          <a:xfrm>
            <a:off x="995585" y="6123543"/>
            <a:ext cx="4645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How? “This is the tracker to be used to iterate over the data collection”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F1E291-FE39-4D84-7DBF-6AF94BC1809D}"/>
              </a:ext>
            </a:extLst>
          </p:cNvPr>
          <p:cNvSpPr txBox="1"/>
          <p:nvPr/>
        </p:nvSpPr>
        <p:spPr>
          <a:xfrm>
            <a:off x="7802693" y="3922996"/>
            <a:ext cx="359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Usually a Private class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1E035D-71D1-B1CD-B3B6-482BAE4F1FD1}"/>
              </a:ext>
            </a:extLst>
          </p:cNvPr>
          <p:cNvSpPr txBox="1"/>
          <p:nvPr/>
        </p:nvSpPr>
        <p:spPr>
          <a:xfrm>
            <a:off x="7927144" y="5928893"/>
            <a:ext cx="359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70C0"/>
                </a:solidFill>
              </a:rPr>
              <a:t>Implements how to traverse this data collection specifically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059338-6F58-50BE-99FA-A9C6BA19F6AE}"/>
              </a:ext>
            </a:extLst>
          </p:cNvPr>
          <p:cNvSpPr/>
          <p:nvPr/>
        </p:nvSpPr>
        <p:spPr>
          <a:xfrm>
            <a:off x="795673" y="3522585"/>
            <a:ext cx="11129275" cy="3140606"/>
          </a:xfrm>
          <a:prstGeom prst="round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74FA2E-F6C1-57D7-C18D-9E2C85865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856" y="3872462"/>
            <a:ext cx="3420217" cy="10555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115E18-F9F7-5370-8820-BDE50318A7CC}"/>
              </a:ext>
            </a:extLst>
          </p:cNvPr>
          <p:cNvSpPr txBox="1"/>
          <p:nvPr/>
        </p:nvSpPr>
        <p:spPr>
          <a:xfrm>
            <a:off x="4635299" y="5092888"/>
            <a:ext cx="422509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When Java sees for (Student s : roster).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It calls </a:t>
            </a:r>
            <a:r>
              <a:rPr lang="en-US" b="0" i="0" dirty="0" err="1">
                <a:effectLst/>
                <a:latin typeface="system-ui"/>
              </a:rPr>
              <a:t>roster.iterator</a:t>
            </a:r>
            <a:r>
              <a:rPr lang="en-US" b="0" i="0" dirty="0">
                <a:effectLst/>
                <a:latin typeface="system-ui"/>
              </a:rPr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It runs </a:t>
            </a:r>
            <a:r>
              <a:rPr lang="en-US" b="0" i="0" dirty="0" err="1">
                <a:effectLst/>
                <a:latin typeface="system-ui"/>
              </a:rPr>
              <a:t>hasNext</a:t>
            </a:r>
            <a:r>
              <a:rPr lang="en-US" b="0" i="0" dirty="0">
                <a:effectLst/>
                <a:latin typeface="system-ui"/>
              </a:rPr>
              <a:t>() and next() until done.</a:t>
            </a:r>
          </a:p>
        </p:txBody>
      </p:sp>
    </p:spTree>
    <p:extLst>
      <p:ext uri="{BB962C8B-B14F-4D97-AF65-F5344CB8AC3E}">
        <p14:creationId xmlns:p14="http://schemas.microsoft.com/office/powerpoint/2010/main" val="183432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D21C-4775-9BBF-27D4-918B56E7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8D08-209C-74EF-C2B4-7EB329F19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Hash 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9CCA8-F0E0-BD74-4F85-0108C05A62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9974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932C-2BD5-66FF-8F9B-F6D5DE72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987" y="96928"/>
            <a:ext cx="9372601" cy="1325563"/>
          </a:xfrm>
        </p:spPr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ADTs</a:t>
            </a:r>
            <a:r>
              <a:rPr lang="en-US" dirty="0"/>
              <a:t>                 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DataStructures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7A0953-1410-E06A-C479-8EDB2D1B05CC}"/>
              </a:ext>
            </a:extLst>
          </p:cNvPr>
          <p:cNvSpPr txBox="1">
            <a:spLocks/>
          </p:cNvSpPr>
          <p:nvPr/>
        </p:nvSpPr>
        <p:spPr>
          <a:xfrm>
            <a:off x="6569908" y="1894082"/>
            <a:ext cx="3879680" cy="39248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FFFF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Array</a:t>
            </a:r>
          </a:p>
          <a:p>
            <a:r>
              <a:rPr lang="en-US" dirty="0" err="1"/>
              <a:t>ArrayList</a:t>
            </a:r>
            <a:endParaRPr lang="en-US" dirty="0"/>
          </a:p>
          <a:p>
            <a:r>
              <a:rPr lang="en-US" dirty="0"/>
              <a:t>LinkedList</a:t>
            </a:r>
          </a:p>
          <a:p>
            <a:r>
              <a:rPr lang="en-US" dirty="0"/>
              <a:t>Binary Search Tree</a:t>
            </a:r>
          </a:p>
          <a:p>
            <a:r>
              <a:rPr lang="en-US" dirty="0"/>
              <a:t>Binary Heap</a:t>
            </a:r>
          </a:p>
          <a:p>
            <a:pPr lvl="1"/>
            <a:r>
              <a:rPr lang="en-US" dirty="0"/>
              <a:t>Min Heap</a:t>
            </a:r>
          </a:p>
          <a:p>
            <a:pPr lvl="1"/>
            <a:r>
              <a:rPr lang="en-US" dirty="0"/>
              <a:t>Max Heap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Hash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2B6E3-8247-3859-C90B-67D71694DD78}"/>
              </a:ext>
            </a:extLst>
          </p:cNvPr>
          <p:cNvSpPr txBox="1"/>
          <p:nvPr/>
        </p:nvSpPr>
        <p:spPr>
          <a:xfrm>
            <a:off x="3207734" y="1825625"/>
            <a:ext cx="2336120" cy="42780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isEmpty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Peek</a:t>
            </a:r>
          </a:p>
          <a:p>
            <a:pPr lvl="1"/>
            <a:endParaRPr lang="en-US" sz="2000" dirty="0"/>
          </a:p>
          <a:p>
            <a:r>
              <a:rPr lang="en-US" sz="2800" b="1" dirty="0"/>
              <a:t>Priority 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removeMax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PeekMax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9F759-B617-88EE-ABDC-FD2C5FE604B9}"/>
              </a:ext>
            </a:extLst>
          </p:cNvPr>
          <p:cNvSpPr txBox="1"/>
          <p:nvPr/>
        </p:nvSpPr>
        <p:spPr>
          <a:xfrm>
            <a:off x="1076987" y="1794847"/>
            <a:ext cx="2047620" cy="43088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/>
              <a:t>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Size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isEmpty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E08DE8-3322-1B82-3265-141430674851}"/>
              </a:ext>
            </a:extLst>
          </p:cNvPr>
          <p:cNvSpPr/>
          <p:nvPr/>
        </p:nvSpPr>
        <p:spPr>
          <a:xfrm>
            <a:off x="635541" y="3865123"/>
            <a:ext cx="5460459" cy="112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3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F27E-CFDC-0ABE-F9F7-47D21742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is a </a:t>
            </a:r>
            <a:r>
              <a:rPr lang="en-US" b="1" dirty="0" err="1">
                <a:solidFill>
                  <a:srgbClr val="C00000"/>
                </a:solidFill>
              </a:rPr>
              <a:t>HashTable</a:t>
            </a:r>
            <a:r>
              <a:rPr lang="en-US" b="1" dirty="0">
                <a:solidFill>
                  <a:srgbClr val="C00000"/>
                </a:solidFill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0F7BC-17E0-50BC-28B5-E06CE2897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86" y="2557939"/>
            <a:ext cx="5723853" cy="4097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C29D48-E6CA-EAC8-BC8D-31B91DF7A60F}"/>
              </a:ext>
            </a:extLst>
          </p:cNvPr>
          <p:cNvSpPr txBox="1"/>
          <p:nvPr/>
        </p:nvSpPr>
        <p:spPr>
          <a:xfrm>
            <a:off x="838200" y="1603832"/>
            <a:ext cx="100227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hash table is data structure that uses a hash function to quickly distribute items into an array of a fixed size. </a:t>
            </a:r>
            <a:endParaRPr lang="en-US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63E5A-BF79-2505-8E4F-5FF3010C16BC}"/>
              </a:ext>
            </a:extLst>
          </p:cNvPr>
          <p:cNvSpPr txBox="1"/>
          <p:nvPr/>
        </p:nvSpPr>
        <p:spPr>
          <a:xfrm>
            <a:off x="3048000" y="28304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10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48A1AA-AD92-6BB1-CE94-71DA32E14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627" y="1795729"/>
            <a:ext cx="4695941" cy="21158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EA3A26-2AD8-F964-2E69-CF527D23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Custom Hash Function For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72583-20BA-C8D0-5E4A-E8F72A8695FA}"/>
              </a:ext>
            </a:extLst>
          </p:cNvPr>
          <p:cNvSpPr txBox="1"/>
          <p:nvPr/>
        </p:nvSpPr>
        <p:spPr>
          <a:xfrm>
            <a:off x="45467" y="2544239"/>
            <a:ext cx="2303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“</a:t>
            </a:r>
            <a:r>
              <a:rPr lang="en-US" sz="3600" b="1" dirty="0" err="1"/>
              <a:t>qatar</a:t>
            </a:r>
            <a:r>
              <a:rPr lang="en-US" sz="3600" b="1" dirty="0"/>
              <a:t>”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52188BE-F1E2-1638-81EF-BFCE4C37CA75}"/>
              </a:ext>
            </a:extLst>
          </p:cNvPr>
          <p:cNvSpPr/>
          <p:nvPr/>
        </p:nvSpPr>
        <p:spPr>
          <a:xfrm>
            <a:off x="2252871" y="2391969"/>
            <a:ext cx="879328" cy="9234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6F67ED-96E3-17D6-1D1F-87B6B195EF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21"/>
          <a:stretch>
            <a:fillRect/>
          </a:stretch>
        </p:blipFill>
        <p:spPr>
          <a:xfrm>
            <a:off x="2349150" y="4051973"/>
            <a:ext cx="7954204" cy="269319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744874D-6502-E4F1-B0E1-3FF300819C45}"/>
              </a:ext>
            </a:extLst>
          </p:cNvPr>
          <p:cNvSpPr/>
          <p:nvPr/>
        </p:nvSpPr>
        <p:spPr>
          <a:xfrm>
            <a:off x="8684825" y="2405704"/>
            <a:ext cx="879328" cy="9234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5E3C4-3745-94A2-A416-459E70F52AC8}"/>
              </a:ext>
            </a:extLst>
          </p:cNvPr>
          <p:cNvSpPr txBox="1"/>
          <p:nvPr/>
        </p:nvSpPr>
        <p:spPr>
          <a:xfrm>
            <a:off x="9628986" y="2552091"/>
            <a:ext cx="1218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FF42F6-6534-3482-3601-D2683B56FA1C}"/>
              </a:ext>
            </a:extLst>
          </p:cNvPr>
          <p:cNvSpPr txBox="1"/>
          <p:nvPr/>
        </p:nvSpPr>
        <p:spPr>
          <a:xfrm>
            <a:off x="131306" y="3455732"/>
            <a:ext cx="2303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“</a:t>
            </a:r>
            <a:r>
              <a:rPr lang="en-US" sz="3600" b="1" dirty="0" err="1"/>
              <a:t>taarq</a:t>
            </a:r>
            <a:r>
              <a:rPr lang="en-US" sz="3600" b="1" dirty="0"/>
              <a:t>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B3F5A5-175D-6B90-4F3C-F7BB09D51025}"/>
              </a:ext>
            </a:extLst>
          </p:cNvPr>
          <p:cNvSpPr txBox="1"/>
          <p:nvPr/>
        </p:nvSpPr>
        <p:spPr>
          <a:xfrm>
            <a:off x="161661" y="4147253"/>
            <a:ext cx="2303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“</a:t>
            </a:r>
            <a:r>
              <a:rPr lang="en-US" sz="3600" b="1" dirty="0" err="1"/>
              <a:t>qaart</a:t>
            </a:r>
            <a:r>
              <a:rPr lang="en-US" sz="3600" b="1" dirty="0"/>
              <a:t>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19AAF1-E81C-DC37-5B54-4CD77080AA5A}"/>
              </a:ext>
            </a:extLst>
          </p:cNvPr>
          <p:cNvSpPr txBox="1"/>
          <p:nvPr/>
        </p:nvSpPr>
        <p:spPr>
          <a:xfrm>
            <a:off x="137631" y="4953163"/>
            <a:ext cx="2303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“</a:t>
            </a:r>
            <a:r>
              <a:rPr lang="en-US" sz="3600" b="1" dirty="0" err="1"/>
              <a:t>raaqt</a:t>
            </a:r>
            <a:r>
              <a:rPr lang="en-US" sz="3600" b="1" dirty="0"/>
              <a:t>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D1697-20E7-6D67-3A85-E8FC5620F465}"/>
              </a:ext>
            </a:extLst>
          </p:cNvPr>
          <p:cNvSpPr txBox="1"/>
          <p:nvPr/>
        </p:nvSpPr>
        <p:spPr>
          <a:xfrm>
            <a:off x="161661" y="5705405"/>
            <a:ext cx="2303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“</a:t>
            </a:r>
            <a:r>
              <a:rPr lang="en-US" sz="3600" b="1" dirty="0" err="1"/>
              <a:t>qarat</a:t>
            </a:r>
            <a:r>
              <a:rPr lang="en-US" sz="3600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362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0" grpId="0" animBg="1"/>
      <p:bldP spid="11" grpId="0"/>
      <p:bldP spid="16" grpId="0" build="allAtOnce"/>
      <p:bldP spid="17" grpId="0" build="allAtOnce"/>
      <p:bldP spid="18" grpId="0" build="allAtOnce"/>
      <p:bldP spid="19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F8B1-D0AB-A5AA-DB48-633D6B1C1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C0CCD-7C86-AD42-4300-B510F9D7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Custom Hash Function For String: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Better Approach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EA8F2D-8679-AC6C-EDF2-4F9E22045381}"/>
              </a:ext>
            </a:extLst>
          </p:cNvPr>
          <p:cNvGrpSpPr/>
          <p:nvPr/>
        </p:nvGrpSpPr>
        <p:grpSpPr>
          <a:xfrm>
            <a:off x="3148136" y="1804358"/>
            <a:ext cx="5381138" cy="2542929"/>
            <a:chOff x="2865189" y="1754682"/>
            <a:chExt cx="5381138" cy="25429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1FE54C-BE41-2B2E-8446-72606B99A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5189" y="1754682"/>
              <a:ext cx="5381138" cy="254292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6C467BD-D48B-0617-D9C4-A582BE220B78}"/>
                </a:ext>
              </a:extLst>
            </p:cNvPr>
            <p:cNvSpPr/>
            <p:nvPr/>
          </p:nvSpPr>
          <p:spPr>
            <a:xfrm>
              <a:off x="3405003" y="2005618"/>
              <a:ext cx="2126864" cy="30816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FDBF06F-5F8A-271F-3E64-33EF54CCB6A9}"/>
                </a:ext>
              </a:extLst>
            </p:cNvPr>
            <p:cNvSpPr/>
            <p:nvPr/>
          </p:nvSpPr>
          <p:spPr>
            <a:xfrm>
              <a:off x="4688194" y="3284602"/>
              <a:ext cx="1496220" cy="30816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D52AB2F-7870-AD7B-4621-791C2998F948}"/>
              </a:ext>
            </a:extLst>
          </p:cNvPr>
          <p:cNvSpPr txBox="1"/>
          <p:nvPr/>
        </p:nvSpPr>
        <p:spPr>
          <a:xfrm>
            <a:off x="45467" y="2544239"/>
            <a:ext cx="2303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“</a:t>
            </a:r>
            <a:r>
              <a:rPr lang="en-US" sz="3600" b="1" dirty="0" err="1"/>
              <a:t>qatar</a:t>
            </a:r>
            <a:r>
              <a:rPr lang="en-US" sz="3600" b="1" dirty="0"/>
              <a:t>”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96673FE-4E25-7946-5B37-63BB909819EC}"/>
              </a:ext>
            </a:extLst>
          </p:cNvPr>
          <p:cNvSpPr/>
          <p:nvPr/>
        </p:nvSpPr>
        <p:spPr>
          <a:xfrm>
            <a:off x="2115977" y="2402312"/>
            <a:ext cx="879328" cy="9234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E8DF6-9470-22F3-3BAE-177BEED1FCC6}"/>
              </a:ext>
            </a:extLst>
          </p:cNvPr>
          <p:cNvSpPr txBox="1"/>
          <p:nvPr/>
        </p:nvSpPr>
        <p:spPr>
          <a:xfrm>
            <a:off x="3103671" y="4988788"/>
            <a:ext cx="964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 + qv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DB7698-96BB-87D3-C261-915EE320F6A0}"/>
              </a:ext>
            </a:extLst>
          </p:cNvPr>
          <p:cNvSpPr txBox="1"/>
          <p:nvPr/>
        </p:nvSpPr>
        <p:spPr>
          <a:xfrm>
            <a:off x="3985975" y="4988788"/>
            <a:ext cx="1704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) </a:t>
            </a:r>
            <a:r>
              <a:rPr lang="en-US" sz="2000" dirty="0">
                <a:solidFill>
                  <a:srgbClr val="FF0000"/>
                </a:solidFill>
              </a:rPr>
              <a:t>* 31 </a:t>
            </a:r>
            <a:r>
              <a:rPr lang="en-US" sz="2000" dirty="0"/>
              <a:t>+ av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1A7C4-6F5F-D234-6150-CDE0DBC7E9A0}"/>
              </a:ext>
            </a:extLst>
          </p:cNvPr>
          <p:cNvSpPr txBox="1"/>
          <p:nvPr/>
        </p:nvSpPr>
        <p:spPr>
          <a:xfrm>
            <a:off x="2935248" y="4988788"/>
            <a:ext cx="336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17EDC-9CE4-5AD8-E09E-D6B1D5BCC748}"/>
              </a:ext>
            </a:extLst>
          </p:cNvPr>
          <p:cNvSpPr txBox="1"/>
          <p:nvPr/>
        </p:nvSpPr>
        <p:spPr>
          <a:xfrm>
            <a:off x="5137816" y="4942621"/>
            <a:ext cx="1704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)</a:t>
            </a:r>
            <a:r>
              <a:rPr lang="en-US" sz="2400" dirty="0">
                <a:solidFill>
                  <a:srgbClr val="FF0000"/>
                </a:solidFill>
              </a:rPr>
              <a:t> * 31 </a:t>
            </a:r>
            <a:r>
              <a:rPr lang="en-US" sz="2400" dirty="0"/>
              <a:t>+ tv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A7E7C6-B5B8-C383-BB3E-5036EAF67DF9}"/>
              </a:ext>
            </a:extLst>
          </p:cNvPr>
          <p:cNvSpPr txBox="1"/>
          <p:nvPr/>
        </p:nvSpPr>
        <p:spPr>
          <a:xfrm>
            <a:off x="2766825" y="4960737"/>
            <a:ext cx="336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4AEAB-F3DA-9DEF-648D-7D49A0DBE2DD}"/>
              </a:ext>
            </a:extLst>
          </p:cNvPr>
          <p:cNvSpPr txBox="1"/>
          <p:nvPr/>
        </p:nvSpPr>
        <p:spPr>
          <a:xfrm>
            <a:off x="6433742" y="4942620"/>
            <a:ext cx="170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) </a:t>
            </a:r>
            <a:r>
              <a:rPr lang="en-US" sz="2800" dirty="0">
                <a:solidFill>
                  <a:srgbClr val="FF0000"/>
                </a:solidFill>
              </a:rPr>
              <a:t>* 31 </a:t>
            </a:r>
            <a:r>
              <a:rPr lang="en-US" sz="2800" dirty="0"/>
              <a:t>+ av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E7A481-DF1D-BD49-3E10-55FA825DF62C}"/>
              </a:ext>
            </a:extLst>
          </p:cNvPr>
          <p:cNvSpPr txBox="1"/>
          <p:nvPr/>
        </p:nvSpPr>
        <p:spPr>
          <a:xfrm>
            <a:off x="2578308" y="4932747"/>
            <a:ext cx="336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D0225-22D1-BB9C-B9E0-FB686D5D4597}"/>
              </a:ext>
            </a:extLst>
          </p:cNvPr>
          <p:cNvSpPr txBox="1"/>
          <p:nvPr/>
        </p:nvSpPr>
        <p:spPr>
          <a:xfrm>
            <a:off x="8024104" y="4930425"/>
            <a:ext cx="2268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) </a:t>
            </a:r>
            <a:r>
              <a:rPr lang="en-US" sz="3200" dirty="0">
                <a:solidFill>
                  <a:srgbClr val="FF0000"/>
                </a:solidFill>
              </a:rPr>
              <a:t>* 31 </a:t>
            </a:r>
            <a:r>
              <a:rPr lang="en-US" sz="3200" dirty="0"/>
              <a:t>+ </a:t>
            </a:r>
            <a:r>
              <a:rPr lang="en-US" sz="3200" dirty="0" err="1"/>
              <a:t>rv</a:t>
            </a:r>
            <a:endParaRPr lang="en-US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6B77D-C571-3E87-9D1C-BBA2533E5047}"/>
              </a:ext>
            </a:extLst>
          </p:cNvPr>
          <p:cNvSpPr txBox="1"/>
          <p:nvPr/>
        </p:nvSpPr>
        <p:spPr>
          <a:xfrm>
            <a:off x="2379611" y="4932516"/>
            <a:ext cx="336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654BE7-D907-93FF-14EA-05013742BE1B}"/>
              </a:ext>
            </a:extLst>
          </p:cNvPr>
          <p:cNvSpPr txBox="1"/>
          <p:nvPr/>
        </p:nvSpPr>
        <p:spPr>
          <a:xfrm>
            <a:off x="2162510" y="4907022"/>
            <a:ext cx="336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10B0D1-4040-6A6B-2139-36D41687F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6186" b="5321"/>
          <a:stretch>
            <a:fillRect/>
          </a:stretch>
        </p:blipFill>
        <p:spPr>
          <a:xfrm>
            <a:off x="10172173" y="4075805"/>
            <a:ext cx="1098796" cy="26931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3ACF00-BEB0-510B-C72B-70183492E2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83" r="27913" b="5321"/>
          <a:stretch>
            <a:fillRect/>
          </a:stretch>
        </p:blipFill>
        <p:spPr>
          <a:xfrm>
            <a:off x="11301962" y="4075805"/>
            <a:ext cx="580972" cy="26931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B22217-B7B8-203E-3DC3-57EC38ADCA15}"/>
              </a:ext>
            </a:extLst>
          </p:cNvPr>
          <p:cNvSpPr txBox="1"/>
          <p:nvPr/>
        </p:nvSpPr>
        <p:spPr>
          <a:xfrm>
            <a:off x="309066" y="5846544"/>
            <a:ext cx="1975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Number of times multiplied by 31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FE0965-060F-D744-9563-916F5D2ABBA6}"/>
              </a:ext>
            </a:extLst>
          </p:cNvPr>
          <p:cNvCxnSpPr>
            <a:cxnSpLocks/>
          </p:cNvCxnSpPr>
          <p:nvPr/>
        </p:nvCxnSpPr>
        <p:spPr>
          <a:xfrm>
            <a:off x="3758639" y="5515200"/>
            <a:ext cx="0" cy="405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433F4CF-2261-5D6E-40E2-113228739C96}"/>
              </a:ext>
            </a:extLst>
          </p:cNvPr>
          <p:cNvSpPr txBox="1"/>
          <p:nvPr/>
        </p:nvSpPr>
        <p:spPr>
          <a:xfrm>
            <a:off x="3364588" y="6059401"/>
            <a:ext cx="78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7B1DB4-D802-083E-2843-BB1C3AB673BD}"/>
              </a:ext>
            </a:extLst>
          </p:cNvPr>
          <p:cNvCxnSpPr>
            <a:cxnSpLocks/>
          </p:cNvCxnSpPr>
          <p:nvPr/>
        </p:nvCxnSpPr>
        <p:spPr>
          <a:xfrm>
            <a:off x="4997205" y="5455418"/>
            <a:ext cx="0" cy="405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794AA4B-3283-D1A8-6987-07AFDCAED489}"/>
              </a:ext>
            </a:extLst>
          </p:cNvPr>
          <p:cNvSpPr txBox="1"/>
          <p:nvPr/>
        </p:nvSpPr>
        <p:spPr>
          <a:xfrm>
            <a:off x="4603154" y="5999619"/>
            <a:ext cx="78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1EEA3D-39B8-1AAC-8D9A-3C8A0B72CF04}"/>
              </a:ext>
            </a:extLst>
          </p:cNvPr>
          <p:cNvCxnSpPr>
            <a:cxnSpLocks/>
          </p:cNvCxnSpPr>
          <p:nvPr/>
        </p:nvCxnSpPr>
        <p:spPr>
          <a:xfrm>
            <a:off x="6335765" y="5455418"/>
            <a:ext cx="0" cy="405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8115E48-6696-B95E-2A1E-55E576C9E7AF}"/>
              </a:ext>
            </a:extLst>
          </p:cNvPr>
          <p:cNvSpPr txBox="1"/>
          <p:nvPr/>
        </p:nvSpPr>
        <p:spPr>
          <a:xfrm>
            <a:off x="5941714" y="5999619"/>
            <a:ext cx="78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ACF255-53EF-5BB2-2B5E-0642F1804F7E}"/>
              </a:ext>
            </a:extLst>
          </p:cNvPr>
          <p:cNvCxnSpPr>
            <a:cxnSpLocks/>
          </p:cNvCxnSpPr>
          <p:nvPr/>
        </p:nvCxnSpPr>
        <p:spPr>
          <a:xfrm>
            <a:off x="7819452" y="5429251"/>
            <a:ext cx="0" cy="405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A152AA8-F9AB-4EDF-0929-2A3554832BB9}"/>
              </a:ext>
            </a:extLst>
          </p:cNvPr>
          <p:cNvSpPr txBox="1"/>
          <p:nvPr/>
        </p:nvSpPr>
        <p:spPr>
          <a:xfrm>
            <a:off x="7425401" y="5973452"/>
            <a:ext cx="78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292B625-DBB8-36EB-DB1B-A3B897F7C286}"/>
              </a:ext>
            </a:extLst>
          </p:cNvPr>
          <p:cNvCxnSpPr>
            <a:cxnSpLocks/>
          </p:cNvCxnSpPr>
          <p:nvPr/>
        </p:nvCxnSpPr>
        <p:spPr>
          <a:xfrm>
            <a:off x="9541100" y="5429251"/>
            <a:ext cx="0" cy="405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FE6A7FA-7302-D53B-5935-EEF77B105231}"/>
              </a:ext>
            </a:extLst>
          </p:cNvPr>
          <p:cNvSpPr txBox="1"/>
          <p:nvPr/>
        </p:nvSpPr>
        <p:spPr>
          <a:xfrm>
            <a:off x="9147049" y="5973452"/>
            <a:ext cx="78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0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4B09EDC-B5CB-4B8E-9BFD-14FC769FEA52}"/>
              </a:ext>
            </a:extLst>
          </p:cNvPr>
          <p:cNvSpPr/>
          <p:nvPr/>
        </p:nvSpPr>
        <p:spPr>
          <a:xfrm>
            <a:off x="8651793" y="2421546"/>
            <a:ext cx="879328" cy="9234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0C9069-1E35-E14D-5B23-844652505607}"/>
              </a:ext>
            </a:extLst>
          </p:cNvPr>
          <p:cNvSpPr txBox="1"/>
          <p:nvPr/>
        </p:nvSpPr>
        <p:spPr>
          <a:xfrm>
            <a:off x="9494916" y="2614687"/>
            <a:ext cx="2268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43,366,103</a:t>
            </a:r>
          </a:p>
        </p:txBody>
      </p:sp>
    </p:spTree>
    <p:extLst>
      <p:ext uri="{BB962C8B-B14F-4D97-AF65-F5344CB8AC3E}">
        <p14:creationId xmlns:p14="http://schemas.microsoft.com/office/powerpoint/2010/main" val="512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4" grpId="0"/>
      <p:bldP spid="28" grpId="0"/>
      <p:bldP spid="30" grpId="0"/>
      <p:bldP spid="32" grpId="0"/>
      <p:bldP spid="34" grpId="0"/>
      <p:bldP spid="36" grpId="0"/>
      <p:bldP spid="40" grpId="0" animBg="1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4D6C7-6600-7CFB-35C5-DDFA3D16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995F-0704-6BB4-69CD-699105903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Hash 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45640-5198-EEA1-3BD4-CD5BCBB7D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Handling Collisions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84015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F20AAD9-5C0D-BC3E-87BB-383F1AEAA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666" y="3111641"/>
            <a:ext cx="3651185" cy="6401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96CCDB-8360-9F5B-7E87-8B42CFB7C0E9}"/>
              </a:ext>
            </a:extLst>
          </p:cNvPr>
          <p:cNvSpPr/>
          <p:nvPr/>
        </p:nvSpPr>
        <p:spPr>
          <a:xfrm>
            <a:off x="4040266" y="3017816"/>
            <a:ext cx="3644586" cy="841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hash(n):</a:t>
            </a:r>
          </a:p>
          <a:p>
            <a:pPr algn="ctr"/>
            <a:r>
              <a:rPr lang="en-US" dirty="0"/>
              <a:t>Return n%10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47A44-A5C7-4D9C-3A82-D5D5E4EE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Add - in a </a:t>
            </a:r>
            <a:r>
              <a:rPr lang="en-US" b="1" dirty="0" err="1">
                <a:solidFill>
                  <a:srgbClr val="C00000"/>
                </a:solidFill>
              </a:rPr>
              <a:t>HashTable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797A4-978C-9052-3458-525090EA0055}"/>
              </a:ext>
            </a:extLst>
          </p:cNvPr>
          <p:cNvSpPr/>
          <p:nvPr/>
        </p:nvSpPr>
        <p:spPr>
          <a:xfrm>
            <a:off x="8077200" y="2135578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1D96AF-72D3-D0BF-9647-F905192DA947}"/>
              </a:ext>
            </a:extLst>
          </p:cNvPr>
          <p:cNvSpPr/>
          <p:nvPr/>
        </p:nvSpPr>
        <p:spPr>
          <a:xfrm>
            <a:off x="8077200" y="2578494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FE9DD-35A9-79F6-C22D-7B419EA29BC8}"/>
              </a:ext>
            </a:extLst>
          </p:cNvPr>
          <p:cNvSpPr/>
          <p:nvPr/>
        </p:nvSpPr>
        <p:spPr>
          <a:xfrm>
            <a:off x="8086725" y="3019075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D026A-4D5F-052B-265B-D02A7C3B9279}"/>
              </a:ext>
            </a:extLst>
          </p:cNvPr>
          <p:cNvSpPr/>
          <p:nvPr/>
        </p:nvSpPr>
        <p:spPr>
          <a:xfrm>
            <a:off x="8086725" y="3459579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632AA-4150-66F6-68D5-EFA0F0FA5D56}"/>
              </a:ext>
            </a:extLst>
          </p:cNvPr>
          <p:cNvSpPr/>
          <p:nvPr/>
        </p:nvSpPr>
        <p:spPr>
          <a:xfrm>
            <a:off x="8094889" y="3910529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FAC6BB-15D7-268C-9A17-C10AA8208D02}"/>
              </a:ext>
            </a:extLst>
          </p:cNvPr>
          <p:cNvSpPr/>
          <p:nvPr/>
        </p:nvSpPr>
        <p:spPr>
          <a:xfrm>
            <a:off x="8094889" y="4343062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E8AD5F-9378-AC3C-5C05-5648BCBF200A}"/>
              </a:ext>
            </a:extLst>
          </p:cNvPr>
          <p:cNvSpPr/>
          <p:nvPr/>
        </p:nvSpPr>
        <p:spPr>
          <a:xfrm>
            <a:off x="8094889" y="4774875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E8033-8CF5-1B6B-AF74-F8CA166D9FE8}"/>
              </a:ext>
            </a:extLst>
          </p:cNvPr>
          <p:cNvSpPr/>
          <p:nvPr/>
        </p:nvSpPr>
        <p:spPr>
          <a:xfrm>
            <a:off x="8094889" y="5212896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84A26A-9843-570E-A0B1-BFCC201E2CFC}"/>
              </a:ext>
            </a:extLst>
          </p:cNvPr>
          <p:cNvSpPr/>
          <p:nvPr/>
        </p:nvSpPr>
        <p:spPr>
          <a:xfrm>
            <a:off x="8077200" y="1676400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0A4FD8-9F58-5248-F28E-2DF80F55870A}"/>
              </a:ext>
            </a:extLst>
          </p:cNvPr>
          <p:cNvSpPr/>
          <p:nvPr/>
        </p:nvSpPr>
        <p:spPr>
          <a:xfrm>
            <a:off x="8105775" y="5650917"/>
            <a:ext cx="609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222662-D392-283E-BF56-47D9D1B0B18F}"/>
              </a:ext>
            </a:extLst>
          </p:cNvPr>
          <p:cNvSpPr txBox="1"/>
          <p:nvPr/>
        </p:nvSpPr>
        <p:spPr>
          <a:xfrm>
            <a:off x="9105900" y="114995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BDFF5-3211-5279-FDBA-9B020C8D16F4}"/>
              </a:ext>
            </a:extLst>
          </p:cNvPr>
          <p:cNvSpPr txBox="1"/>
          <p:nvPr/>
        </p:nvSpPr>
        <p:spPr>
          <a:xfrm>
            <a:off x="4724400" y="257849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4B2283A-CBA5-C107-EBB0-A3EA5092CD8E}"/>
              </a:ext>
            </a:extLst>
          </p:cNvPr>
          <p:cNvSpPr/>
          <p:nvPr/>
        </p:nvSpPr>
        <p:spPr>
          <a:xfrm>
            <a:off x="3409019" y="3261042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39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FE5846-63BD-78F3-64D6-55F202E98882}"/>
              </a:ext>
            </a:extLst>
          </p:cNvPr>
          <p:cNvSpPr/>
          <p:nvPr/>
        </p:nvSpPr>
        <p:spPr>
          <a:xfrm>
            <a:off x="2804941" y="327660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24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50039B-91F9-A937-1B42-4BEAB5C204BA}"/>
              </a:ext>
            </a:extLst>
          </p:cNvPr>
          <p:cNvSpPr/>
          <p:nvPr/>
        </p:nvSpPr>
        <p:spPr>
          <a:xfrm>
            <a:off x="2200863" y="327660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D2D1C1A-8DE1-79EA-B466-C6E3722C383E}"/>
              </a:ext>
            </a:extLst>
          </p:cNvPr>
          <p:cNvSpPr/>
          <p:nvPr/>
        </p:nvSpPr>
        <p:spPr>
          <a:xfrm>
            <a:off x="1624601" y="32979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59F122-0A55-5D55-1DAB-5566D9972E23}"/>
              </a:ext>
            </a:extLst>
          </p:cNvPr>
          <p:cNvSpPr/>
          <p:nvPr/>
        </p:nvSpPr>
        <p:spPr>
          <a:xfrm>
            <a:off x="1020523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DA013F2-EC9B-DFB5-C2DD-6056AE7F7D78}"/>
              </a:ext>
            </a:extLst>
          </p:cNvPr>
          <p:cNvSpPr/>
          <p:nvPr/>
        </p:nvSpPr>
        <p:spPr>
          <a:xfrm>
            <a:off x="416445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218886-D2C3-2CAE-5644-65CC3CB2F66C}"/>
              </a:ext>
            </a:extLst>
          </p:cNvPr>
          <p:cNvSpPr/>
          <p:nvPr/>
        </p:nvSpPr>
        <p:spPr>
          <a:xfrm>
            <a:off x="8686800" y="1676400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113A97-8FE1-CDD6-CC12-894D8C67042A}"/>
              </a:ext>
            </a:extLst>
          </p:cNvPr>
          <p:cNvSpPr/>
          <p:nvPr/>
        </p:nvSpPr>
        <p:spPr>
          <a:xfrm>
            <a:off x="8692341" y="2135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301FE8-4847-FCBC-3D72-AD0857DA0BB9}"/>
              </a:ext>
            </a:extLst>
          </p:cNvPr>
          <p:cNvSpPr/>
          <p:nvPr/>
        </p:nvSpPr>
        <p:spPr>
          <a:xfrm>
            <a:off x="8696325" y="258043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17C64F-EC87-4A3F-C508-3BD0BD8EC66D}"/>
              </a:ext>
            </a:extLst>
          </p:cNvPr>
          <p:cNvSpPr/>
          <p:nvPr/>
        </p:nvSpPr>
        <p:spPr>
          <a:xfrm>
            <a:off x="8704489" y="301626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ABB72D-2D5D-57D6-8BBE-39F5517A2E7D}"/>
              </a:ext>
            </a:extLst>
          </p:cNvPr>
          <p:cNvSpPr/>
          <p:nvPr/>
        </p:nvSpPr>
        <p:spPr>
          <a:xfrm>
            <a:off x="8709991" y="3459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7F7328-CFA1-CE85-009B-2F88226A037B}"/>
              </a:ext>
            </a:extLst>
          </p:cNvPr>
          <p:cNvSpPr/>
          <p:nvPr/>
        </p:nvSpPr>
        <p:spPr>
          <a:xfrm>
            <a:off x="8704489" y="3916299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97AED6-8C47-7BED-3BC1-ADC4EC7F6F53}"/>
              </a:ext>
            </a:extLst>
          </p:cNvPr>
          <p:cNvSpPr/>
          <p:nvPr/>
        </p:nvSpPr>
        <p:spPr>
          <a:xfrm>
            <a:off x="8704489" y="434234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8C5C03-97F8-4571-8311-4AB65A2684E4}"/>
              </a:ext>
            </a:extLst>
          </p:cNvPr>
          <p:cNvSpPr/>
          <p:nvPr/>
        </p:nvSpPr>
        <p:spPr>
          <a:xfrm>
            <a:off x="8715375" y="478748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7A0DC4-1242-EA84-F40F-D59089382E0F}"/>
              </a:ext>
            </a:extLst>
          </p:cNvPr>
          <p:cNvSpPr/>
          <p:nvPr/>
        </p:nvSpPr>
        <p:spPr>
          <a:xfrm>
            <a:off x="8715375" y="521289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D1820D-7424-B6A4-A018-612471D41797}"/>
              </a:ext>
            </a:extLst>
          </p:cNvPr>
          <p:cNvSpPr/>
          <p:nvPr/>
        </p:nvSpPr>
        <p:spPr>
          <a:xfrm>
            <a:off x="8725314" y="5657517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plosion: 14 Points 34">
            <a:extLst>
              <a:ext uri="{FF2B5EF4-FFF2-40B4-BE49-F238E27FC236}">
                <a16:creationId xmlns:a16="http://schemas.microsoft.com/office/drawing/2014/main" id="{D217EBEE-7508-D9E7-F1F3-734C08353166}"/>
              </a:ext>
            </a:extLst>
          </p:cNvPr>
          <p:cNvSpPr/>
          <p:nvPr/>
        </p:nvSpPr>
        <p:spPr>
          <a:xfrm>
            <a:off x="3067574" y="4773428"/>
            <a:ext cx="2590800" cy="1337886"/>
          </a:xfrm>
          <a:prstGeom prst="irregularSeal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Collision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98E51B-BCB4-EFDB-7BBA-1FBC32C6B0C5}"/>
              </a:ext>
            </a:extLst>
          </p:cNvPr>
          <p:cNvSpPr/>
          <p:nvPr/>
        </p:nvSpPr>
        <p:spPr>
          <a:xfrm>
            <a:off x="2728741" y="4572000"/>
            <a:ext cx="3214859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6121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22222E-6 L 0.0655 0.04491 L 0.26393 0.05023 L 0.37617 0.34977 L 0.43802 0.35116 L 0.43633 0.35047 " pathEditMode="relative" rAng="0" ptsTypes="AAAAAA">
                                      <p:cBhvr>
                                        <p:cTn id="30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01" y="1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96296E-6 L 0.14948 0.00532 L 0.3194 0.00555 L 0.41407 0.02662 L 0.48269 0.02615 L 0.48269 0.02662 " pathEditMode="relative" rAng="0" ptsTypes="AAAAAA">
                                      <p:cBhvr>
                                        <p:cTn id="34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28" y="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96296E-6 L 0.1642 -0.03449 L 0.35105 -0.03843 L 0.45508 -0.17107 L 0.53086 -0.16991 L 0.53086 -0.17107 " pathEditMode="relative" rAng="0" ptsTypes="AAAAAA">
                                      <p:cBhvr>
                                        <p:cTn id="38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36" y="-8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8BF0-AEE0-2821-6EE5-28D28FD4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55359F85-79AD-75E5-4CC0-7242BD51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666" y="3111641"/>
            <a:ext cx="3651185" cy="6401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083F38-0F73-420F-0297-224103C08499}"/>
              </a:ext>
            </a:extLst>
          </p:cNvPr>
          <p:cNvSpPr/>
          <p:nvPr/>
        </p:nvSpPr>
        <p:spPr>
          <a:xfrm>
            <a:off x="4040266" y="3017816"/>
            <a:ext cx="3644586" cy="841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hash(n):</a:t>
            </a:r>
          </a:p>
          <a:p>
            <a:pPr algn="ctr"/>
            <a:r>
              <a:rPr lang="en-US" dirty="0"/>
              <a:t>Return n%10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AA56E-F31D-CBBE-26A5-70D17956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Add - in a </a:t>
            </a:r>
            <a:r>
              <a:rPr lang="en-US" b="1" dirty="0" err="1">
                <a:solidFill>
                  <a:srgbClr val="C00000"/>
                </a:solidFill>
              </a:rPr>
              <a:t>HashTable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0C0A88-9136-B461-7F30-6936BAC68357}"/>
              </a:ext>
            </a:extLst>
          </p:cNvPr>
          <p:cNvSpPr txBox="1"/>
          <p:nvPr/>
        </p:nvSpPr>
        <p:spPr>
          <a:xfrm>
            <a:off x="9105900" y="114995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EFE7F3-CA72-D3FE-4884-BFE3D61AFE99}"/>
              </a:ext>
            </a:extLst>
          </p:cNvPr>
          <p:cNvSpPr txBox="1"/>
          <p:nvPr/>
        </p:nvSpPr>
        <p:spPr>
          <a:xfrm>
            <a:off x="4724400" y="257849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BFD430-FBDB-960A-F486-EB9818E9A8FC}"/>
              </a:ext>
            </a:extLst>
          </p:cNvPr>
          <p:cNvSpPr/>
          <p:nvPr/>
        </p:nvSpPr>
        <p:spPr>
          <a:xfrm>
            <a:off x="8725314" y="5646873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39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B10B0A-62CF-507C-8124-8F0736579DD8}"/>
              </a:ext>
            </a:extLst>
          </p:cNvPr>
          <p:cNvSpPr/>
          <p:nvPr/>
        </p:nvSpPr>
        <p:spPr>
          <a:xfrm>
            <a:off x="8725314" y="3444758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24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87D228-6943-9DDC-D201-A97867B35D57}"/>
              </a:ext>
            </a:extLst>
          </p:cNvPr>
          <p:cNvSpPr/>
          <p:nvPr/>
        </p:nvSpPr>
        <p:spPr>
          <a:xfrm>
            <a:off x="8704489" y="211492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3FC38C-E861-1DBB-8531-DD01321A27DD}"/>
              </a:ext>
            </a:extLst>
          </p:cNvPr>
          <p:cNvSpPr/>
          <p:nvPr/>
        </p:nvSpPr>
        <p:spPr>
          <a:xfrm>
            <a:off x="1624601" y="32979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74EB61-5252-DBAB-FC80-0DF60D0B3502}"/>
              </a:ext>
            </a:extLst>
          </p:cNvPr>
          <p:cNvSpPr/>
          <p:nvPr/>
        </p:nvSpPr>
        <p:spPr>
          <a:xfrm>
            <a:off x="1020523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6CC927-EE43-0F90-D8E8-FFA65C7BA741}"/>
              </a:ext>
            </a:extLst>
          </p:cNvPr>
          <p:cNvSpPr/>
          <p:nvPr/>
        </p:nvSpPr>
        <p:spPr>
          <a:xfrm>
            <a:off x="416445" y="3309730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50A2FA-B6AE-E1E1-5E83-205368B35D68}"/>
              </a:ext>
            </a:extLst>
          </p:cNvPr>
          <p:cNvSpPr/>
          <p:nvPr/>
        </p:nvSpPr>
        <p:spPr>
          <a:xfrm>
            <a:off x="8686800" y="1676400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9FBC38-7EC1-DF40-9ADC-08DF1A596E6D}"/>
              </a:ext>
            </a:extLst>
          </p:cNvPr>
          <p:cNvSpPr/>
          <p:nvPr/>
        </p:nvSpPr>
        <p:spPr>
          <a:xfrm>
            <a:off x="8692341" y="2135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786E8B-3557-1B35-6F12-66EC35324B1C}"/>
              </a:ext>
            </a:extLst>
          </p:cNvPr>
          <p:cNvSpPr/>
          <p:nvPr/>
        </p:nvSpPr>
        <p:spPr>
          <a:xfrm>
            <a:off x="8696325" y="258043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FF86-6F81-BEA6-6ADC-FEA1E024B420}"/>
              </a:ext>
            </a:extLst>
          </p:cNvPr>
          <p:cNvSpPr/>
          <p:nvPr/>
        </p:nvSpPr>
        <p:spPr>
          <a:xfrm>
            <a:off x="8704489" y="301626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8A6A0B-4349-5C55-5C0C-D7AE717AC073}"/>
              </a:ext>
            </a:extLst>
          </p:cNvPr>
          <p:cNvSpPr/>
          <p:nvPr/>
        </p:nvSpPr>
        <p:spPr>
          <a:xfrm>
            <a:off x="8709991" y="3459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33E79C-5D27-04D0-F66E-E2022E0D153B}"/>
              </a:ext>
            </a:extLst>
          </p:cNvPr>
          <p:cNvSpPr/>
          <p:nvPr/>
        </p:nvSpPr>
        <p:spPr>
          <a:xfrm>
            <a:off x="8704489" y="3916299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17C834-66ED-2B1A-356B-B2505D4AE20A}"/>
              </a:ext>
            </a:extLst>
          </p:cNvPr>
          <p:cNvSpPr/>
          <p:nvPr/>
        </p:nvSpPr>
        <p:spPr>
          <a:xfrm>
            <a:off x="8704489" y="434234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40799C-EAEE-668E-06CC-6706D80A7753}"/>
              </a:ext>
            </a:extLst>
          </p:cNvPr>
          <p:cNvSpPr/>
          <p:nvPr/>
        </p:nvSpPr>
        <p:spPr>
          <a:xfrm>
            <a:off x="8715375" y="478748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749590-8B97-3E8E-39FC-604A9FCCF64A}"/>
              </a:ext>
            </a:extLst>
          </p:cNvPr>
          <p:cNvSpPr/>
          <p:nvPr/>
        </p:nvSpPr>
        <p:spPr>
          <a:xfrm>
            <a:off x="8715375" y="521289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408981-2EFE-12AF-2AF1-2EA92860090C}"/>
              </a:ext>
            </a:extLst>
          </p:cNvPr>
          <p:cNvSpPr/>
          <p:nvPr/>
        </p:nvSpPr>
        <p:spPr>
          <a:xfrm>
            <a:off x="8725314" y="5657517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plosion: 14 Points 34">
            <a:extLst>
              <a:ext uri="{FF2B5EF4-FFF2-40B4-BE49-F238E27FC236}">
                <a16:creationId xmlns:a16="http://schemas.microsoft.com/office/drawing/2014/main" id="{55AA7688-3ECA-1EB1-AD48-16E87398CB9C}"/>
              </a:ext>
            </a:extLst>
          </p:cNvPr>
          <p:cNvSpPr/>
          <p:nvPr/>
        </p:nvSpPr>
        <p:spPr>
          <a:xfrm>
            <a:off x="3067574" y="4773428"/>
            <a:ext cx="2590800" cy="1337886"/>
          </a:xfrm>
          <a:prstGeom prst="irregularSeal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Collision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3681CD-8946-5EFF-6187-F616967EF895}"/>
              </a:ext>
            </a:extLst>
          </p:cNvPr>
          <p:cNvSpPr/>
          <p:nvPr/>
        </p:nvSpPr>
        <p:spPr>
          <a:xfrm>
            <a:off x="2728741" y="4572000"/>
            <a:ext cx="3214859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3B524E-A9B7-4AA3-D203-5360D93F899B}"/>
              </a:ext>
            </a:extLst>
          </p:cNvPr>
          <p:cNvSpPr/>
          <p:nvPr/>
        </p:nvSpPr>
        <p:spPr>
          <a:xfrm>
            <a:off x="8077200" y="2135578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CDC43A-F593-C35D-07CC-1F7E3F028422}"/>
              </a:ext>
            </a:extLst>
          </p:cNvPr>
          <p:cNvSpPr/>
          <p:nvPr/>
        </p:nvSpPr>
        <p:spPr>
          <a:xfrm>
            <a:off x="8077200" y="2578494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30A97A-31F2-45ED-8345-26012A2FDB8D}"/>
              </a:ext>
            </a:extLst>
          </p:cNvPr>
          <p:cNvSpPr/>
          <p:nvPr/>
        </p:nvSpPr>
        <p:spPr>
          <a:xfrm>
            <a:off x="8086725" y="3019075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0DFF86-F01C-E819-B71C-782F9CCFEA5F}"/>
              </a:ext>
            </a:extLst>
          </p:cNvPr>
          <p:cNvSpPr/>
          <p:nvPr/>
        </p:nvSpPr>
        <p:spPr>
          <a:xfrm>
            <a:off x="8086725" y="3459579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8A4B79-BDCB-F81A-9147-C6C511887727}"/>
              </a:ext>
            </a:extLst>
          </p:cNvPr>
          <p:cNvSpPr/>
          <p:nvPr/>
        </p:nvSpPr>
        <p:spPr>
          <a:xfrm>
            <a:off x="8094889" y="3910529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17F821-34DE-D454-E35F-E760107931AC}"/>
              </a:ext>
            </a:extLst>
          </p:cNvPr>
          <p:cNvSpPr/>
          <p:nvPr/>
        </p:nvSpPr>
        <p:spPr>
          <a:xfrm>
            <a:off x="8094889" y="4343062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88D1D6-88F9-98CC-3D1F-4502B58AB7C5}"/>
              </a:ext>
            </a:extLst>
          </p:cNvPr>
          <p:cNvSpPr/>
          <p:nvPr/>
        </p:nvSpPr>
        <p:spPr>
          <a:xfrm>
            <a:off x="8094889" y="4774875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B9608C-E15E-F63F-299C-F029CB064402}"/>
              </a:ext>
            </a:extLst>
          </p:cNvPr>
          <p:cNvSpPr/>
          <p:nvPr/>
        </p:nvSpPr>
        <p:spPr>
          <a:xfrm>
            <a:off x="8094889" y="5212896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DC4BB8-DB0F-BDFB-7D61-28BA6BB19304}"/>
              </a:ext>
            </a:extLst>
          </p:cNvPr>
          <p:cNvSpPr/>
          <p:nvPr/>
        </p:nvSpPr>
        <p:spPr>
          <a:xfrm>
            <a:off x="8077200" y="1676400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B731DD-F107-5DBE-C6A2-451378A9BC57}"/>
              </a:ext>
            </a:extLst>
          </p:cNvPr>
          <p:cNvSpPr/>
          <p:nvPr/>
        </p:nvSpPr>
        <p:spPr>
          <a:xfrm>
            <a:off x="8105775" y="5650917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75D506-2120-ACA0-BA2D-D0D0EACAD261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9253192" y="3636532"/>
            <a:ext cx="18212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5354EB-7D9E-9D07-12A3-6FA7A2FB8224}"/>
              </a:ext>
            </a:extLst>
          </p:cNvPr>
          <p:cNvCxnSpPr>
            <a:cxnSpLocks/>
          </p:cNvCxnSpPr>
          <p:nvPr/>
        </p:nvCxnSpPr>
        <p:spPr>
          <a:xfrm>
            <a:off x="9850654" y="3636532"/>
            <a:ext cx="18212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36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6 L 0.19635 0.0037 L 0.41966 0.00393 L 0.54414 0.01944 L 0.63437 0.01898 L 0.63437 0.01944 " pathEditMode="relative" rAng="0" ptsTypes="AAAAAA">
                                      <p:cBhvr>
                                        <p:cTn id="6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19" y="97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33333E-6 L 0.19596 0.02847 L 0.41901 0.03032 L 0.54362 0.15115 L 0.63385 0.14722 L 0.63385 0.15115 " pathEditMode="relative" rAng="0" ptsTypes="AAAAAA">
                                      <p:cBhvr>
                                        <p:cTn id="1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93" y="754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221 -0.00648 L 0.45169 -0.00116 L 0.62161 -0.00093 L 0.71628 0.02014 L 0.7849 0.01967 L 0.7849 0.02014 " pathEditMode="relative" rAng="0" ptsTypes="AAAAAA">
                                      <p:cBhvr>
                                        <p:cTn id="20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28" y="131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CD4E9B-9B7B-C494-2C41-C1ACB2F9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815" y="1382647"/>
            <a:ext cx="3654288" cy="50019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66E222-0636-45AC-7B5E-B7B95467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Lookup - in a </a:t>
            </a:r>
            <a:r>
              <a:rPr lang="en-US" b="1" dirty="0" err="1">
                <a:solidFill>
                  <a:srgbClr val="C00000"/>
                </a:solidFill>
              </a:rPr>
              <a:t>HashTables</a:t>
            </a:r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7BE4C-2B77-F351-7E75-A64B4BBEDB52}"/>
              </a:ext>
            </a:extLst>
          </p:cNvPr>
          <p:cNvSpPr/>
          <p:nvPr/>
        </p:nvSpPr>
        <p:spPr>
          <a:xfrm>
            <a:off x="849796" y="2743200"/>
            <a:ext cx="16764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Lookup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81A00-F08E-458F-74B6-534D1310B7B2}"/>
              </a:ext>
            </a:extLst>
          </p:cNvPr>
          <p:cNvSpPr txBox="1"/>
          <p:nvPr/>
        </p:nvSpPr>
        <p:spPr>
          <a:xfrm>
            <a:off x="3596861" y="25585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EE136-8110-02EB-9CCA-9549F961EE0F}"/>
              </a:ext>
            </a:extLst>
          </p:cNvPr>
          <p:cNvCxnSpPr>
            <a:cxnSpLocks/>
          </p:cNvCxnSpPr>
          <p:nvPr/>
        </p:nvCxnSpPr>
        <p:spPr>
          <a:xfrm>
            <a:off x="5654261" y="3467875"/>
            <a:ext cx="2194339" cy="4032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84C74D-AC8E-26D8-38ED-692F5F8E29BB}"/>
              </a:ext>
            </a:extLst>
          </p:cNvPr>
          <p:cNvSpPr txBox="1">
            <a:spLocks/>
          </p:cNvSpPr>
          <p:nvPr/>
        </p:nvSpPr>
        <p:spPr>
          <a:xfrm>
            <a:off x="416446" y="1219200"/>
            <a:ext cx="2783954" cy="1403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Lookup Steps: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1) Hash </a:t>
            </a:r>
            <a:r>
              <a:rPr lang="en-US" sz="2200">
                <a:solidFill>
                  <a:schemeClr val="accent6">
                    <a:lumMod val="75000"/>
                  </a:schemeClr>
                </a:solidFill>
              </a:rPr>
              <a:t>(find the bucket)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2) Once in the bucket, perform Equality Testing</a:t>
            </a:r>
          </a:p>
          <a:p>
            <a:pPr lvl="1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Compare the value to each existing element in the bucket</a:t>
            </a:r>
          </a:p>
          <a:p>
            <a:pPr lvl="1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If found, return it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2ADF06-6FE9-B6FA-41FA-8DFC8CF56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426" y="3101893"/>
            <a:ext cx="3651185" cy="6401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2AB8E5-ECCB-6B17-2406-B3E3FF256236}"/>
              </a:ext>
            </a:extLst>
          </p:cNvPr>
          <p:cNvSpPr/>
          <p:nvPr/>
        </p:nvSpPr>
        <p:spPr>
          <a:xfrm>
            <a:off x="2731026" y="3008068"/>
            <a:ext cx="3644586" cy="841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hash(n):</a:t>
            </a:r>
          </a:p>
          <a:p>
            <a:pPr algn="ctr"/>
            <a:r>
              <a:rPr lang="en-US" dirty="0"/>
              <a:t>Return n%10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780036-46D6-49D4-77C5-597619423369}"/>
              </a:ext>
            </a:extLst>
          </p:cNvPr>
          <p:cNvSpPr/>
          <p:nvPr/>
        </p:nvSpPr>
        <p:spPr>
          <a:xfrm>
            <a:off x="222666" y="3237226"/>
            <a:ext cx="527878" cy="38354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3200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735 0.02546 L 0.60443 0.07292 L 0.66641 0.075 L 0.7168 0.07222 L 0.7625 0.07106 L 0.7625 0.0713 " pathEditMode="relative" rAng="0" ptsTypes="AAAAAA">
                                      <p:cBhvr>
                                        <p:cTn id="2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58" y="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F6BEC-33DB-F5C3-9574-D8F6244EB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Bad </a:t>
            </a:r>
            <a:r>
              <a:rPr lang="en-US" b="1" dirty="0" err="1">
                <a:solidFill>
                  <a:srgbClr val="C00000"/>
                </a:solidFill>
              </a:rPr>
              <a:t>HashFunctions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05988-2B41-4A21-2D71-AFC30FB29A1F}"/>
              </a:ext>
            </a:extLst>
          </p:cNvPr>
          <p:cNvSpPr txBox="1"/>
          <p:nvPr/>
        </p:nvSpPr>
        <p:spPr>
          <a:xfrm>
            <a:off x="9105900" y="114995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D7B28-1CD1-68A5-8976-CEE4DCF5D088}"/>
              </a:ext>
            </a:extLst>
          </p:cNvPr>
          <p:cNvSpPr txBox="1"/>
          <p:nvPr/>
        </p:nvSpPr>
        <p:spPr>
          <a:xfrm>
            <a:off x="4627123" y="258240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58000B-6782-C88E-739E-11EB03967FC8}"/>
              </a:ext>
            </a:extLst>
          </p:cNvPr>
          <p:cNvSpPr/>
          <p:nvPr/>
        </p:nvSpPr>
        <p:spPr>
          <a:xfrm>
            <a:off x="11403635" y="3441669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A87C7F-7E8B-BFCA-500A-E82842150E6C}"/>
              </a:ext>
            </a:extLst>
          </p:cNvPr>
          <p:cNvSpPr/>
          <p:nvPr/>
        </p:nvSpPr>
        <p:spPr>
          <a:xfrm>
            <a:off x="10882935" y="3432279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2A5C7E-C958-89D9-2155-21D34725C321}"/>
              </a:ext>
            </a:extLst>
          </p:cNvPr>
          <p:cNvSpPr/>
          <p:nvPr/>
        </p:nvSpPr>
        <p:spPr>
          <a:xfrm>
            <a:off x="10334418" y="3450274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74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038C5D-5115-AA98-4A27-66C7AB7BC008}"/>
              </a:ext>
            </a:extLst>
          </p:cNvPr>
          <p:cNvSpPr/>
          <p:nvPr/>
        </p:nvSpPr>
        <p:spPr>
          <a:xfrm>
            <a:off x="9792874" y="3448256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514D67B-7B2E-482C-D0D8-DF399C0F4CBE}"/>
              </a:ext>
            </a:extLst>
          </p:cNvPr>
          <p:cNvSpPr/>
          <p:nvPr/>
        </p:nvSpPr>
        <p:spPr>
          <a:xfrm>
            <a:off x="9237388" y="3457372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24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6749E69-FFCA-E8FD-28F7-F186BC569307}"/>
              </a:ext>
            </a:extLst>
          </p:cNvPr>
          <p:cNvSpPr/>
          <p:nvPr/>
        </p:nvSpPr>
        <p:spPr>
          <a:xfrm>
            <a:off x="8695844" y="3455944"/>
            <a:ext cx="527878" cy="38354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5"/>
                </a:solidFill>
              </a:rPr>
              <a:t>39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A68B5D-0A8E-B2AC-945B-07B505E7779C}"/>
              </a:ext>
            </a:extLst>
          </p:cNvPr>
          <p:cNvSpPr/>
          <p:nvPr/>
        </p:nvSpPr>
        <p:spPr>
          <a:xfrm>
            <a:off x="8686800" y="1676400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1FB8CB-E4D6-0D7E-B186-D4C3F532DC08}"/>
              </a:ext>
            </a:extLst>
          </p:cNvPr>
          <p:cNvSpPr/>
          <p:nvPr/>
        </p:nvSpPr>
        <p:spPr>
          <a:xfrm>
            <a:off x="8692341" y="2135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BA8754-9962-7F01-24A1-2986E27647E5}"/>
              </a:ext>
            </a:extLst>
          </p:cNvPr>
          <p:cNvSpPr/>
          <p:nvPr/>
        </p:nvSpPr>
        <p:spPr>
          <a:xfrm>
            <a:off x="8696325" y="258043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E9EF9B-F7A3-3329-2391-FB5A7DF40413}"/>
              </a:ext>
            </a:extLst>
          </p:cNvPr>
          <p:cNvSpPr/>
          <p:nvPr/>
        </p:nvSpPr>
        <p:spPr>
          <a:xfrm>
            <a:off x="8704489" y="301626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AB13AB-1D8C-A58D-B9D3-1B641547C273}"/>
              </a:ext>
            </a:extLst>
          </p:cNvPr>
          <p:cNvSpPr/>
          <p:nvPr/>
        </p:nvSpPr>
        <p:spPr>
          <a:xfrm>
            <a:off x="8709991" y="345957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BB0E93-3C08-371A-B889-73C3F2EEF5E0}"/>
              </a:ext>
            </a:extLst>
          </p:cNvPr>
          <p:cNvSpPr/>
          <p:nvPr/>
        </p:nvSpPr>
        <p:spPr>
          <a:xfrm>
            <a:off x="8704489" y="3916299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1C6E09-B093-B993-640C-5BE8351D09F3}"/>
              </a:ext>
            </a:extLst>
          </p:cNvPr>
          <p:cNvSpPr/>
          <p:nvPr/>
        </p:nvSpPr>
        <p:spPr>
          <a:xfrm>
            <a:off x="8704489" y="4342342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755CB1-AAA3-F4B5-7035-25926ACEABB2}"/>
              </a:ext>
            </a:extLst>
          </p:cNvPr>
          <p:cNvSpPr/>
          <p:nvPr/>
        </p:nvSpPr>
        <p:spPr>
          <a:xfrm>
            <a:off x="8715375" y="4787488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FFD15B-46A8-B953-B35A-BE1E34B967ED}"/>
              </a:ext>
            </a:extLst>
          </p:cNvPr>
          <p:cNvSpPr/>
          <p:nvPr/>
        </p:nvSpPr>
        <p:spPr>
          <a:xfrm>
            <a:off x="8715375" y="5212895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98364-0235-2B31-B122-89E237ED7120}"/>
              </a:ext>
            </a:extLst>
          </p:cNvPr>
          <p:cNvSpPr/>
          <p:nvPr/>
        </p:nvSpPr>
        <p:spPr>
          <a:xfrm>
            <a:off x="8725314" y="5657517"/>
            <a:ext cx="3030311" cy="3651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DC4FA1-3DB0-C9F3-E363-854BF04E9CD9}"/>
              </a:ext>
            </a:extLst>
          </p:cNvPr>
          <p:cNvCxnSpPr>
            <a:cxnSpLocks/>
          </p:cNvCxnSpPr>
          <p:nvPr/>
        </p:nvCxnSpPr>
        <p:spPr>
          <a:xfrm>
            <a:off x="6781800" y="3487835"/>
            <a:ext cx="1304925" cy="15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xplosion: 14 Points 35">
            <a:extLst>
              <a:ext uri="{FF2B5EF4-FFF2-40B4-BE49-F238E27FC236}">
                <a16:creationId xmlns:a16="http://schemas.microsoft.com/office/drawing/2014/main" id="{3D537F97-95C6-0D77-A412-E8E4A1FA711B}"/>
              </a:ext>
            </a:extLst>
          </p:cNvPr>
          <p:cNvSpPr/>
          <p:nvPr/>
        </p:nvSpPr>
        <p:spPr>
          <a:xfrm rot="20861019">
            <a:off x="-223853" y="1854371"/>
            <a:ext cx="4961366" cy="2842511"/>
          </a:xfrm>
          <a:prstGeom prst="irregularSeal2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I have a bad hash Function that hashes all elements to one bucket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710FA23-E594-1D24-2AD3-E58F01661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420" y="3112670"/>
            <a:ext cx="3651185" cy="64017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B69DDF3-C6AB-D1BC-2DED-47437DA8D6B1}"/>
              </a:ext>
            </a:extLst>
          </p:cNvPr>
          <p:cNvSpPr/>
          <p:nvPr/>
        </p:nvSpPr>
        <p:spPr>
          <a:xfrm>
            <a:off x="3833020" y="3018845"/>
            <a:ext cx="3644586" cy="841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hash(n):</a:t>
            </a:r>
          </a:p>
          <a:p>
            <a:pPr algn="ctr"/>
            <a:r>
              <a:rPr lang="en-US" dirty="0"/>
              <a:t>Return n%10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C83AB2-7B0B-8DD5-CF12-A9B4F6285643}"/>
              </a:ext>
            </a:extLst>
          </p:cNvPr>
          <p:cNvSpPr txBox="1"/>
          <p:nvPr/>
        </p:nvSpPr>
        <p:spPr>
          <a:xfrm>
            <a:off x="4983587" y="3324573"/>
            <a:ext cx="80761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ECA6A0-86B5-6CAB-2975-C0AAD52CD65C}"/>
              </a:ext>
            </a:extLst>
          </p:cNvPr>
          <p:cNvSpPr txBox="1"/>
          <p:nvPr/>
        </p:nvSpPr>
        <p:spPr>
          <a:xfrm>
            <a:off x="4997253" y="3243702"/>
            <a:ext cx="640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4 ;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A95FF60-CEF9-DD13-E7BA-E8119FEC0CE7}"/>
              </a:ext>
            </a:extLst>
          </p:cNvPr>
          <p:cNvSpPr/>
          <p:nvPr/>
        </p:nvSpPr>
        <p:spPr>
          <a:xfrm>
            <a:off x="8077200" y="2135578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A34473-2F74-4121-98BF-DFFFC555A241}"/>
              </a:ext>
            </a:extLst>
          </p:cNvPr>
          <p:cNvSpPr/>
          <p:nvPr/>
        </p:nvSpPr>
        <p:spPr>
          <a:xfrm>
            <a:off x="8077200" y="2578494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B41804-28B5-F6F0-A32B-717A24789FDA}"/>
              </a:ext>
            </a:extLst>
          </p:cNvPr>
          <p:cNvSpPr/>
          <p:nvPr/>
        </p:nvSpPr>
        <p:spPr>
          <a:xfrm>
            <a:off x="8086725" y="3019075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DAD861-43F4-0B5B-DD3D-14EE23143291}"/>
              </a:ext>
            </a:extLst>
          </p:cNvPr>
          <p:cNvSpPr/>
          <p:nvPr/>
        </p:nvSpPr>
        <p:spPr>
          <a:xfrm>
            <a:off x="8086725" y="3459579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165725-CD51-C2A2-C960-B15329EB7F2D}"/>
              </a:ext>
            </a:extLst>
          </p:cNvPr>
          <p:cNvSpPr/>
          <p:nvPr/>
        </p:nvSpPr>
        <p:spPr>
          <a:xfrm>
            <a:off x="8094889" y="3910529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270004-16B1-81B7-4203-CA82A98F085B}"/>
              </a:ext>
            </a:extLst>
          </p:cNvPr>
          <p:cNvSpPr/>
          <p:nvPr/>
        </p:nvSpPr>
        <p:spPr>
          <a:xfrm>
            <a:off x="8094889" y="4343062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E9531B-9981-B5C2-64CB-97902CBF54B0}"/>
              </a:ext>
            </a:extLst>
          </p:cNvPr>
          <p:cNvSpPr/>
          <p:nvPr/>
        </p:nvSpPr>
        <p:spPr>
          <a:xfrm>
            <a:off x="8094889" y="4774875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D4CACA-F23D-84C0-1EA6-97F4D129C00B}"/>
              </a:ext>
            </a:extLst>
          </p:cNvPr>
          <p:cNvSpPr/>
          <p:nvPr/>
        </p:nvSpPr>
        <p:spPr>
          <a:xfrm>
            <a:off x="8094889" y="5212896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4DF08D-C48F-37EE-D628-5998E026DFD9}"/>
              </a:ext>
            </a:extLst>
          </p:cNvPr>
          <p:cNvSpPr/>
          <p:nvPr/>
        </p:nvSpPr>
        <p:spPr>
          <a:xfrm>
            <a:off x="8077200" y="1676400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CDE2C3-C0DB-AB33-BFCB-68D96F355583}"/>
              </a:ext>
            </a:extLst>
          </p:cNvPr>
          <p:cNvSpPr/>
          <p:nvPr/>
        </p:nvSpPr>
        <p:spPr>
          <a:xfrm>
            <a:off x="8105775" y="5650917"/>
            <a:ext cx="60960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49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B602F0A-1E40-DC95-E2C4-53EFEBF61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887" y="1115130"/>
            <a:ext cx="3737621" cy="5109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FCDF3-0792-659D-FF93-FAB79B68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Bad </a:t>
            </a:r>
            <a:r>
              <a:rPr lang="en-US" b="1" dirty="0" err="1">
                <a:solidFill>
                  <a:srgbClr val="C00000"/>
                </a:solidFill>
              </a:rPr>
              <a:t>HashFunctions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7BA41E-D1FA-86B0-AE3D-B8E6CB69EB8E}"/>
              </a:ext>
            </a:extLst>
          </p:cNvPr>
          <p:cNvSpPr txBox="1"/>
          <p:nvPr/>
        </p:nvSpPr>
        <p:spPr>
          <a:xfrm>
            <a:off x="4541702" y="258716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74EB80-5F69-8546-FCD9-B86D0A5176EE}"/>
              </a:ext>
            </a:extLst>
          </p:cNvPr>
          <p:cNvCxnSpPr>
            <a:cxnSpLocks/>
          </p:cNvCxnSpPr>
          <p:nvPr/>
        </p:nvCxnSpPr>
        <p:spPr>
          <a:xfrm>
            <a:off x="6781800" y="3487835"/>
            <a:ext cx="1304925" cy="15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05A99E1-E5CE-C4E8-310C-5FC795F94B40}"/>
              </a:ext>
            </a:extLst>
          </p:cNvPr>
          <p:cNvSpPr/>
          <p:nvPr/>
        </p:nvSpPr>
        <p:spPr>
          <a:xfrm>
            <a:off x="1608494" y="2769918"/>
            <a:ext cx="16764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Lookup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666B28DA-13C0-6DCF-AF7E-D0CA7E3E760F}"/>
              </a:ext>
            </a:extLst>
          </p:cNvPr>
          <p:cNvSpPr/>
          <p:nvPr/>
        </p:nvSpPr>
        <p:spPr>
          <a:xfrm>
            <a:off x="3962400" y="4344869"/>
            <a:ext cx="3048926" cy="1952096"/>
          </a:xfrm>
          <a:prstGeom prst="irregularSeal2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This is as inefficient as Lists…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0710A4-3783-5C4A-C60E-D7831B9A1BD3}"/>
              </a:ext>
            </a:extLst>
          </p:cNvPr>
          <p:cNvSpPr/>
          <p:nvPr/>
        </p:nvSpPr>
        <p:spPr>
          <a:xfrm>
            <a:off x="8686800" y="3417142"/>
            <a:ext cx="3222708" cy="424578"/>
          </a:xfrm>
          <a:prstGeom prst="rect">
            <a:avLst/>
          </a:prstGeom>
          <a:solidFill>
            <a:srgbClr val="FFF2CC">
              <a:alpha val="50196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B61E7F-745E-1C0D-7352-B33407DB6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514" y="3158188"/>
            <a:ext cx="3651185" cy="6401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A4EB2F-8F90-7A91-7CEA-926268F71133}"/>
              </a:ext>
            </a:extLst>
          </p:cNvPr>
          <p:cNvSpPr/>
          <p:nvPr/>
        </p:nvSpPr>
        <p:spPr>
          <a:xfrm>
            <a:off x="3591114" y="3064363"/>
            <a:ext cx="3644586" cy="841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 hash(n):</a:t>
            </a:r>
          </a:p>
          <a:p>
            <a:pPr algn="ctr"/>
            <a:r>
              <a:rPr lang="en-US" dirty="0"/>
              <a:t>Return n%10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6B08BF-B076-DBF4-FD00-5FC6013FBB78}"/>
              </a:ext>
            </a:extLst>
          </p:cNvPr>
          <p:cNvSpPr/>
          <p:nvPr/>
        </p:nvSpPr>
        <p:spPr>
          <a:xfrm>
            <a:off x="4714672" y="3417142"/>
            <a:ext cx="1464155" cy="281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E0DC7-F30F-CB8F-BD77-CFCF1D966D03}"/>
              </a:ext>
            </a:extLst>
          </p:cNvPr>
          <p:cNvSpPr txBox="1"/>
          <p:nvPr/>
        </p:nvSpPr>
        <p:spPr>
          <a:xfrm>
            <a:off x="4717917" y="3300629"/>
            <a:ext cx="640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4 ;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53383EE-BB04-5DC8-3986-69BE7ED420B8}"/>
              </a:ext>
            </a:extLst>
          </p:cNvPr>
          <p:cNvSpPr/>
          <p:nvPr/>
        </p:nvSpPr>
        <p:spPr>
          <a:xfrm>
            <a:off x="934843" y="3263945"/>
            <a:ext cx="527878" cy="38354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193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258 0.01064 L 0.51601 0.03125 L 0.59739 0.02824 L 0.65026 0.02638 L 0.70312 0.02662 L 0.7526 0.02708 L 0.80455 0.02476 L 0.85625 0.0243 " pathEditMode="relative" rAng="0" ptsTypes="AAAAAAAA">
                                      <p:cBhvr>
                                        <p:cTn id="6" dur="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77" y="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1E2C-719C-A345-7ADA-3E88BE8C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Lookup in </a:t>
            </a:r>
            <a:r>
              <a:rPr lang="en-US" b="1" dirty="0" err="1">
                <a:solidFill>
                  <a:srgbClr val="C00000"/>
                </a:solidFill>
              </a:rPr>
              <a:t>ArrayLists</a:t>
            </a:r>
            <a:r>
              <a:rPr lang="en-US" b="1" dirty="0">
                <a:solidFill>
                  <a:srgbClr val="C00000"/>
                </a:solidFill>
              </a:rPr>
              <a:t> Vs </a:t>
            </a:r>
            <a:r>
              <a:rPr lang="en-US" b="1" dirty="0" err="1">
                <a:solidFill>
                  <a:srgbClr val="C00000"/>
                </a:solidFill>
              </a:rPr>
              <a:t>HashTables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(Search Space)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47D229-F92A-081C-6DFC-B6077A1E43B5}"/>
              </a:ext>
            </a:extLst>
          </p:cNvPr>
          <p:cNvSpPr/>
          <p:nvPr/>
        </p:nvSpPr>
        <p:spPr>
          <a:xfrm>
            <a:off x="3547280" y="1430740"/>
            <a:ext cx="5181600" cy="990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06A56-FAB8-40B9-0AAC-657E1AB5563F}"/>
              </a:ext>
            </a:extLst>
          </p:cNvPr>
          <p:cNvSpPr/>
          <p:nvPr/>
        </p:nvSpPr>
        <p:spPr>
          <a:xfrm>
            <a:off x="3852080" y="165934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74E7E-89A7-4886-5E4E-629D2F9D0613}"/>
              </a:ext>
            </a:extLst>
          </p:cNvPr>
          <p:cNvSpPr/>
          <p:nvPr/>
        </p:nvSpPr>
        <p:spPr>
          <a:xfrm>
            <a:off x="4614080" y="165934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EB8EF5-ADEE-13FC-7967-4D213FB1BD40}"/>
              </a:ext>
            </a:extLst>
          </p:cNvPr>
          <p:cNvSpPr/>
          <p:nvPr/>
        </p:nvSpPr>
        <p:spPr>
          <a:xfrm>
            <a:off x="5371663" y="165934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8AD08-BF32-DE52-E659-CCC21BB8AC92}"/>
              </a:ext>
            </a:extLst>
          </p:cNvPr>
          <p:cNvSpPr/>
          <p:nvPr/>
        </p:nvSpPr>
        <p:spPr>
          <a:xfrm>
            <a:off x="6136494" y="165934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3E6745-B818-129B-49E1-B810806ABFB6}"/>
              </a:ext>
            </a:extLst>
          </p:cNvPr>
          <p:cNvSpPr/>
          <p:nvPr/>
        </p:nvSpPr>
        <p:spPr>
          <a:xfrm>
            <a:off x="6875679" y="1659340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B3D7AE-C550-B780-E510-BE88EF25E282}"/>
              </a:ext>
            </a:extLst>
          </p:cNvPr>
          <p:cNvSpPr/>
          <p:nvPr/>
        </p:nvSpPr>
        <p:spPr>
          <a:xfrm>
            <a:off x="7637679" y="1657131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BB2BE-78A3-4D66-9BEF-6A7F99808786}"/>
              </a:ext>
            </a:extLst>
          </p:cNvPr>
          <p:cNvSpPr txBox="1"/>
          <p:nvPr/>
        </p:nvSpPr>
        <p:spPr>
          <a:xfrm>
            <a:off x="1535287" y="166831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/>
                </a:solidFill>
              </a:rPr>
              <a:t>ArrayList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118D6B03-8492-842F-75AD-FB1F21E67CC9}"/>
              </a:ext>
            </a:extLst>
          </p:cNvPr>
          <p:cNvSpPr/>
          <p:nvPr/>
        </p:nvSpPr>
        <p:spPr>
          <a:xfrm rot="10800000">
            <a:off x="3732077" y="2400767"/>
            <a:ext cx="4852399" cy="2634734"/>
          </a:xfrm>
          <a:prstGeom prst="trapezoid">
            <a:avLst>
              <a:gd name="adj" fmla="val 49835"/>
            </a:avLst>
          </a:prstGeom>
          <a:solidFill>
            <a:srgbClr val="F2CFEE">
              <a:alpha val="4902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2EAB8-D86F-A3FF-B4FD-CB2A827A220A}"/>
              </a:ext>
            </a:extLst>
          </p:cNvPr>
          <p:cNvSpPr/>
          <p:nvPr/>
        </p:nvSpPr>
        <p:spPr>
          <a:xfrm>
            <a:off x="4876363" y="5056075"/>
            <a:ext cx="25146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623CC-9B27-2167-D099-50F54970EB29}"/>
              </a:ext>
            </a:extLst>
          </p:cNvPr>
          <p:cNvSpPr/>
          <p:nvPr/>
        </p:nvSpPr>
        <p:spPr>
          <a:xfrm>
            <a:off x="5006265" y="5297686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24’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612E6E-DAB7-A6C7-E212-50DF96405E1E}"/>
              </a:ext>
            </a:extLst>
          </p:cNvPr>
          <p:cNvSpPr/>
          <p:nvPr/>
        </p:nvSpPr>
        <p:spPr>
          <a:xfrm>
            <a:off x="5766679" y="5297686"/>
            <a:ext cx="762000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74AD3-CAF6-7670-AC8B-80F10A400895}"/>
              </a:ext>
            </a:extLst>
          </p:cNvPr>
          <p:cNvSpPr/>
          <p:nvPr/>
        </p:nvSpPr>
        <p:spPr>
          <a:xfrm>
            <a:off x="6527093" y="5297686"/>
            <a:ext cx="727778" cy="5203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DE5F4-EBD7-80FD-7FE6-3E933D325C52}"/>
              </a:ext>
            </a:extLst>
          </p:cNvPr>
          <p:cNvSpPr txBox="1"/>
          <p:nvPr/>
        </p:nvSpPr>
        <p:spPr>
          <a:xfrm>
            <a:off x="9138864" y="166831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All Elements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7A780E-7CB9-BCEE-9B69-8D3D7221BC7F}"/>
              </a:ext>
            </a:extLst>
          </p:cNvPr>
          <p:cNvSpPr txBox="1"/>
          <p:nvPr/>
        </p:nvSpPr>
        <p:spPr>
          <a:xfrm>
            <a:off x="7433480" y="5226811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Elements Inside the bucket with the same hash value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1963D2-EBD6-92FC-CF00-B3B83DBD7914}"/>
              </a:ext>
            </a:extLst>
          </p:cNvPr>
          <p:cNvSpPr txBox="1"/>
          <p:nvPr/>
        </p:nvSpPr>
        <p:spPr>
          <a:xfrm>
            <a:off x="3287887" y="5428169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5"/>
                </a:solidFill>
              </a:rPr>
              <a:t>HashTable</a:t>
            </a:r>
            <a:endParaRPr lang="en-US" b="1" dirty="0">
              <a:solidFill>
                <a:schemeClr val="accent5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3B671C-41CF-476A-CDB7-09A9E8B80E2E}"/>
              </a:ext>
            </a:extLst>
          </p:cNvPr>
          <p:cNvCxnSpPr>
            <a:cxnSpLocks/>
          </p:cNvCxnSpPr>
          <p:nvPr/>
        </p:nvCxnSpPr>
        <p:spPr>
          <a:xfrm>
            <a:off x="3166280" y="2784136"/>
            <a:ext cx="1295400" cy="23100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8F8163-2EC2-891E-6242-5D5666CD6669}"/>
              </a:ext>
            </a:extLst>
          </p:cNvPr>
          <p:cNvSpPr txBox="1"/>
          <p:nvPr/>
        </p:nvSpPr>
        <p:spPr>
          <a:xfrm rot="3655269">
            <a:off x="2495430" y="3901930"/>
            <a:ext cx="247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Hash Target value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F22F60-9B08-81EB-726F-0A9B897342E7}"/>
              </a:ext>
            </a:extLst>
          </p:cNvPr>
          <p:cNvSpPr/>
          <p:nvPr/>
        </p:nvSpPr>
        <p:spPr>
          <a:xfrm>
            <a:off x="71336" y="3335739"/>
            <a:ext cx="1004732" cy="73690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Target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671F45A-EC9A-4C2F-B985-982BF1FB10C7}"/>
              </a:ext>
            </a:extLst>
          </p:cNvPr>
          <p:cNvSpPr/>
          <p:nvPr/>
        </p:nvSpPr>
        <p:spPr>
          <a:xfrm>
            <a:off x="1222764" y="3052906"/>
            <a:ext cx="1600200" cy="137160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Lookup</a:t>
            </a:r>
          </a:p>
        </p:txBody>
      </p:sp>
    </p:spTree>
    <p:extLst>
      <p:ext uri="{BB962C8B-B14F-4D97-AF65-F5344CB8AC3E}">
        <p14:creationId xmlns:p14="http://schemas.microsoft.com/office/powerpoint/2010/main" val="147238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B66D-08D6-8752-B5AD-45D84157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6D3B8-B9A3-AC1F-59C7-42F4243203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Hash 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AF352-8457-9F28-9D75-E8B3557F94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Minimizing Collisions for faster look-up</a:t>
            </a:r>
          </a:p>
        </p:txBody>
      </p:sp>
    </p:spTree>
    <p:extLst>
      <p:ext uri="{BB962C8B-B14F-4D97-AF65-F5344CB8AC3E}">
        <p14:creationId xmlns:p14="http://schemas.microsoft.com/office/powerpoint/2010/main" val="1067834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D454-C5BD-4FF0-0891-EBFD1EE7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Handling Collisions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999040-8054-F299-9B3D-E5CF60A510BB}"/>
              </a:ext>
            </a:extLst>
          </p:cNvPr>
          <p:cNvGrpSpPr/>
          <p:nvPr/>
        </p:nvGrpSpPr>
        <p:grpSpPr>
          <a:xfrm>
            <a:off x="555712" y="937133"/>
            <a:ext cx="4194789" cy="5440934"/>
            <a:chOff x="1262983" y="1038172"/>
            <a:chExt cx="4194789" cy="54409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528D97E-5B42-F39E-EA08-660377346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92" t="29177" r="72429" b="31726"/>
            <a:stretch>
              <a:fillRect/>
            </a:stretch>
          </p:blipFill>
          <p:spPr>
            <a:xfrm>
              <a:off x="1262983" y="1038172"/>
              <a:ext cx="4194789" cy="544093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8D3692-DE68-0E67-A9FC-9CDDF068FCB2}"/>
                </a:ext>
              </a:extLst>
            </p:cNvPr>
            <p:cNvSpPr/>
            <p:nvPr/>
          </p:nvSpPr>
          <p:spPr>
            <a:xfrm>
              <a:off x="1262983" y="3758639"/>
              <a:ext cx="4112274" cy="16014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E3362B0-4CF1-9538-39E4-3DCCF338D637}"/>
              </a:ext>
            </a:extLst>
          </p:cNvPr>
          <p:cNvSpPr txBox="1"/>
          <p:nvPr/>
        </p:nvSpPr>
        <p:spPr>
          <a:xfrm>
            <a:off x="6021905" y="1697450"/>
            <a:ext cx="54358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Does it seem like </a:t>
            </a:r>
            <a:r>
              <a:rPr lang="en-US" sz="2800" b="1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a good hash function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is used?</a:t>
            </a:r>
          </a:p>
          <a:p>
            <a:endParaRPr lang="en-US" sz="28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C286B-3942-9C95-FBFD-BB41858DEA37}"/>
              </a:ext>
            </a:extLst>
          </p:cNvPr>
          <p:cNvSpPr txBox="1"/>
          <p:nvPr/>
        </p:nvSpPr>
        <p:spPr>
          <a:xfrm>
            <a:off x="6067450" y="3035723"/>
            <a:ext cx="5056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Is this </a:t>
            </a:r>
            <a:r>
              <a:rPr lang="en-US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hashtable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good in terms of </a:t>
            </a:r>
            <a:r>
              <a:rPr lang="en-US" sz="2800" b="1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performance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79DCD-8A7E-82BA-F004-F086319128BD}"/>
              </a:ext>
            </a:extLst>
          </p:cNvPr>
          <p:cNvSpPr txBox="1"/>
          <p:nvPr/>
        </p:nvSpPr>
        <p:spPr>
          <a:xfrm>
            <a:off x="6021905" y="4390491"/>
            <a:ext cx="47328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Is this </a:t>
            </a:r>
            <a:r>
              <a:rPr lang="en-US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hashtable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good in terms of </a:t>
            </a:r>
            <a:r>
              <a:rPr lang="en-US" sz="2800" b="1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memory space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496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FAFE-E8BE-534F-C5AC-641FAF41E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8E90-5163-41AA-2143-A7770046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Handling Collisions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4662D-711F-5904-FAD1-BD06EB64E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34" t="29983" r="6851" b="32323"/>
          <a:stretch>
            <a:fillRect/>
          </a:stretch>
        </p:blipFill>
        <p:spPr>
          <a:xfrm>
            <a:off x="7072707" y="853777"/>
            <a:ext cx="4112274" cy="5228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08CBF9-18AE-2686-48B1-000A93A711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34" t="55579" r="6851" b="39249"/>
          <a:stretch>
            <a:fillRect/>
          </a:stretch>
        </p:blipFill>
        <p:spPr>
          <a:xfrm>
            <a:off x="7072707" y="6029480"/>
            <a:ext cx="4112274" cy="7173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AE4EC5-3EE1-144A-A4DD-12213F84754A}"/>
              </a:ext>
            </a:extLst>
          </p:cNvPr>
          <p:cNvSpPr txBox="1"/>
          <p:nvPr/>
        </p:nvSpPr>
        <p:spPr>
          <a:xfrm>
            <a:off x="7274784" y="6215222"/>
            <a:ext cx="49003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67816-4EA4-6AA5-F709-48DE03B60907}"/>
              </a:ext>
            </a:extLst>
          </p:cNvPr>
          <p:cNvSpPr txBox="1"/>
          <p:nvPr/>
        </p:nvSpPr>
        <p:spPr>
          <a:xfrm rot="5400000">
            <a:off x="8585757" y="5384466"/>
            <a:ext cx="1187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…  … … 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551F2-C221-9290-83E5-CE79066C0DBD}"/>
              </a:ext>
            </a:extLst>
          </p:cNvPr>
          <p:cNvSpPr txBox="1"/>
          <p:nvPr/>
        </p:nvSpPr>
        <p:spPr>
          <a:xfrm>
            <a:off x="969971" y="1792657"/>
            <a:ext cx="54358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- Does it seem like </a:t>
            </a:r>
            <a:r>
              <a:rPr lang="en-US" sz="2800" b="1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a good hash function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is used?</a:t>
            </a:r>
          </a:p>
          <a:p>
            <a:endParaRPr lang="en-US" sz="28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341A5-5CE8-AE20-08A3-D9B8F2313EE2}"/>
              </a:ext>
            </a:extLst>
          </p:cNvPr>
          <p:cNvSpPr txBox="1"/>
          <p:nvPr/>
        </p:nvSpPr>
        <p:spPr>
          <a:xfrm>
            <a:off x="969971" y="2991098"/>
            <a:ext cx="5056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Is this </a:t>
            </a:r>
            <a:r>
              <a:rPr lang="en-US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hashtable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good in terms of </a:t>
            </a:r>
            <a:r>
              <a:rPr lang="en-US" sz="2800" b="1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performance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E6AD6-E017-8559-3536-F39F65F6FD1B}"/>
              </a:ext>
            </a:extLst>
          </p:cNvPr>
          <p:cNvSpPr txBox="1"/>
          <p:nvPr/>
        </p:nvSpPr>
        <p:spPr>
          <a:xfrm>
            <a:off x="934356" y="4238154"/>
            <a:ext cx="47328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Is this </a:t>
            </a:r>
            <a:r>
              <a:rPr lang="en-US" sz="28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hashtable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good in terms of </a:t>
            </a:r>
            <a:r>
              <a:rPr lang="en-US" sz="2800" b="1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memory space</a:t>
            </a:r>
            <a:r>
              <a:rPr lang="en-US" sz="28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4922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1704F-72A5-B6E4-FD46-04AE0E25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C5F7-7F6E-EF81-4C5B-D35E12D8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Handling Collisions: Tradeoff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45964-1142-1ED0-9071-426F0F14B2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34" t="29983" r="6851" b="32323"/>
          <a:stretch>
            <a:fillRect/>
          </a:stretch>
        </p:blipFill>
        <p:spPr>
          <a:xfrm>
            <a:off x="7072707" y="853777"/>
            <a:ext cx="4112274" cy="5228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71532-294A-520F-84E4-5296ABED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34" t="55579" r="6851" b="39249"/>
          <a:stretch>
            <a:fillRect/>
          </a:stretch>
        </p:blipFill>
        <p:spPr>
          <a:xfrm>
            <a:off x="7072707" y="6029480"/>
            <a:ext cx="4112274" cy="7173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83B525-3645-5E22-907A-EA1B7E759426}"/>
              </a:ext>
            </a:extLst>
          </p:cNvPr>
          <p:cNvSpPr txBox="1"/>
          <p:nvPr/>
        </p:nvSpPr>
        <p:spPr>
          <a:xfrm>
            <a:off x="7274784" y="6215222"/>
            <a:ext cx="49003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C21F9-7BAA-68ED-1C33-F0D088B9B567}"/>
              </a:ext>
            </a:extLst>
          </p:cNvPr>
          <p:cNvSpPr txBox="1"/>
          <p:nvPr/>
        </p:nvSpPr>
        <p:spPr>
          <a:xfrm rot="5400000">
            <a:off x="8585757" y="5384466"/>
            <a:ext cx="1187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…  … … 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4DA59F-7EAD-9BAC-F0BE-3218471858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2" t="29177" r="72429" b="31726"/>
          <a:stretch>
            <a:fillRect/>
          </a:stretch>
        </p:blipFill>
        <p:spPr>
          <a:xfrm>
            <a:off x="555712" y="937133"/>
            <a:ext cx="4194789" cy="54409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6D68AF-E832-EF85-B6D5-D5999A2DD814}"/>
              </a:ext>
            </a:extLst>
          </p:cNvPr>
          <p:cNvSpPr/>
          <p:nvPr/>
        </p:nvSpPr>
        <p:spPr>
          <a:xfrm>
            <a:off x="555712" y="3657600"/>
            <a:ext cx="4112274" cy="1601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54794-9AAC-35C9-9188-7B5702C39617}"/>
              </a:ext>
            </a:extLst>
          </p:cNvPr>
          <p:cNvSpPr txBox="1"/>
          <p:nvPr/>
        </p:nvSpPr>
        <p:spPr>
          <a:xfrm>
            <a:off x="233962" y="4107221"/>
            <a:ext cx="63133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</a:rPr>
              <a:t>Even with a good hash function, </a:t>
            </a:r>
          </a:p>
          <a:p>
            <a:pPr algn="ctr"/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</a:rPr>
              <a:t>there is a trade-off between space and collisions – </a:t>
            </a:r>
          </a:p>
          <a:p>
            <a:pPr algn="ctr"/>
            <a:r>
              <a:rPr lang="en-US" sz="2800" dirty="0"/>
              <a:t>fewer buckets mean more collisions, which in turn hurt performance.”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290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xplosion: 14 Points 17">
            <a:extLst>
              <a:ext uri="{FF2B5EF4-FFF2-40B4-BE49-F238E27FC236}">
                <a16:creationId xmlns:a16="http://schemas.microsoft.com/office/drawing/2014/main" id="{9EE0DA3D-BA30-9F77-4A59-B7086042FAC1}"/>
              </a:ext>
            </a:extLst>
          </p:cNvPr>
          <p:cNvSpPr/>
          <p:nvPr/>
        </p:nvSpPr>
        <p:spPr>
          <a:xfrm>
            <a:off x="8801401" y="989768"/>
            <a:ext cx="3057190" cy="2083071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BB6FAF-D8E1-41FE-96CB-509AA1395706}"/>
              </a:ext>
            </a:extLst>
          </p:cNvPr>
          <p:cNvSpPr txBox="1"/>
          <p:nvPr/>
        </p:nvSpPr>
        <p:spPr>
          <a:xfrm>
            <a:off x="3275895" y="4590978"/>
            <a:ext cx="66798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Load Factor Typical Threshold          0.75   (75%)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the threshold is exceeded,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hash table automatically resizes (rehashing all entries)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4797B-D6CA-5843-6623-4717E005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Handling Collisions: Finding the Sweet Spot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073A81-4A00-E1C4-432F-F83CF7F20A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48" t="5425" b="1"/>
          <a:stretch>
            <a:fillRect/>
          </a:stretch>
        </p:blipFill>
        <p:spPr>
          <a:xfrm>
            <a:off x="5569877" y="2129838"/>
            <a:ext cx="2914967" cy="905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90FB5B-25E8-994A-AEB5-E83D26E198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423" b="1809"/>
          <a:stretch>
            <a:fillRect/>
          </a:stretch>
        </p:blipFill>
        <p:spPr>
          <a:xfrm>
            <a:off x="3562449" y="2084200"/>
            <a:ext cx="2085991" cy="905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F9518D-9D44-51DB-5183-B1413DB56B18}"/>
              </a:ext>
            </a:extLst>
          </p:cNvPr>
          <p:cNvSpPr txBox="1"/>
          <p:nvPr/>
        </p:nvSpPr>
        <p:spPr>
          <a:xfrm>
            <a:off x="2620400" y="1406010"/>
            <a:ext cx="6789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Maintaining good performance: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EA44E5-380D-E143-86B9-53F264E79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496" y="3297626"/>
            <a:ext cx="7420069" cy="10311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8C5F31-5763-847C-2820-9887978937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704" t="44346" r="77619" b="43030"/>
          <a:stretch>
            <a:fillRect/>
          </a:stretch>
        </p:blipFill>
        <p:spPr>
          <a:xfrm>
            <a:off x="7655858" y="4636616"/>
            <a:ext cx="572212" cy="3763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79B17A-4564-8EA7-921E-007AB219C565}"/>
              </a:ext>
            </a:extLst>
          </p:cNvPr>
          <p:cNvSpPr txBox="1"/>
          <p:nvPr/>
        </p:nvSpPr>
        <p:spPr>
          <a:xfrm rot="19982681">
            <a:off x="9255570" y="1569639"/>
            <a:ext cx="1887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Track how occupied/Full the hash table is</a:t>
            </a:r>
          </a:p>
        </p:txBody>
      </p:sp>
    </p:spTree>
    <p:extLst>
      <p:ext uri="{BB962C8B-B14F-4D97-AF65-F5344CB8AC3E}">
        <p14:creationId xmlns:p14="http://schemas.microsoft.com/office/powerpoint/2010/main" val="413094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1734-6267-A61D-DD94-1E290976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F9FB-0BBC-E3E1-B083-06CA63DB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Handling Collisions: Finding the Sweet Spot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C4C16-75F0-FBBA-DD10-D01707709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19" y="1407581"/>
            <a:ext cx="9922959" cy="313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67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F7067-1A60-AFE6-136A-AA5EDB43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8878-458F-9649-2002-B2C8C87DE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Hash Tables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8BA41-2422-A355-B2FE-26F48859B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HashCode</a:t>
            </a:r>
            <a:r>
              <a:rPr lang="en-US" sz="2800" dirty="0">
                <a:solidFill>
                  <a:srgbClr val="FF000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73542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CB3C-56AC-9757-C2C1-043EA723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Creating </a:t>
            </a:r>
            <a:r>
              <a:rPr lang="en-US" dirty="0" err="1">
                <a:solidFill>
                  <a:srgbClr val="C00000"/>
                </a:solidFill>
              </a:rPr>
              <a:t>hashCode</a:t>
            </a:r>
            <a:r>
              <a:rPr lang="en-US" dirty="0">
                <a:solidFill>
                  <a:srgbClr val="C00000"/>
                </a:solidFill>
              </a:rPr>
              <a:t>(), equals() For Custom Class</a:t>
            </a:r>
          </a:p>
        </p:txBody>
      </p:sp>
      <p:sp>
        <p:nvSpPr>
          <p:cNvPr id="7" name="AutoShape 3" descr="Generated image">
            <a:extLst>
              <a:ext uri="{FF2B5EF4-FFF2-40B4-BE49-F238E27FC236}">
                <a16:creationId xmlns:a16="http://schemas.microsoft.com/office/drawing/2014/main" id="{C26A092A-CA4A-C324-E6EA-7E67B05592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0A5ADE-C90F-6139-B00D-CC6E8CADB0F8}"/>
              </a:ext>
            </a:extLst>
          </p:cNvPr>
          <p:cNvSpPr/>
          <p:nvPr/>
        </p:nvSpPr>
        <p:spPr>
          <a:xfrm>
            <a:off x="4515356" y="904819"/>
            <a:ext cx="7412304" cy="430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43B3F1-57EB-0B94-68C0-AFA08ADF82B6}"/>
              </a:ext>
            </a:extLst>
          </p:cNvPr>
          <p:cNvSpPr/>
          <p:nvPr/>
        </p:nvSpPr>
        <p:spPr>
          <a:xfrm>
            <a:off x="6433168" y="2055921"/>
            <a:ext cx="315590" cy="699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30C6AC-EB97-D058-2CC9-ABECD5CA7758}"/>
              </a:ext>
            </a:extLst>
          </p:cNvPr>
          <p:cNvSpPr txBox="1"/>
          <p:nvPr/>
        </p:nvSpPr>
        <p:spPr>
          <a:xfrm>
            <a:off x="869757" y="1504722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FF"/>
                </a:highlight>
              </a:rPr>
              <a:t>Example: </a:t>
            </a:r>
          </a:p>
          <a:p>
            <a:endParaRPr lang="en-US" b="1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hashCode</a:t>
            </a:r>
            <a:r>
              <a:rPr lang="en-US" dirty="0">
                <a:highlight>
                  <a:srgbClr val="FFFFFF"/>
                </a:highlight>
              </a:rPr>
              <a:t>() implemented to hash Book objects based on name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1461A-51B9-F863-75CA-96AC548CE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714" y="4659144"/>
            <a:ext cx="2908239" cy="8213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451300-85F9-F790-9D65-9C82D19A9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16" y="3007869"/>
            <a:ext cx="4515082" cy="1454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6A02DA-7AAA-3866-64A9-BB5F1DFF4C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678"/>
          <a:stretch>
            <a:fillRect/>
          </a:stretch>
        </p:blipFill>
        <p:spPr>
          <a:xfrm>
            <a:off x="898216" y="5831959"/>
            <a:ext cx="2984384" cy="1965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6956EE-CBE3-A22C-5BDB-5912A03A15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88" r="50787" b="13661"/>
          <a:stretch>
            <a:fillRect/>
          </a:stretch>
        </p:blipFill>
        <p:spPr>
          <a:xfrm>
            <a:off x="6227795" y="904820"/>
            <a:ext cx="5964205" cy="492714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2A60B60-5A7C-0C40-AFD6-FACAE23ECCE7}"/>
              </a:ext>
            </a:extLst>
          </p:cNvPr>
          <p:cNvSpPr/>
          <p:nvPr/>
        </p:nvSpPr>
        <p:spPr>
          <a:xfrm>
            <a:off x="8702702" y="5430741"/>
            <a:ext cx="743447" cy="1232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9713F3-6D0B-BC97-7094-F7084F9D1AAD}"/>
              </a:ext>
            </a:extLst>
          </p:cNvPr>
          <p:cNvSpPr/>
          <p:nvPr/>
        </p:nvSpPr>
        <p:spPr>
          <a:xfrm>
            <a:off x="6941490" y="4865206"/>
            <a:ext cx="5160396" cy="886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270A73A-965B-26B1-7066-ED249814CB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33" t="9856" r="67321" b="80186"/>
          <a:stretch>
            <a:fillRect/>
          </a:stretch>
        </p:blipFill>
        <p:spPr>
          <a:xfrm>
            <a:off x="6907848" y="4830417"/>
            <a:ext cx="3277774" cy="6351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7C1D09F-321E-46D9-FD02-10C4E3FC1E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849" r="50787"/>
          <a:stretch>
            <a:fillRect/>
          </a:stretch>
        </p:blipFill>
        <p:spPr>
          <a:xfrm>
            <a:off x="6227795" y="5492363"/>
            <a:ext cx="5964206" cy="9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13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A8A13-60A2-5C29-9031-A504C759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C3B1-638B-315D-F606-9FE3F6085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Creating </a:t>
            </a:r>
            <a:r>
              <a:rPr lang="en-US" dirty="0" err="1">
                <a:solidFill>
                  <a:srgbClr val="C00000"/>
                </a:solidFill>
              </a:rPr>
              <a:t>hashCode</a:t>
            </a:r>
            <a:r>
              <a:rPr lang="en-US" dirty="0">
                <a:solidFill>
                  <a:srgbClr val="C00000"/>
                </a:solidFill>
              </a:rPr>
              <a:t>(), equals() For Custom Class</a:t>
            </a:r>
          </a:p>
        </p:txBody>
      </p:sp>
      <p:sp>
        <p:nvSpPr>
          <p:cNvPr id="7" name="AutoShape 3" descr="Generated image">
            <a:extLst>
              <a:ext uri="{FF2B5EF4-FFF2-40B4-BE49-F238E27FC236}">
                <a16:creationId xmlns:a16="http://schemas.microsoft.com/office/drawing/2014/main" id="{9525FBE0-84B0-AB96-4BF7-9AEB95E642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D2957-FC9C-4F60-D34F-7AD34EB95788}"/>
              </a:ext>
            </a:extLst>
          </p:cNvPr>
          <p:cNvSpPr/>
          <p:nvPr/>
        </p:nvSpPr>
        <p:spPr>
          <a:xfrm>
            <a:off x="4515356" y="904819"/>
            <a:ext cx="7412304" cy="430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218FCF-1F5D-C39F-21E3-9545CB21E0DE}"/>
              </a:ext>
            </a:extLst>
          </p:cNvPr>
          <p:cNvSpPr/>
          <p:nvPr/>
        </p:nvSpPr>
        <p:spPr>
          <a:xfrm>
            <a:off x="4687159" y="1292028"/>
            <a:ext cx="3751331" cy="94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0AC59D-7BC1-B8D8-A565-E20EEA1AA475}"/>
              </a:ext>
            </a:extLst>
          </p:cNvPr>
          <p:cNvSpPr/>
          <p:nvPr/>
        </p:nvSpPr>
        <p:spPr>
          <a:xfrm>
            <a:off x="6433168" y="2055921"/>
            <a:ext cx="315590" cy="699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1D34C6-01B2-BA62-E68E-5208B27E8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04" y="3824214"/>
            <a:ext cx="2267504" cy="6403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491904-1D10-4762-CE25-E77747F97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82" y="2544463"/>
            <a:ext cx="3627790" cy="11684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6591AA-9333-16A5-4C1F-5E13031875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678"/>
          <a:stretch>
            <a:fillRect/>
          </a:stretch>
        </p:blipFill>
        <p:spPr>
          <a:xfrm>
            <a:off x="391021" y="5694472"/>
            <a:ext cx="2783954" cy="1833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AE0A55-4AEB-D016-8F8F-AC30169C5D94}"/>
              </a:ext>
            </a:extLst>
          </p:cNvPr>
          <p:cNvSpPr txBox="1"/>
          <p:nvPr/>
        </p:nvSpPr>
        <p:spPr>
          <a:xfrm>
            <a:off x="420977" y="1300783"/>
            <a:ext cx="2860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Look Up: </a:t>
            </a:r>
          </a:p>
          <a:p>
            <a:endParaRPr lang="en-US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A2EE8A-8289-0231-4744-2F0D61A27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84" y="4615440"/>
            <a:ext cx="3502501" cy="101984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1DC15BB-2C16-0B68-85A4-F11D8EB6C311}"/>
              </a:ext>
            </a:extLst>
          </p:cNvPr>
          <p:cNvSpPr txBox="1"/>
          <p:nvPr/>
        </p:nvSpPr>
        <p:spPr>
          <a:xfrm>
            <a:off x="1831020" y="1837610"/>
            <a:ext cx="24049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// same book, new title edition</a:t>
            </a:r>
          </a:p>
        </p:txBody>
      </p:sp>
      <p:sp>
        <p:nvSpPr>
          <p:cNvPr id="32" name="AutoShape 3" descr="Generated image">
            <a:extLst>
              <a:ext uri="{FF2B5EF4-FFF2-40B4-BE49-F238E27FC236}">
                <a16:creationId xmlns:a16="http://schemas.microsoft.com/office/drawing/2014/main" id="{2054B812-A0D3-6FF9-023B-C59841F646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E935E3-116F-1721-2726-4D6CFE9F7135}"/>
              </a:ext>
            </a:extLst>
          </p:cNvPr>
          <p:cNvSpPr/>
          <p:nvPr/>
        </p:nvSpPr>
        <p:spPr>
          <a:xfrm>
            <a:off x="6433168" y="2055921"/>
            <a:ext cx="315590" cy="699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BF2C366-2C27-FA5B-3794-74A21C1DA7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088" r="50787" b="13661"/>
          <a:stretch>
            <a:fillRect/>
          </a:stretch>
        </p:blipFill>
        <p:spPr>
          <a:xfrm>
            <a:off x="6227795" y="904820"/>
            <a:ext cx="5964205" cy="492714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BD1490F-1708-2767-C566-41CA6AC0A7A5}"/>
              </a:ext>
            </a:extLst>
          </p:cNvPr>
          <p:cNvSpPr/>
          <p:nvPr/>
        </p:nvSpPr>
        <p:spPr>
          <a:xfrm>
            <a:off x="8702702" y="5430741"/>
            <a:ext cx="743447" cy="1232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B27005-3543-401E-D35E-076D6E6E1B72}"/>
              </a:ext>
            </a:extLst>
          </p:cNvPr>
          <p:cNvSpPr/>
          <p:nvPr/>
        </p:nvSpPr>
        <p:spPr>
          <a:xfrm>
            <a:off x="6941490" y="4865206"/>
            <a:ext cx="5160396" cy="886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CD4CFAC-D5CB-BCF0-B52E-B1A410D93A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633" t="9856" r="67321" b="80186"/>
          <a:stretch>
            <a:fillRect/>
          </a:stretch>
        </p:blipFill>
        <p:spPr>
          <a:xfrm>
            <a:off x="6907848" y="4830417"/>
            <a:ext cx="3277774" cy="6351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A535BB-2C33-59E6-1E29-1CB2A880FD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5849" r="50787"/>
          <a:stretch>
            <a:fillRect/>
          </a:stretch>
        </p:blipFill>
        <p:spPr>
          <a:xfrm>
            <a:off x="6227795" y="5492363"/>
            <a:ext cx="5964206" cy="902533"/>
          </a:xfrm>
          <a:prstGeom prst="rect">
            <a:avLst/>
          </a:prstGeom>
        </p:spPr>
      </p:pic>
      <p:sp>
        <p:nvSpPr>
          <p:cNvPr id="20" name="Explosion: 14 Points 19">
            <a:extLst>
              <a:ext uri="{FF2B5EF4-FFF2-40B4-BE49-F238E27FC236}">
                <a16:creationId xmlns:a16="http://schemas.microsoft.com/office/drawing/2014/main" id="{A6B4D491-5F08-9F53-D3B9-509068CA1811}"/>
              </a:ext>
            </a:extLst>
          </p:cNvPr>
          <p:cNvSpPr/>
          <p:nvPr/>
        </p:nvSpPr>
        <p:spPr>
          <a:xfrm>
            <a:off x="3826096" y="2121903"/>
            <a:ext cx="3090960" cy="3071258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D8A668-E068-E615-C63F-F4A423AA5BEB}"/>
              </a:ext>
            </a:extLst>
          </p:cNvPr>
          <p:cNvSpPr txBox="1"/>
          <p:nvPr/>
        </p:nvSpPr>
        <p:spPr>
          <a:xfrm rot="19470206">
            <a:off x="4115429" y="3168396"/>
            <a:ext cx="2385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LookUp</a:t>
            </a:r>
            <a:r>
              <a:rPr lang="en-US" dirty="0">
                <a:solidFill>
                  <a:srgbClr val="FF0000"/>
                </a:solidFill>
              </a:rPr>
              <a:t> fails even though </a:t>
            </a:r>
            <a:r>
              <a:rPr lang="en-US" b="1" dirty="0">
                <a:solidFill>
                  <a:srgbClr val="FF0000"/>
                </a:solidFill>
              </a:rPr>
              <a:t>equal</a:t>
            </a:r>
            <a:r>
              <a:rPr lang="en-US" dirty="0">
                <a:solidFill>
                  <a:srgbClr val="FF0000"/>
                </a:solidFill>
              </a:rPr>
              <a:t> book is stored in the </a:t>
            </a:r>
            <a:r>
              <a:rPr lang="en-US" dirty="0" err="1">
                <a:solidFill>
                  <a:srgbClr val="FF0000"/>
                </a:solidFill>
              </a:rPr>
              <a:t>hashTable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4CA57BD-8794-3E9F-45BD-B9EE1793566C}"/>
              </a:ext>
            </a:extLst>
          </p:cNvPr>
          <p:cNvGrpSpPr/>
          <p:nvPr/>
        </p:nvGrpSpPr>
        <p:grpSpPr>
          <a:xfrm>
            <a:off x="391021" y="1702015"/>
            <a:ext cx="6137719" cy="211415"/>
            <a:chOff x="391021" y="1702015"/>
            <a:chExt cx="6137719" cy="21141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14AF258-5A57-9AB8-21B9-94F92AB44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13026"/>
            <a:stretch>
              <a:fillRect/>
            </a:stretch>
          </p:blipFill>
          <p:spPr>
            <a:xfrm>
              <a:off x="391021" y="1702015"/>
              <a:ext cx="6137719" cy="21141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A482780-EF58-0232-7CFD-2257F7431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74061" y="1709363"/>
              <a:ext cx="4205319" cy="1576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276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20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B7E2-CE9A-EDC1-2FDB-2DE00DC01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F782-5331-3AEF-9ED9-D6B25AEB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Creating </a:t>
            </a:r>
            <a:r>
              <a:rPr lang="en-US" dirty="0" err="1">
                <a:solidFill>
                  <a:srgbClr val="C00000"/>
                </a:solidFill>
              </a:rPr>
              <a:t>hashCode</a:t>
            </a:r>
            <a:r>
              <a:rPr lang="en-US" dirty="0">
                <a:solidFill>
                  <a:srgbClr val="C00000"/>
                </a:solidFill>
              </a:rPr>
              <a:t>(), equals() For Custom Class</a:t>
            </a:r>
          </a:p>
        </p:txBody>
      </p:sp>
      <p:sp>
        <p:nvSpPr>
          <p:cNvPr id="7" name="AutoShape 3" descr="Generated image">
            <a:extLst>
              <a:ext uri="{FF2B5EF4-FFF2-40B4-BE49-F238E27FC236}">
                <a16:creationId xmlns:a16="http://schemas.microsoft.com/office/drawing/2014/main" id="{211FBC77-9F3A-9C78-FD01-171E8F4A0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8F1848-0320-1770-3BEE-6E2D99C320DB}"/>
              </a:ext>
            </a:extLst>
          </p:cNvPr>
          <p:cNvSpPr/>
          <p:nvPr/>
        </p:nvSpPr>
        <p:spPr>
          <a:xfrm>
            <a:off x="4515356" y="904819"/>
            <a:ext cx="7412304" cy="430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EB660D-4C4C-FC40-AE96-30218C97CA2C}"/>
              </a:ext>
            </a:extLst>
          </p:cNvPr>
          <p:cNvSpPr/>
          <p:nvPr/>
        </p:nvSpPr>
        <p:spPr>
          <a:xfrm>
            <a:off x="4687159" y="1292028"/>
            <a:ext cx="3751331" cy="94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C22DE-67C9-555E-F760-308086DC8996}"/>
              </a:ext>
            </a:extLst>
          </p:cNvPr>
          <p:cNvSpPr/>
          <p:nvPr/>
        </p:nvSpPr>
        <p:spPr>
          <a:xfrm>
            <a:off x="6433168" y="2055921"/>
            <a:ext cx="315590" cy="699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ECEF5B-E251-95A5-4104-84296B0E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04" y="3824214"/>
            <a:ext cx="2267504" cy="6403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375B74-4C6F-5ED2-3ADF-E57FDD3FD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82" y="2544463"/>
            <a:ext cx="3627790" cy="11684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7B3A00-54CB-F2F8-D1EC-12C983FE4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678"/>
          <a:stretch>
            <a:fillRect/>
          </a:stretch>
        </p:blipFill>
        <p:spPr>
          <a:xfrm>
            <a:off x="391021" y="5694472"/>
            <a:ext cx="2783954" cy="1833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2090EC-4EB8-8810-99D1-5827053AF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84" y="4615440"/>
            <a:ext cx="3502501" cy="1019846"/>
          </a:xfrm>
          <a:prstGeom prst="rect">
            <a:avLst/>
          </a:prstGeom>
        </p:spPr>
      </p:pic>
      <p:sp>
        <p:nvSpPr>
          <p:cNvPr id="32" name="AutoShape 3" descr="Generated image">
            <a:extLst>
              <a:ext uri="{FF2B5EF4-FFF2-40B4-BE49-F238E27FC236}">
                <a16:creationId xmlns:a16="http://schemas.microsoft.com/office/drawing/2014/main" id="{FA2011B0-C2EB-DA86-D1A6-CE62C866AF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77D07E-F361-FEFC-8812-CD3A23E13CEC}"/>
              </a:ext>
            </a:extLst>
          </p:cNvPr>
          <p:cNvSpPr/>
          <p:nvPr/>
        </p:nvSpPr>
        <p:spPr>
          <a:xfrm>
            <a:off x="6433168" y="2055921"/>
            <a:ext cx="315590" cy="699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FA6D22E-CC4A-5CCB-9C1D-3002CFF505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088" r="50787" b="13661"/>
          <a:stretch>
            <a:fillRect/>
          </a:stretch>
        </p:blipFill>
        <p:spPr>
          <a:xfrm>
            <a:off x="6227795" y="904820"/>
            <a:ext cx="5964205" cy="492714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575399D-4017-9B4E-DF93-C9E8F217F153}"/>
              </a:ext>
            </a:extLst>
          </p:cNvPr>
          <p:cNvSpPr/>
          <p:nvPr/>
        </p:nvSpPr>
        <p:spPr>
          <a:xfrm>
            <a:off x="8702702" y="5430741"/>
            <a:ext cx="743447" cy="1232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5B0DA2-A8AF-1501-A951-EC273F989A30}"/>
              </a:ext>
            </a:extLst>
          </p:cNvPr>
          <p:cNvSpPr/>
          <p:nvPr/>
        </p:nvSpPr>
        <p:spPr>
          <a:xfrm>
            <a:off x="6941490" y="4865206"/>
            <a:ext cx="5160396" cy="886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FE358A2-3993-02EE-0FDF-CD6E98A880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633" t="9856" r="67321" b="80186"/>
          <a:stretch>
            <a:fillRect/>
          </a:stretch>
        </p:blipFill>
        <p:spPr>
          <a:xfrm>
            <a:off x="6907848" y="4830417"/>
            <a:ext cx="3277774" cy="6351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A4AB315-6672-A860-0CE9-B28062BAC29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5849" r="50787"/>
          <a:stretch>
            <a:fillRect/>
          </a:stretch>
        </p:blipFill>
        <p:spPr>
          <a:xfrm>
            <a:off x="6227795" y="5492363"/>
            <a:ext cx="5964206" cy="9025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0F22D01-0730-A7B5-5559-1F646D862F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088" r="50787"/>
          <a:stretch>
            <a:fillRect/>
          </a:stretch>
        </p:blipFill>
        <p:spPr>
          <a:xfrm>
            <a:off x="6135258" y="996824"/>
            <a:ext cx="5964205" cy="5798495"/>
          </a:xfrm>
          <a:prstGeom prst="rect">
            <a:avLst/>
          </a:prstGeom>
        </p:spPr>
      </p:pic>
      <p:sp>
        <p:nvSpPr>
          <p:cNvPr id="20" name="Explosion: 14 Points 19">
            <a:extLst>
              <a:ext uri="{FF2B5EF4-FFF2-40B4-BE49-F238E27FC236}">
                <a16:creationId xmlns:a16="http://schemas.microsoft.com/office/drawing/2014/main" id="{C4729AE9-3E7D-4DDB-5901-F3F03ED05E91}"/>
              </a:ext>
            </a:extLst>
          </p:cNvPr>
          <p:cNvSpPr/>
          <p:nvPr/>
        </p:nvSpPr>
        <p:spPr>
          <a:xfrm>
            <a:off x="3826096" y="2121903"/>
            <a:ext cx="3090960" cy="3071258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F283DC-865F-6915-BC46-2F8787B5347F}"/>
              </a:ext>
            </a:extLst>
          </p:cNvPr>
          <p:cNvSpPr txBox="1"/>
          <p:nvPr/>
        </p:nvSpPr>
        <p:spPr>
          <a:xfrm rot="19470206">
            <a:off x="4091312" y="3270084"/>
            <a:ext cx="2385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We could end up adding a duplicate (an equal) object</a:t>
            </a:r>
          </a:p>
        </p:txBody>
      </p:sp>
    </p:spTree>
    <p:extLst>
      <p:ext uri="{BB962C8B-B14F-4D97-AF65-F5344CB8AC3E}">
        <p14:creationId xmlns:p14="http://schemas.microsoft.com/office/powerpoint/2010/main" val="383812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D1BB-ACA1-BEBA-38B6-F338E92D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3EC7-BAC3-41D6-1D91-55B21E1F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Creating </a:t>
            </a:r>
            <a:r>
              <a:rPr lang="en-US" dirty="0" err="1">
                <a:solidFill>
                  <a:srgbClr val="C00000"/>
                </a:solidFill>
              </a:rPr>
              <a:t>hasCode</a:t>
            </a:r>
            <a:r>
              <a:rPr lang="en-US" dirty="0">
                <a:solidFill>
                  <a:srgbClr val="C00000"/>
                </a:solidFill>
              </a:rPr>
              <a:t>(), equals()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17E21-F544-E188-CD24-4ABAFBF948CF}"/>
              </a:ext>
            </a:extLst>
          </p:cNvPr>
          <p:cNvSpPr txBox="1"/>
          <p:nvPr/>
        </p:nvSpPr>
        <p:spPr>
          <a:xfrm>
            <a:off x="857470" y="1413623"/>
            <a:ext cx="1047705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Why consistency matters in a hash-based structure:</a:t>
            </a:r>
          </a:p>
          <a:p>
            <a:pPr>
              <a:buNone/>
            </a:pPr>
            <a:endParaRPr lang="en-US" sz="1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hashCode</a:t>
            </a:r>
            <a:r>
              <a:rPr lang="en-US" sz="2400" dirty="0">
                <a:latin typeface="Courier New" panose="02070309020205020404" pitchFamily="49" charset="0"/>
              </a:rPr>
              <a:t>()</a:t>
            </a:r>
            <a:r>
              <a:rPr lang="en-US" sz="2400" dirty="0"/>
              <a:t> decides </a:t>
            </a:r>
            <a:r>
              <a:rPr lang="en-US" sz="2400" b="1" dirty="0"/>
              <a:t>which bucket</a:t>
            </a:r>
            <a:r>
              <a:rPr lang="en-US" sz="2400" dirty="0"/>
              <a:t> the object goes into.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equals()</a:t>
            </a:r>
            <a:r>
              <a:rPr lang="en-US" sz="2400" dirty="0"/>
              <a:t> decides </a:t>
            </a:r>
            <a:r>
              <a:rPr lang="en-US" sz="2400" b="1" dirty="0"/>
              <a:t>if two objects in the same bucket are the same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If they’re inconsistent, you can break </a:t>
            </a:r>
            <a:r>
              <a:rPr lang="en-US" sz="2400" i="1" dirty="0"/>
              <a:t>both uniqueness</a:t>
            </a:r>
            <a:r>
              <a:rPr lang="en-US" sz="2400" dirty="0"/>
              <a:t> </a:t>
            </a:r>
            <a:r>
              <a:rPr lang="en-US" sz="2400" b="1" dirty="0"/>
              <a:t>and</a:t>
            </a:r>
            <a:r>
              <a:rPr lang="en-US" sz="2400" dirty="0"/>
              <a:t> </a:t>
            </a:r>
            <a:r>
              <a:rPr lang="en-US" sz="2400" i="1" dirty="0"/>
              <a:t>search reliability.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3B2E0E-1F1C-315D-335F-BEE19E5A6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766" y="3716278"/>
            <a:ext cx="4309201" cy="269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4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9974-3D21-DD47-66FB-A62FDFCA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HashCode</a:t>
            </a:r>
            <a:r>
              <a:rPr lang="en-US" dirty="0">
                <a:solidFill>
                  <a:srgbClr val="C00000"/>
                </a:solidFill>
              </a:rPr>
              <a:t>() Recap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52A95-6B34-C9E7-B78A-418CCF83E7A1}"/>
              </a:ext>
            </a:extLst>
          </p:cNvPr>
          <p:cNvSpPr txBox="1"/>
          <p:nvPr/>
        </p:nvSpPr>
        <p:spPr>
          <a:xfrm>
            <a:off x="805264" y="1474672"/>
            <a:ext cx="109437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Java provides a </a:t>
            </a:r>
            <a:r>
              <a:rPr lang="en-US" sz="2000" dirty="0" err="1"/>
              <a:t>hashCode</a:t>
            </a:r>
            <a:r>
              <a:rPr lang="en-US" sz="2000" dirty="0"/>
              <a:t>() for all built-in datatypes and an initial one for your custom objects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you override the </a:t>
            </a:r>
            <a:r>
              <a:rPr lang="en-US" sz="2000" dirty="0" err="1"/>
              <a:t>hashCode</a:t>
            </a:r>
            <a:r>
              <a:rPr lang="en-US" sz="2000" dirty="0"/>
              <a:t>() method, consider the following: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system-ui"/>
              </a:rPr>
              <a:t>Generate an object’s hash codes based on the hash codes of its attributes.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system-ui"/>
              </a:rPr>
              <a:t>Should be consistent with equals() and </a:t>
            </a:r>
            <a:r>
              <a:rPr lang="en-US" sz="2000" dirty="0" err="1">
                <a:solidFill>
                  <a:srgbClr val="212529"/>
                </a:solidFill>
                <a:latin typeface="system-ui"/>
              </a:rPr>
              <a:t>compareTo</a:t>
            </a:r>
            <a:r>
              <a:rPr lang="en-US" sz="2000" dirty="0">
                <a:solidFill>
                  <a:srgbClr val="212529"/>
                </a:solidFill>
                <a:latin typeface="system-ui"/>
              </a:rPr>
              <a:t>()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system-ui"/>
              </a:rPr>
              <a:t>If </a:t>
            </a:r>
            <a:r>
              <a:rPr lang="en-US" sz="2000" dirty="0" err="1"/>
              <a:t>compareTo</a:t>
            </a:r>
            <a:r>
              <a:rPr lang="en-US" sz="2000" dirty="0"/>
              <a:t>() and equals() say that two objects are equal, then their hashes must be the same as well.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Using Primes as in the </a:t>
            </a:r>
            <a:r>
              <a:rPr lang="en-US" sz="2000" dirty="0" err="1"/>
              <a:t>SringHashFunction</a:t>
            </a:r>
            <a:r>
              <a:rPr lang="en-US" sz="2000" dirty="0"/>
              <a:t>() example helps achieve even 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system-ui"/>
              </a:rPr>
              <a:t>More Examples on this </a:t>
            </a:r>
            <a:r>
              <a:rPr lang="en-US" sz="2000" u="sng" dirty="0">
                <a:solidFill>
                  <a:srgbClr val="0D6EFD"/>
                </a:solidFill>
                <a:latin typeface="system-ui"/>
                <a:hlinkClick r:id="rId2"/>
              </a:rPr>
              <a:t>website</a:t>
            </a:r>
            <a:r>
              <a:rPr lang="en-US" sz="2000" dirty="0">
                <a:solidFill>
                  <a:srgbClr val="212529"/>
                </a:solidFill>
                <a:latin typeface="system-ui"/>
              </a:rPr>
              <a:t>.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Java built-in implementations that use a </a:t>
            </a:r>
            <a:r>
              <a:rPr lang="en-US" sz="2000" dirty="0" err="1"/>
              <a:t>hashtable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Take care of initializing the table size and resizing based on load factor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Mod the </a:t>
            </a:r>
            <a:r>
              <a:rPr lang="en-US" sz="2000" dirty="0" err="1"/>
              <a:t>hashCode</a:t>
            </a:r>
            <a:r>
              <a:rPr lang="en-US" sz="2000" dirty="0"/>
              <a:t> value to be within the bucket values</a:t>
            </a:r>
          </a:p>
        </p:txBody>
      </p:sp>
    </p:spTree>
    <p:extLst>
      <p:ext uri="{BB962C8B-B14F-4D97-AF65-F5344CB8AC3E}">
        <p14:creationId xmlns:p14="http://schemas.microsoft.com/office/powerpoint/2010/main" val="28799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B2F9-CC24-1A82-C221-D8385C42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0EF-BB02-F4B4-0C36-11B96FD59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Sets &amp; Maps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1F4A9-82FB-6CE2-80B0-895CF1EA8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0000"/>
                </a:solidFill>
              </a:rPr>
              <a:t>HashSets</a:t>
            </a:r>
            <a:r>
              <a:rPr lang="en-US" sz="3600" dirty="0">
                <a:solidFill>
                  <a:srgbClr val="FF0000"/>
                </a:solidFill>
              </a:rPr>
              <a:t> &amp; </a:t>
            </a:r>
            <a:r>
              <a:rPr lang="en-US" sz="3600" dirty="0" err="1">
                <a:solidFill>
                  <a:srgbClr val="FF0000"/>
                </a:solidFill>
              </a:rPr>
              <a:t>HashMaps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79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30E2-9B6F-F52C-EFAD-E8E52E58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CA6C-A83C-FCFC-0377-3A742F6B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58" y="96928"/>
            <a:ext cx="1025260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ADTs</a:t>
            </a:r>
            <a:r>
              <a:rPr lang="en-US" dirty="0"/>
              <a:t>                                  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DataStructures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4AD711-D938-D8E7-5C52-A02B797610BA}"/>
              </a:ext>
            </a:extLst>
          </p:cNvPr>
          <p:cNvSpPr txBox="1">
            <a:spLocks/>
          </p:cNvSpPr>
          <p:nvPr/>
        </p:nvSpPr>
        <p:spPr>
          <a:xfrm>
            <a:off x="7969830" y="1894082"/>
            <a:ext cx="3879680" cy="39248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FFFF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Array</a:t>
            </a:r>
          </a:p>
          <a:p>
            <a:r>
              <a:rPr lang="en-US" dirty="0" err="1"/>
              <a:t>ArrayList</a:t>
            </a:r>
            <a:endParaRPr lang="en-US" dirty="0"/>
          </a:p>
          <a:p>
            <a:r>
              <a:rPr lang="en-US" dirty="0"/>
              <a:t>LinkedList</a:t>
            </a:r>
          </a:p>
          <a:p>
            <a:r>
              <a:rPr lang="en-US" dirty="0"/>
              <a:t>Binary Search Tree</a:t>
            </a:r>
          </a:p>
          <a:p>
            <a:r>
              <a:rPr lang="en-US" dirty="0"/>
              <a:t>Binary Heap</a:t>
            </a:r>
          </a:p>
          <a:p>
            <a:pPr lvl="1"/>
            <a:r>
              <a:rPr lang="en-US" dirty="0"/>
              <a:t>Min Heap</a:t>
            </a:r>
          </a:p>
          <a:p>
            <a:pPr lvl="1"/>
            <a:r>
              <a:rPr lang="en-US" dirty="0"/>
              <a:t>Max Heap</a:t>
            </a:r>
          </a:p>
          <a:p>
            <a:r>
              <a:rPr lang="en-US" dirty="0"/>
              <a:t>Hash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5CD7F-18CE-3010-519C-99F82918DF8E}"/>
              </a:ext>
            </a:extLst>
          </p:cNvPr>
          <p:cNvSpPr txBox="1"/>
          <p:nvPr/>
        </p:nvSpPr>
        <p:spPr>
          <a:xfrm>
            <a:off x="2394263" y="1814578"/>
            <a:ext cx="2336120" cy="42780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isEmpty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Peek</a:t>
            </a:r>
          </a:p>
          <a:p>
            <a:pPr lvl="1"/>
            <a:endParaRPr lang="en-US" sz="2000" dirty="0"/>
          </a:p>
          <a:p>
            <a:r>
              <a:rPr lang="en-US" sz="2800" b="1" dirty="0"/>
              <a:t>Priority 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removeMax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PeekMax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1A524-CAAB-2581-E7D7-D2D8F27B8C6A}"/>
              </a:ext>
            </a:extLst>
          </p:cNvPr>
          <p:cNvSpPr txBox="1"/>
          <p:nvPr/>
        </p:nvSpPr>
        <p:spPr>
          <a:xfrm>
            <a:off x="243507" y="1814578"/>
            <a:ext cx="2047620" cy="43088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/>
              <a:t>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Size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isEmpty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EC256-EF06-2434-95CA-B668D459FD1E}"/>
              </a:ext>
            </a:extLst>
          </p:cNvPr>
          <p:cNvSpPr txBox="1"/>
          <p:nvPr/>
        </p:nvSpPr>
        <p:spPr>
          <a:xfrm>
            <a:off x="4833518" y="1814578"/>
            <a:ext cx="2221705" cy="42780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isEmpty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Contains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Remove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b="1" dirty="0"/>
              <a:t>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isEmpty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Put(K,V)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Get(K)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ContainsKey</a:t>
            </a:r>
            <a:r>
              <a:rPr lang="en-US" sz="1600" dirty="0"/>
              <a:t>(K)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Remove(K)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KeySet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0AD96B-CC81-C7BA-3617-7DCF8CAAAE88}"/>
              </a:ext>
            </a:extLst>
          </p:cNvPr>
          <p:cNvSpPr/>
          <p:nvPr/>
        </p:nvSpPr>
        <p:spPr>
          <a:xfrm>
            <a:off x="0" y="3856496"/>
            <a:ext cx="4730383" cy="114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FC58FB-15F1-6DDE-B07C-109B620BA586}"/>
              </a:ext>
            </a:extLst>
          </p:cNvPr>
          <p:cNvSpPr/>
          <p:nvPr/>
        </p:nvSpPr>
        <p:spPr>
          <a:xfrm>
            <a:off x="4833517" y="3594288"/>
            <a:ext cx="2380644" cy="2529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43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66C8F-E813-3713-D620-EB1F6D21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A712-1660-D8B0-2FA3-1299D4FD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58" y="96928"/>
            <a:ext cx="10252609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ADTs</a:t>
            </a:r>
            <a:r>
              <a:rPr lang="en-US" dirty="0"/>
              <a:t>                                  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DataStructures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93E746-851E-5EE0-A2CB-DBFB7363206A}"/>
              </a:ext>
            </a:extLst>
          </p:cNvPr>
          <p:cNvSpPr txBox="1">
            <a:spLocks/>
          </p:cNvSpPr>
          <p:nvPr/>
        </p:nvSpPr>
        <p:spPr>
          <a:xfrm>
            <a:off x="7969830" y="1894082"/>
            <a:ext cx="3879680" cy="39248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FFFF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Array</a:t>
            </a:r>
          </a:p>
          <a:p>
            <a:r>
              <a:rPr lang="en-US" dirty="0" err="1"/>
              <a:t>ArrayList</a:t>
            </a:r>
            <a:endParaRPr lang="en-US" dirty="0"/>
          </a:p>
          <a:p>
            <a:r>
              <a:rPr lang="en-US" dirty="0"/>
              <a:t>LinkedList</a:t>
            </a:r>
          </a:p>
          <a:p>
            <a:r>
              <a:rPr lang="en-US" dirty="0"/>
              <a:t>Binary Search Tree</a:t>
            </a:r>
          </a:p>
          <a:p>
            <a:r>
              <a:rPr lang="en-US" dirty="0"/>
              <a:t>Binary Heap</a:t>
            </a:r>
          </a:p>
          <a:p>
            <a:pPr lvl="1"/>
            <a:r>
              <a:rPr lang="en-US" dirty="0"/>
              <a:t>Min Heap</a:t>
            </a:r>
          </a:p>
          <a:p>
            <a:pPr lvl="1"/>
            <a:r>
              <a:rPr lang="en-US" dirty="0"/>
              <a:t>Max Heap</a:t>
            </a:r>
          </a:p>
          <a:p>
            <a:r>
              <a:rPr lang="en-US" dirty="0"/>
              <a:t>Hash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F9D77-5818-D72D-FCA2-F0A4180FBCC9}"/>
              </a:ext>
            </a:extLst>
          </p:cNvPr>
          <p:cNvSpPr txBox="1"/>
          <p:nvPr/>
        </p:nvSpPr>
        <p:spPr>
          <a:xfrm>
            <a:off x="2394263" y="1814578"/>
            <a:ext cx="2336120" cy="42780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isEmpty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Peek</a:t>
            </a:r>
          </a:p>
          <a:p>
            <a:pPr lvl="1"/>
            <a:endParaRPr lang="en-US" sz="2000" dirty="0"/>
          </a:p>
          <a:p>
            <a:r>
              <a:rPr lang="en-US" sz="2800" b="1" dirty="0"/>
              <a:t>Priority 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removeMax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PeekMax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1CAD0-BBAB-3DBC-ED2E-5CBFAA3CFBCB}"/>
              </a:ext>
            </a:extLst>
          </p:cNvPr>
          <p:cNvSpPr txBox="1"/>
          <p:nvPr/>
        </p:nvSpPr>
        <p:spPr>
          <a:xfrm>
            <a:off x="243507" y="1814578"/>
            <a:ext cx="2047620" cy="43088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/>
              <a:t>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Size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isEmpty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FF3AB-7A74-ECA1-B8E3-550D29CBBDFA}"/>
              </a:ext>
            </a:extLst>
          </p:cNvPr>
          <p:cNvSpPr txBox="1"/>
          <p:nvPr/>
        </p:nvSpPr>
        <p:spPr>
          <a:xfrm>
            <a:off x="4833518" y="1814578"/>
            <a:ext cx="2221705" cy="42780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isEmpty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Contains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Remove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b="1" dirty="0"/>
              <a:t>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isEmpty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Clear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Put(K,V)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Get(K)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ContainsKey</a:t>
            </a:r>
            <a:r>
              <a:rPr lang="en-US" sz="1600" dirty="0"/>
              <a:t>(K)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Remove(K)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KeySet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4907C0-A167-8E9C-50CD-E22413AFC926}"/>
              </a:ext>
            </a:extLst>
          </p:cNvPr>
          <p:cNvSpPr/>
          <p:nvPr/>
        </p:nvSpPr>
        <p:spPr>
          <a:xfrm>
            <a:off x="0" y="3856496"/>
            <a:ext cx="4730383" cy="114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91FA30-3F96-3539-B7C3-71E781785AA0}"/>
              </a:ext>
            </a:extLst>
          </p:cNvPr>
          <p:cNvSpPr/>
          <p:nvPr/>
        </p:nvSpPr>
        <p:spPr>
          <a:xfrm>
            <a:off x="4833517" y="3594288"/>
            <a:ext cx="2221705" cy="116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83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0D61-4445-0000-F51B-98EF62BF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Sets and Maps in Java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13A88-B5F5-C714-57F7-8B646ED096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3" t="11932" r="9012" b="41311"/>
          <a:stretch>
            <a:fillRect/>
          </a:stretch>
        </p:blipFill>
        <p:spPr>
          <a:xfrm>
            <a:off x="75974" y="2138108"/>
            <a:ext cx="11840593" cy="41678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FD7CA3-D8B1-D415-2D49-14DEA058D62C}"/>
              </a:ext>
            </a:extLst>
          </p:cNvPr>
          <p:cNvSpPr/>
          <p:nvPr/>
        </p:nvSpPr>
        <p:spPr>
          <a:xfrm>
            <a:off x="510441" y="5618892"/>
            <a:ext cx="2611850" cy="166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B8DC77-7974-1339-5E91-44FD9AFB70B0}"/>
              </a:ext>
            </a:extLst>
          </p:cNvPr>
          <p:cNvSpPr/>
          <p:nvPr/>
        </p:nvSpPr>
        <p:spPr>
          <a:xfrm>
            <a:off x="2431018" y="3355625"/>
            <a:ext cx="1686504" cy="8992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0D1B20-1112-7B08-5E6E-FA4017BA9CAB}"/>
              </a:ext>
            </a:extLst>
          </p:cNvPr>
          <p:cNvSpPr/>
          <p:nvPr/>
        </p:nvSpPr>
        <p:spPr>
          <a:xfrm>
            <a:off x="9383321" y="3355625"/>
            <a:ext cx="1686504" cy="8992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51DC45-94AD-F900-C770-29E3D25DA785}"/>
              </a:ext>
            </a:extLst>
          </p:cNvPr>
          <p:cNvSpPr/>
          <p:nvPr/>
        </p:nvSpPr>
        <p:spPr>
          <a:xfrm>
            <a:off x="10821438" y="4008166"/>
            <a:ext cx="507298" cy="24847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17140B-345A-1155-8118-C354EFEE4B60}"/>
              </a:ext>
            </a:extLst>
          </p:cNvPr>
          <p:cNvSpPr/>
          <p:nvPr/>
        </p:nvSpPr>
        <p:spPr>
          <a:xfrm>
            <a:off x="7356653" y="5618892"/>
            <a:ext cx="2611850" cy="166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7EB13A-97DF-FBB1-C0E3-E24B506BDA44}"/>
              </a:ext>
            </a:extLst>
          </p:cNvPr>
          <p:cNvSpPr/>
          <p:nvPr/>
        </p:nvSpPr>
        <p:spPr>
          <a:xfrm>
            <a:off x="4050163" y="3821245"/>
            <a:ext cx="507298" cy="24847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4D6D0-9BFE-5600-8519-DB8E85D06607}"/>
              </a:ext>
            </a:extLst>
          </p:cNvPr>
          <p:cNvSpPr/>
          <p:nvPr/>
        </p:nvSpPr>
        <p:spPr>
          <a:xfrm>
            <a:off x="187117" y="4300336"/>
            <a:ext cx="3863046" cy="1929839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47C95E-D4A3-0408-862B-B4E5D97F393A}"/>
              </a:ext>
            </a:extLst>
          </p:cNvPr>
          <p:cNvSpPr/>
          <p:nvPr/>
        </p:nvSpPr>
        <p:spPr>
          <a:xfrm>
            <a:off x="6958392" y="4300335"/>
            <a:ext cx="3863046" cy="192983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956C384-4117-D29D-C068-05A16E1D0C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8458" b="65707"/>
          <a:stretch>
            <a:fillRect/>
          </a:stretch>
        </p:blipFill>
        <p:spPr>
          <a:xfrm>
            <a:off x="515493" y="5416183"/>
            <a:ext cx="2267477" cy="2481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51ACAD-91A8-7C09-4D7A-62319886B063}"/>
              </a:ext>
            </a:extLst>
          </p:cNvPr>
          <p:cNvSpPr txBox="1"/>
          <p:nvPr/>
        </p:nvSpPr>
        <p:spPr>
          <a:xfrm>
            <a:off x="667682" y="5736263"/>
            <a:ext cx="315872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Unordered, Each key is unique, values can repeat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1FEB09-9B97-7DE1-FD7C-9EC187AA1D1C}"/>
              </a:ext>
            </a:extLst>
          </p:cNvPr>
          <p:cNvSpPr txBox="1"/>
          <p:nvPr/>
        </p:nvSpPr>
        <p:spPr>
          <a:xfrm>
            <a:off x="3779767" y="1544560"/>
            <a:ext cx="5206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Hash Table</a:t>
            </a:r>
            <a:r>
              <a:rPr lang="en-US" dirty="0">
                <a:solidFill>
                  <a:srgbClr val="FF0000"/>
                </a:solidFill>
              </a:rPr>
              <a:t> is the </a:t>
            </a:r>
            <a:r>
              <a:rPr lang="en-US" i="1" dirty="0">
                <a:solidFill>
                  <a:srgbClr val="FF0000"/>
                </a:solidFill>
              </a:rPr>
              <a:t>underlying structure</a:t>
            </a:r>
            <a:r>
              <a:rPr lang="en-US" dirty="0">
                <a:solidFill>
                  <a:srgbClr val="FF0000"/>
                </a:solidFill>
              </a:rPr>
              <a:t> often used to implement </a:t>
            </a:r>
            <a:r>
              <a:rPr lang="en-US" b="1" dirty="0">
                <a:solidFill>
                  <a:srgbClr val="FF0000"/>
                </a:solidFill>
              </a:rPr>
              <a:t>Sets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b="1" dirty="0">
                <a:solidFill>
                  <a:srgbClr val="FF0000"/>
                </a:solidFill>
              </a:rPr>
              <a:t>Maps</a:t>
            </a:r>
            <a:r>
              <a:rPr lang="en-US" dirty="0">
                <a:solidFill>
                  <a:srgbClr val="FF0000"/>
                </a:solidFill>
              </a:rPr>
              <a:t> in Java.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86763D-C35D-C10F-5A08-0308F76A650C}"/>
              </a:ext>
            </a:extLst>
          </p:cNvPr>
          <p:cNvSpPr txBox="1"/>
          <p:nvPr/>
        </p:nvSpPr>
        <p:spPr>
          <a:xfrm>
            <a:off x="4091686" y="4934380"/>
            <a:ext cx="177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Called Dictionaries in Python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0D9C60-28F2-F642-67E5-51AAAE44AE4E}"/>
              </a:ext>
            </a:extLst>
          </p:cNvPr>
          <p:cNvSpPr txBox="1"/>
          <p:nvPr/>
        </p:nvSpPr>
        <p:spPr>
          <a:xfrm>
            <a:off x="10758131" y="5093017"/>
            <a:ext cx="1412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Called Sets in Python</a:t>
            </a:r>
          </a:p>
        </p:txBody>
      </p:sp>
    </p:spTree>
    <p:extLst>
      <p:ext uri="{BB962C8B-B14F-4D97-AF65-F5344CB8AC3E}">
        <p14:creationId xmlns:p14="http://schemas.microsoft.com/office/powerpoint/2010/main" val="3065901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BEB8-EA4D-E14C-BE6C-61508A16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D206-36EF-9BDC-6E3C-49456E13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Sets and Maps in Java: Using </a:t>
            </a:r>
            <a:r>
              <a:rPr lang="en-US" dirty="0" err="1">
                <a:solidFill>
                  <a:srgbClr val="C00000"/>
                </a:solidFill>
              </a:rPr>
              <a:t>HashTable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26895-4335-93A9-54EB-AB652FF6D5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396" b="24572"/>
          <a:stretch>
            <a:fillRect/>
          </a:stretch>
        </p:blipFill>
        <p:spPr>
          <a:xfrm>
            <a:off x="556591" y="2085007"/>
            <a:ext cx="11078817" cy="3626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1E96C8-D61F-9BD4-D858-219F5A7F5E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352" t="37403" r="25442" b="58738"/>
          <a:stretch>
            <a:fillRect/>
          </a:stretch>
        </p:blipFill>
        <p:spPr>
          <a:xfrm>
            <a:off x="8072795" y="1446010"/>
            <a:ext cx="1711728" cy="3650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EF6272-9432-AA49-3703-2BD635C9D8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82" t="37743" r="75385" b="58738"/>
          <a:stretch>
            <a:fillRect/>
          </a:stretch>
        </p:blipFill>
        <p:spPr>
          <a:xfrm>
            <a:off x="2135807" y="1446009"/>
            <a:ext cx="2339162" cy="357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FFB5B0-885F-7E8E-7A74-82E6329B6063}"/>
              </a:ext>
            </a:extLst>
          </p:cNvPr>
          <p:cNvSpPr txBox="1"/>
          <p:nvPr/>
        </p:nvSpPr>
        <p:spPr>
          <a:xfrm>
            <a:off x="3916761" y="5993137"/>
            <a:ext cx="4743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Hashes the </a:t>
            </a:r>
            <a:r>
              <a:rPr lang="en-US" dirty="0"/>
              <a:t>key</a:t>
            </a:r>
            <a:r>
              <a:rPr lang="en-US" b="1" dirty="0"/>
              <a:t> to find the </a:t>
            </a:r>
            <a:r>
              <a:rPr lang="en-US" dirty="0"/>
              <a:t>bucket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0061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380BC-7D7E-05EC-D0C8-FA8B6209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E4BE-3C40-349A-C3A1-3F009B04C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Sets &amp; Maps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60DE8-6FE3-569E-BCA7-FFF2FB0B1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0000"/>
                </a:solidFill>
              </a:rPr>
              <a:t>TreeSets</a:t>
            </a:r>
            <a:r>
              <a:rPr lang="en-US" sz="3600" dirty="0">
                <a:solidFill>
                  <a:srgbClr val="FF0000"/>
                </a:solidFill>
              </a:rPr>
              <a:t> &amp; </a:t>
            </a:r>
            <a:r>
              <a:rPr lang="en-US" sz="3600" dirty="0" err="1">
                <a:solidFill>
                  <a:srgbClr val="FF0000"/>
                </a:solidFill>
              </a:rPr>
              <a:t>TreeMaps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1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205C-C6A6-58CE-EB0D-DED4153D8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DE34-64C2-27ED-FD90-ABD9276E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Sets and Maps in Java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BBBA3-5F35-1E04-B853-47CF6866B8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32" b="15310"/>
          <a:stretch>
            <a:fillRect/>
          </a:stretch>
        </p:blipFill>
        <p:spPr>
          <a:xfrm>
            <a:off x="1081851" y="1487702"/>
            <a:ext cx="10519822" cy="51648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01189F-D8A6-EBDE-34A2-EB3DA0130317}"/>
              </a:ext>
            </a:extLst>
          </p:cNvPr>
          <p:cNvSpPr/>
          <p:nvPr/>
        </p:nvSpPr>
        <p:spPr>
          <a:xfrm>
            <a:off x="8340034" y="2540587"/>
            <a:ext cx="1119027" cy="149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ED4B4-8293-BB45-E92A-2C603492A38E}"/>
              </a:ext>
            </a:extLst>
          </p:cNvPr>
          <p:cNvSpPr/>
          <p:nvPr/>
        </p:nvSpPr>
        <p:spPr>
          <a:xfrm>
            <a:off x="3125303" y="2540587"/>
            <a:ext cx="1119027" cy="149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D8666-6CF1-84C2-DFD1-67F271397353}"/>
              </a:ext>
            </a:extLst>
          </p:cNvPr>
          <p:cNvSpPr/>
          <p:nvPr/>
        </p:nvSpPr>
        <p:spPr>
          <a:xfrm>
            <a:off x="3125303" y="6107990"/>
            <a:ext cx="2611850" cy="166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F1977-B68E-0B23-95A9-33B47492725E}"/>
              </a:ext>
            </a:extLst>
          </p:cNvPr>
          <p:cNvSpPr/>
          <p:nvPr/>
        </p:nvSpPr>
        <p:spPr>
          <a:xfrm>
            <a:off x="8498299" y="6080994"/>
            <a:ext cx="2611850" cy="166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102524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885B-EE8E-E4CA-1ECA-D95DCF06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95E8-200D-CE76-E064-15A9A5E5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Sets and Maps in Java: Using Trees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DECD79-7716-BBA8-FA9C-60B9E3475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002"/>
          <a:stretch>
            <a:fillRect/>
          </a:stretch>
        </p:blipFill>
        <p:spPr>
          <a:xfrm>
            <a:off x="189874" y="1342885"/>
            <a:ext cx="11812251" cy="43290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C324F8-7FD1-6E25-B740-610E1B60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777" t="55645" r="2263" b="43348"/>
          <a:stretch>
            <a:fillRect/>
          </a:stretch>
        </p:blipFill>
        <p:spPr>
          <a:xfrm>
            <a:off x="6793946" y="2107096"/>
            <a:ext cx="4956313" cy="185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DED7A1-7E33-A070-F757-712F9D54C7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97" t="92185" r="4544" b="5844"/>
          <a:stretch>
            <a:fillRect/>
          </a:stretch>
        </p:blipFill>
        <p:spPr>
          <a:xfrm>
            <a:off x="9881705" y="5097670"/>
            <a:ext cx="1431234" cy="150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6275B-8595-C6E0-F8D4-AE085BACCB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97" t="92185" r="4544" b="5844"/>
          <a:stretch>
            <a:fillRect/>
          </a:stretch>
        </p:blipFill>
        <p:spPr>
          <a:xfrm>
            <a:off x="2888939" y="5097669"/>
            <a:ext cx="1749322" cy="183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E9E753-ED87-E3EF-E26F-AF59AE876F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7" t="55762" r="54131" b="43182"/>
          <a:stretch>
            <a:fillRect/>
          </a:stretch>
        </p:blipFill>
        <p:spPr>
          <a:xfrm>
            <a:off x="609600" y="2150164"/>
            <a:ext cx="5071166" cy="1424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DC30FE-1A2D-0AA4-6B38-F4B46ABAE6CB}"/>
              </a:ext>
            </a:extLst>
          </p:cNvPr>
          <p:cNvSpPr txBox="1"/>
          <p:nvPr/>
        </p:nvSpPr>
        <p:spPr>
          <a:xfrm>
            <a:off x="3984486" y="5671930"/>
            <a:ext cx="4223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 Red-Black Tree</a:t>
            </a:r>
          </a:p>
          <a:p>
            <a:pPr algn="ctr"/>
            <a:r>
              <a:rPr lang="en-US" dirty="0"/>
              <a:t> (Self-Balancing Binary Search Tree)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6FE29-79F7-3265-F8EF-935304651B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97" t="92185" r="4544" b="5844"/>
          <a:stretch>
            <a:fillRect/>
          </a:stretch>
        </p:blipFill>
        <p:spPr>
          <a:xfrm>
            <a:off x="842973" y="5105488"/>
            <a:ext cx="1356780" cy="142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B0C8E5-83A2-63CB-4E00-42D4F571F4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97" t="92185" r="4544" b="5844"/>
          <a:stretch>
            <a:fillRect/>
          </a:stretch>
        </p:blipFill>
        <p:spPr>
          <a:xfrm>
            <a:off x="6963413" y="5105488"/>
            <a:ext cx="1356780" cy="14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3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CEC9-2670-89F9-436D-357D7C37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Sets and Maps: Tree-based vs </a:t>
            </a:r>
            <a:r>
              <a:rPr lang="en-US" dirty="0" err="1">
                <a:solidFill>
                  <a:srgbClr val="C00000"/>
                </a:solidFill>
              </a:rPr>
              <a:t>HashTable</a:t>
            </a:r>
            <a:r>
              <a:rPr lang="en-US" dirty="0">
                <a:solidFill>
                  <a:srgbClr val="C00000"/>
                </a:solidFill>
              </a:rPr>
              <a:t> based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33DC1-F4A8-B615-8320-3A26E1CF4F2C}"/>
              </a:ext>
            </a:extLst>
          </p:cNvPr>
          <p:cNvSpPr txBox="1"/>
          <p:nvPr/>
        </p:nvSpPr>
        <p:spPr>
          <a:xfrm>
            <a:off x="3444949" y="1794925"/>
            <a:ext cx="606197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The Pattern: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 Hash = Fast</a:t>
            </a:r>
            <a:r>
              <a:rPr lang="en-US" sz="2400" dirty="0"/>
              <a:t> (O(1)) but </a:t>
            </a:r>
            <a:r>
              <a:rPr lang="en-US" sz="2400" b="1" dirty="0"/>
              <a:t>unordered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 Tree = Slower</a:t>
            </a:r>
            <a:r>
              <a:rPr lang="en-US" sz="2400" dirty="0"/>
              <a:t> (O(log n)) but </a:t>
            </a:r>
            <a:r>
              <a:rPr lang="en-US" sz="2400" b="1" dirty="0"/>
              <a:t>sorted</a:t>
            </a:r>
          </a:p>
          <a:p>
            <a:endParaRPr lang="en-US" sz="2400" dirty="0"/>
          </a:p>
          <a:p>
            <a:endParaRPr lang="en-US" sz="2400" dirty="0"/>
          </a:p>
          <a:p>
            <a:pPr algn="ctr">
              <a:buNone/>
            </a:pPr>
            <a:r>
              <a:rPr lang="en-US" sz="2400" dirty="0"/>
              <a:t>The tree structures maintain elements in sorted order </a:t>
            </a:r>
          </a:p>
          <a:p>
            <a:pPr algn="ctr">
              <a:buNone/>
            </a:pPr>
            <a:r>
              <a:rPr lang="en-US" sz="2400" dirty="0"/>
              <a:t>while hash structures provide faster access but no ordering guarantee!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DF517-DE64-92CC-7AFC-4336EEF7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2" t="56159" r="59693" b="9259"/>
          <a:stretch>
            <a:fillRect/>
          </a:stretch>
        </p:blipFill>
        <p:spPr>
          <a:xfrm>
            <a:off x="725008" y="1368159"/>
            <a:ext cx="2374383" cy="2088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9127CA-5C9A-2633-3844-A385E14AF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173" y="1226484"/>
            <a:ext cx="2561623" cy="2368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9B064C-A08A-FA9B-89DF-ADEB9402C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354" y="3827403"/>
            <a:ext cx="2585260" cy="2349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E259A6-339C-B613-965C-995D841056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566" t="56306" r="6985" b="9066"/>
          <a:stretch>
            <a:fillRect/>
          </a:stretch>
        </p:blipFill>
        <p:spPr>
          <a:xfrm>
            <a:off x="725008" y="4051323"/>
            <a:ext cx="2456413" cy="208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36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7445</TotalTime>
  <Words>1320</Words>
  <Application>Microsoft Office PowerPoint</Application>
  <PresentationFormat>Widescreen</PresentationFormat>
  <Paragraphs>410</Paragraphs>
  <Slides>38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Adobe Devanagari</vt:lpstr>
      <vt:lpstr>Aptos</vt:lpstr>
      <vt:lpstr>Aptos Display</vt:lpstr>
      <vt:lpstr>Arial</vt:lpstr>
      <vt:lpstr>Courier New</vt:lpstr>
      <vt:lpstr>system-ui</vt:lpstr>
      <vt:lpstr>Office Theme</vt:lpstr>
      <vt:lpstr>Iterator</vt:lpstr>
      <vt:lpstr>LinkedList Example -  Complexity</vt:lpstr>
      <vt:lpstr>Iterable VS Iterator</vt:lpstr>
      <vt:lpstr>Making A Custom Class Work with For-Each</vt:lpstr>
      <vt:lpstr>Making A Custom Class Work with For-Each</vt:lpstr>
      <vt:lpstr>Hash Tables</vt:lpstr>
      <vt:lpstr>            ADTs                         DataStructures</vt:lpstr>
      <vt:lpstr>What is a HashTable?</vt:lpstr>
      <vt:lpstr>Custom Hash Function For String</vt:lpstr>
      <vt:lpstr>Custom Hash Function For String:  Better Approach</vt:lpstr>
      <vt:lpstr>Hash Tables</vt:lpstr>
      <vt:lpstr>Add - in a HashTable</vt:lpstr>
      <vt:lpstr>Add - in a HashTable</vt:lpstr>
      <vt:lpstr>Lookup - in a HashTables</vt:lpstr>
      <vt:lpstr>Bad HashFunctions</vt:lpstr>
      <vt:lpstr>Bad HashFunctions</vt:lpstr>
      <vt:lpstr>Lookup in ArrayLists Vs HashTables (Search Space)</vt:lpstr>
      <vt:lpstr>Hash Tables</vt:lpstr>
      <vt:lpstr>Handling Collisions</vt:lpstr>
      <vt:lpstr>Handling Collisions</vt:lpstr>
      <vt:lpstr>Handling Collisions: Tradeoff</vt:lpstr>
      <vt:lpstr>Handling Collisions: Finding the Sweet Spot</vt:lpstr>
      <vt:lpstr>Handling Collisions: Finding the Sweet Spot </vt:lpstr>
      <vt:lpstr>Hash Tables</vt:lpstr>
      <vt:lpstr>Creating hashCode(), equals() For Custom Class</vt:lpstr>
      <vt:lpstr>Creating hashCode(), equals() For Custom Class</vt:lpstr>
      <vt:lpstr>Creating hashCode(), equals() For Custom Class</vt:lpstr>
      <vt:lpstr>Creating hasCode(), equals()</vt:lpstr>
      <vt:lpstr>HashCode() Recap</vt:lpstr>
      <vt:lpstr>Sets &amp; Maps</vt:lpstr>
      <vt:lpstr>            ADTs                                          DataStructures </vt:lpstr>
      <vt:lpstr>            ADTs                                          DataStructures </vt:lpstr>
      <vt:lpstr>Sets and Maps in Java</vt:lpstr>
      <vt:lpstr>Sets and Maps in Java: Using HashTable</vt:lpstr>
      <vt:lpstr>Sets &amp; Maps</vt:lpstr>
      <vt:lpstr>Sets and Maps in Java</vt:lpstr>
      <vt:lpstr>Sets and Maps in Java: Using Trees</vt:lpstr>
      <vt:lpstr>Sets and Maps: Tree-based vs HashTable based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41</cp:revision>
  <cp:lastPrinted>2025-11-04T08:33:02Z</cp:lastPrinted>
  <dcterms:created xsi:type="dcterms:W3CDTF">2025-10-07T09:21:13Z</dcterms:created>
  <dcterms:modified xsi:type="dcterms:W3CDTF">2025-11-05T07:11:55Z</dcterms:modified>
</cp:coreProperties>
</file>