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558" r:id="rId2"/>
    <p:sldId id="260" r:id="rId3"/>
    <p:sldId id="263" r:id="rId4"/>
    <p:sldId id="588" r:id="rId5"/>
    <p:sldId id="548" r:id="rId6"/>
    <p:sldId id="549" r:id="rId7"/>
    <p:sldId id="550" r:id="rId8"/>
    <p:sldId id="552" r:id="rId9"/>
    <p:sldId id="551" r:id="rId10"/>
    <p:sldId id="621" r:id="rId11"/>
    <p:sldId id="622" r:id="rId12"/>
    <p:sldId id="623" r:id="rId13"/>
    <p:sldId id="619" r:id="rId14"/>
    <p:sldId id="589" r:id="rId15"/>
    <p:sldId id="593" r:id="rId16"/>
    <p:sldId id="595" r:id="rId17"/>
    <p:sldId id="603" r:id="rId18"/>
    <p:sldId id="611" r:id="rId19"/>
    <p:sldId id="607" r:id="rId20"/>
    <p:sldId id="608" r:id="rId21"/>
    <p:sldId id="609" r:id="rId22"/>
    <p:sldId id="592" r:id="rId23"/>
    <p:sldId id="596" r:id="rId24"/>
    <p:sldId id="594" r:id="rId25"/>
    <p:sldId id="597" r:id="rId26"/>
    <p:sldId id="599" r:id="rId27"/>
    <p:sldId id="598" r:id="rId28"/>
    <p:sldId id="590" r:id="rId29"/>
    <p:sldId id="62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0000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2482" autoAdjust="0"/>
  </p:normalViewPr>
  <p:slideViewPr>
    <p:cSldViewPr snapToGrid="0">
      <p:cViewPr varScale="1">
        <p:scale>
          <a:sx n="62" d="100"/>
          <a:sy n="62" d="100"/>
        </p:scale>
        <p:origin x="836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87D91-DAF0-4763-853B-8C89576CC12A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8CA59-AC17-49C7-A2D1-D8F06A983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0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29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60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84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14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58CB-87C7-4F5F-1225-15405272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4DA6D-E836-D3F2-8DF2-D06C2AE34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210DD-01EE-1F6E-ABD6-48D09E79C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E0685-6459-8194-A699-1ABFC3242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35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558D-1D05-D1B3-CBCC-908E28F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52749-FC9A-5881-7CBF-B1EAB4F73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F25EB-EFB2-5E27-FD3E-D7E4F8C0A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86669-F556-CC6D-83B3-9CF403052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91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9167-AB25-5BFD-13E4-5338A66C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425E2-AE3F-0947-3A81-7A4C33F53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8EF27-BBDA-D701-F012-39CD1781B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9224B-2862-2562-D4EC-6C207EE80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95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DEC78-BBCD-D6BA-2849-34C9C075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06709-21EE-F5FF-5CF1-DB7AD064B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94EC7-F4ED-BCEA-3F46-15AB7849D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11F3B-7B70-3DD4-CEEF-16C0F62CC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58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99FC4-C007-98B0-FC73-13F75085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494F4-D866-A761-C2FA-B0ACD658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CC31D-3B42-1942-5497-0E3DD2474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D94AA-2167-06D8-283C-2FA5044EC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18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7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29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5F0C-AF81-05B6-AE6C-D087A585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A0988-D9E1-6E0D-9B4F-10321FBE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0F57C-FCDC-E24A-5C96-D1BC43D6B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D6A57-B7FE-0079-1520-82334ED6B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20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1C51-BB69-294E-EF2E-8B88856E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CF031-0B4F-4007-A777-56183331D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90E7F-775F-229C-BA45-EF9ECC4BB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77239-61D4-186F-5705-02C513254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314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9294-E234-AA13-4D59-D9D55D7D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A4848-EBBF-0C51-EBDB-D2C7C5297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2C595-E3A5-D4EE-A204-06E1DE332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10559-662F-255D-9665-F102E94DB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895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012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2EB8-655D-D57C-DA6B-68520229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BD92B-5617-5281-6B0D-CE38FEBE5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A1907-B5A5-15AD-ECF9-C046984DE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0500-6932-554E-6C7D-6D0172F68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042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6C835-226C-B9C6-3F62-A698676F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AE98B-DF94-E490-3C37-ED90432B2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DD38F-54EB-B1F6-5D2D-3B017020B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3C87E-CA97-04E0-6277-06BB35F99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535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1A0A4-4DB3-EEF1-1331-ADE9DEB3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35606-02AD-A25D-2C8F-35081FD76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C4FEA-A2D8-A2E7-B70C-A5BFFEAFA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45666-7CDC-F02C-F882-2D5F3C7AE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5771-6506-AE02-5955-3339C2D57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79FC8-F96D-28FD-06D7-905D625F5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33FDB-CCD8-11A2-B165-6FEFA1DE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575E-48B1-D9FF-0653-670BE131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3530-FF98-CC0A-A688-DED2F698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4595-F45B-185B-D8B6-BDF8FE78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8D33-F961-F684-614B-7CE901A7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70950-8B40-327E-6BEA-73601392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013BD-252B-F789-B2A6-082042AD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859DD-6139-AF6A-C97F-E2B1EFB4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0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A98F-3DFC-76B2-6CEA-3A831490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A662A-2148-7A3C-604C-00AA976B9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10784-5F12-5FCF-D51D-B2D5F64A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D838D-02FD-638E-3945-C2EC80F9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B1DF3-C60E-CBA5-E23E-1AC70C19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1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9340-B617-CC5D-7682-F3A73B32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D211-586B-E8CF-3D9B-F83734EAE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DE551-F838-11EF-4876-D365AEF2F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F6BFC-0020-6D68-0D4D-09E78E10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3A3D6-1A2A-0354-C91D-6696811B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20CF2-D0AB-A18F-3CC0-E0C1EA8A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8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8B01-715C-6681-669D-E4D88FF3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FE54A-F791-3A97-47A2-EC4EDBB6C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C6024-64BE-5661-954E-7EAB3A40E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32738-1A18-95F3-7BB9-CC190B4B8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AA5D3-8791-D5C8-AF0F-F6C1A586D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0EC8F-F029-602F-E1D0-F8FDA70C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38FEF-8247-A965-8286-806B94E6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99D24-7A73-61C1-7C21-7AE006A1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0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2F2B-4B6D-8DC0-B064-8C4F3650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219F5-FC76-45AD-4440-E1297CCF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39A41-79F6-F3E9-5AA8-E1DBAE4E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DE3F9-D69A-1FFB-D441-0FF4CA26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2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9D4CA-AF11-A881-1919-EE02F24D9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84056-98A4-62E2-12FA-0DDF9909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BB9D2-7FB3-C0F9-9F42-7ABAC8F1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8B5F-BCCD-C71C-4B1F-E0E3BA93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66F7-573F-20CD-B0D9-C4D19561B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C6FBC-CDE2-13CF-44FC-E14320BCF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A17FB-B552-B1E6-C274-C8F36D79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E04BC-6413-E8FF-7474-00357DD2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28B79-8114-2CD7-EFFD-CA51E643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617B-4E3F-2FBC-0D2C-CFEA2DD7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0BBC4-7498-D68A-BCD0-D1C9C48D8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5D728-E93F-779A-36FB-1D04B3867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200E8-533E-C204-8227-1F6B11A7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4001-492C-81AD-39A5-1CEACEDB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94893-A5B2-0EC8-2BAC-891894FA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A0C6-3D07-8603-3B4A-E31C209D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E485E-DA75-86A0-C93A-C078FEB2C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7476-1D84-9B3C-D40F-A87204BE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77E1A-E9A5-7399-B972-16358D6D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A5A32-C0FE-DBF2-8ADD-0B3860A7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1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66DE25-9315-462C-4445-E32985CD7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355BD-AFB7-2600-949F-B1ECB2701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EDD26-7CBE-6FFA-0A7C-D37027BA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B9A51-ED47-73D0-1D2F-61527CD3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47A65-4DBB-6707-54ED-B95538A7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4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5D44A-48DD-CBF6-FD31-166A7E52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F0D83-66E3-9821-8701-D852E91FC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B94F-D0EE-7989-F4FB-ED9CD6C13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A9E35-212F-49D4-A32F-B4AB0D76B5DC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41D39-52CE-7F00-C734-95F164893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CF8D9-A022-80E0-FAAC-0C132F3D0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5CF7-DB55-96EF-6C84-39CCA728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439E-D5C7-DDFB-2F91-AD4B8596D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Binary Search Tree</a:t>
            </a:r>
          </a:p>
        </p:txBody>
      </p:sp>
    </p:spTree>
    <p:extLst>
      <p:ext uri="{BB962C8B-B14F-4D97-AF65-F5344CB8AC3E}">
        <p14:creationId xmlns:p14="http://schemas.microsoft.com/office/powerpoint/2010/main" val="3785427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55E852-E8B1-0801-C3B3-2A9CBA64B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035" y="1929447"/>
            <a:ext cx="5936445" cy="36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20B7D-167F-8278-270A-52FFA7ED95B1}"/>
              </a:ext>
            </a:extLst>
          </p:cNvPr>
          <p:cNvCxnSpPr/>
          <p:nvPr/>
        </p:nvCxnSpPr>
        <p:spPr>
          <a:xfrm>
            <a:off x="2257832" y="2214494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3766811-7DA3-9265-0D17-E077B38A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Tree Terminology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F66400-3996-2D9F-6B3C-F703B0CB1F7A}"/>
              </a:ext>
            </a:extLst>
          </p:cNvPr>
          <p:cNvCxnSpPr/>
          <p:nvPr/>
        </p:nvCxnSpPr>
        <p:spPr>
          <a:xfrm>
            <a:off x="2257832" y="3242291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E05A1B-BB9D-79B7-EEA6-04611BE9379C}"/>
              </a:ext>
            </a:extLst>
          </p:cNvPr>
          <p:cNvCxnSpPr/>
          <p:nvPr/>
        </p:nvCxnSpPr>
        <p:spPr>
          <a:xfrm>
            <a:off x="2257832" y="4255204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7E7D9C-D3EF-25AA-0A15-144E606F5536}"/>
              </a:ext>
            </a:extLst>
          </p:cNvPr>
          <p:cNvCxnSpPr/>
          <p:nvPr/>
        </p:nvCxnSpPr>
        <p:spPr>
          <a:xfrm>
            <a:off x="2257832" y="5268117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10B3344-78A1-5C84-6F0C-9C382E83935F}"/>
              </a:ext>
            </a:extLst>
          </p:cNvPr>
          <p:cNvSpPr/>
          <p:nvPr/>
        </p:nvSpPr>
        <p:spPr>
          <a:xfrm>
            <a:off x="5057369" y="1975576"/>
            <a:ext cx="749721" cy="5206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7AA82-9113-4105-26B4-B42C4D15BC0A}"/>
              </a:ext>
            </a:extLst>
          </p:cNvPr>
          <p:cNvSpPr txBox="1"/>
          <p:nvPr/>
        </p:nvSpPr>
        <p:spPr>
          <a:xfrm>
            <a:off x="5606299" y="1269678"/>
            <a:ext cx="820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root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83E8A-C269-BFDF-5622-85F73F4661C9}"/>
              </a:ext>
            </a:extLst>
          </p:cNvPr>
          <p:cNvCxnSpPr>
            <a:stCxn id="12" idx="2"/>
          </p:cNvCxnSpPr>
          <p:nvPr/>
        </p:nvCxnSpPr>
        <p:spPr>
          <a:xfrm flipH="1">
            <a:off x="5607742" y="1639010"/>
            <a:ext cx="408809" cy="336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3EC9C7-D750-A43C-B0BF-55532F858C36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047587" y="1851440"/>
            <a:ext cx="49837" cy="115177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05D9E6-194A-5015-744B-5A2CD82F7391}"/>
              </a:ext>
            </a:extLst>
          </p:cNvPr>
          <p:cNvSpPr txBox="1"/>
          <p:nvPr/>
        </p:nvSpPr>
        <p:spPr>
          <a:xfrm>
            <a:off x="7557884" y="1482108"/>
            <a:ext cx="107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child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BD1E6E-7EAE-C7A6-E7CA-605D6E4BDD42}"/>
              </a:ext>
            </a:extLst>
          </p:cNvPr>
          <p:cNvCxnSpPr>
            <a:cxnSpLocks/>
          </p:cNvCxnSpPr>
          <p:nvPr/>
        </p:nvCxnSpPr>
        <p:spPr>
          <a:xfrm flipV="1">
            <a:off x="5922256" y="5548644"/>
            <a:ext cx="126002" cy="56569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5C79179-BFE1-71CE-0A8F-B311FCF73707}"/>
              </a:ext>
            </a:extLst>
          </p:cNvPr>
          <p:cNvSpPr txBox="1"/>
          <p:nvPr/>
        </p:nvSpPr>
        <p:spPr>
          <a:xfrm>
            <a:off x="4940360" y="6154017"/>
            <a:ext cx="19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Leaf</a:t>
            </a: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251890C3-BFDD-3A6E-1F4B-32D009B7C83F}"/>
              </a:ext>
            </a:extLst>
          </p:cNvPr>
          <p:cNvCxnSpPr>
            <a:cxnSpLocks/>
            <a:stCxn id="1025" idx="2"/>
          </p:cNvCxnSpPr>
          <p:nvPr/>
        </p:nvCxnSpPr>
        <p:spPr>
          <a:xfrm flipH="1">
            <a:off x="6623983" y="1352426"/>
            <a:ext cx="799560" cy="137343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51A5089B-5535-D923-AEDC-0DB8AEF99BB5}"/>
              </a:ext>
            </a:extLst>
          </p:cNvPr>
          <p:cNvSpPr txBox="1"/>
          <p:nvPr/>
        </p:nvSpPr>
        <p:spPr>
          <a:xfrm>
            <a:off x="6426803" y="983094"/>
            <a:ext cx="19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edge</a:t>
            </a:r>
          </a:p>
        </p:txBody>
      </p:sp>
      <p:sp>
        <p:nvSpPr>
          <p:cNvPr id="1035" name="Isosceles Triangle 1034">
            <a:extLst>
              <a:ext uri="{FF2B5EF4-FFF2-40B4-BE49-F238E27FC236}">
                <a16:creationId xmlns:a16="http://schemas.microsoft.com/office/drawing/2014/main" id="{D1F68B7C-41CD-72E0-62E7-3CEBB1A825E9}"/>
              </a:ext>
            </a:extLst>
          </p:cNvPr>
          <p:cNvSpPr/>
          <p:nvPr/>
        </p:nvSpPr>
        <p:spPr>
          <a:xfrm>
            <a:off x="2693726" y="2595241"/>
            <a:ext cx="2938214" cy="2065756"/>
          </a:xfrm>
          <a:prstGeom prst="triangl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C1F01755-2856-AEC3-1B20-B9296923A66D}"/>
              </a:ext>
            </a:extLst>
          </p:cNvPr>
          <p:cNvSpPr txBox="1"/>
          <p:nvPr/>
        </p:nvSpPr>
        <p:spPr>
          <a:xfrm rot="18300317">
            <a:off x="2552519" y="3264216"/>
            <a:ext cx="1633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subtree</a:t>
            </a:r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2BA96CED-B31C-94A5-72B8-CEE38B625DEC}"/>
              </a:ext>
            </a:extLst>
          </p:cNvPr>
          <p:cNvSpPr/>
          <p:nvPr/>
        </p:nvSpPr>
        <p:spPr>
          <a:xfrm>
            <a:off x="5039727" y="1969075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22BB6286-C6C7-61A1-3EB6-C858F60BDD7F}"/>
              </a:ext>
            </a:extLst>
          </p:cNvPr>
          <p:cNvSpPr/>
          <p:nvPr/>
        </p:nvSpPr>
        <p:spPr>
          <a:xfrm>
            <a:off x="7557884" y="2981627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1E356A3E-6900-2BC1-4E9D-34C6BA34CFA4}"/>
              </a:ext>
            </a:extLst>
          </p:cNvPr>
          <p:cNvSpPr/>
          <p:nvPr/>
        </p:nvSpPr>
        <p:spPr>
          <a:xfrm>
            <a:off x="8189151" y="3988039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8B2A7F76-4836-481C-71DF-85C1F90813DC}"/>
              </a:ext>
            </a:extLst>
          </p:cNvPr>
          <p:cNvSpPr txBox="1"/>
          <p:nvPr/>
        </p:nvSpPr>
        <p:spPr>
          <a:xfrm>
            <a:off x="9889097" y="2044712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0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D019FFA-E85D-79B9-88A4-F7E968C55F0E}"/>
              </a:ext>
            </a:extLst>
          </p:cNvPr>
          <p:cNvSpPr txBox="1"/>
          <p:nvPr/>
        </p:nvSpPr>
        <p:spPr>
          <a:xfrm>
            <a:off x="9889097" y="3057264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1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737C9969-6F84-8C6C-A511-71234123CE8B}"/>
              </a:ext>
            </a:extLst>
          </p:cNvPr>
          <p:cNvSpPr txBox="1"/>
          <p:nvPr/>
        </p:nvSpPr>
        <p:spPr>
          <a:xfrm>
            <a:off x="9963060" y="4088244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2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313D3E32-5A11-85BF-1B9D-7ED6F14CDA53}"/>
              </a:ext>
            </a:extLst>
          </p:cNvPr>
          <p:cNvSpPr txBox="1"/>
          <p:nvPr/>
        </p:nvSpPr>
        <p:spPr>
          <a:xfrm>
            <a:off x="9963060" y="5047420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3</a:t>
            </a:r>
          </a:p>
        </p:txBody>
      </p:sp>
      <p:sp>
        <p:nvSpPr>
          <p:cNvPr id="1044" name="Arrow: Up-Down 1043">
            <a:extLst>
              <a:ext uri="{FF2B5EF4-FFF2-40B4-BE49-F238E27FC236}">
                <a16:creationId xmlns:a16="http://schemas.microsoft.com/office/drawing/2014/main" id="{E68DFD99-6B34-B581-2392-AF9B0D1EB6E6}"/>
              </a:ext>
            </a:extLst>
          </p:cNvPr>
          <p:cNvSpPr/>
          <p:nvPr/>
        </p:nvSpPr>
        <p:spPr>
          <a:xfrm>
            <a:off x="1161022" y="1975576"/>
            <a:ext cx="988470" cy="3543300"/>
          </a:xfrm>
          <a:prstGeom prst="up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666CE5D2-6BF6-235F-46AA-DBEC47887003}"/>
              </a:ext>
            </a:extLst>
          </p:cNvPr>
          <p:cNvSpPr txBox="1"/>
          <p:nvPr/>
        </p:nvSpPr>
        <p:spPr>
          <a:xfrm rot="16200000">
            <a:off x="92770" y="3477976"/>
            <a:ext cx="3046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Height of the Tree</a:t>
            </a:r>
          </a:p>
        </p:txBody>
      </p:sp>
    </p:spTree>
    <p:extLst>
      <p:ext uri="{BB962C8B-B14F-4D97-AF65-F5344CB8AC3E}">
        <p14:creationId xmlns:p14="http://schemas.microsoft.com/office/powerpoint/2010/main" val="131391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2E8C-057F-2972-DADE-B8070E26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Binary Search Tree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20E022-DDBD-60EF-AEA8-4A9DCE353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77" y="1968781"/>
            <a:ext cx="5308122" cy="327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6B619-A43F-DAC5-ACEC-339B313A7B2A}"/>
              </a:ext>
            </a:extLst>
          </p:cNvPr>
          <p:cNvSpPr txBox="1"/>
          <p:nvPr/>
        </p:nvSpPr>
        <p:spPr>
          <a:xfrm>
            <a:off x="6439516" y="2454577"/>
            <a:ext cx="45636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A node can have at most 2 children: left and right.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left subtree of a node always contains values less than the node.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right subtree of a node always contains values greater than the node.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D39D1-8B38-2791-9AB9-D32C9709E9CC}"/>
              </a:ext>
            </a:extLst>
          </p:cNvPr>
          <p:cNvSpPr txBox="1"/>
          <p:nvPr/>
        </p:nvSpPr>
        <p:spPr>
          <a:xfrm>
            <a:off x="6348510" y="1841800"/>
            <a:ext cx="300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C00000"/>
                </a:solidFill>
              </a:rPr>
              <a:t>For Every Node: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370FB5-0C7B-A13F-DF53-82654A476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99" y="5518488"/>
            <a:ext cx="6058211" cy="106685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9C0B5CB-60E8-5C7B-2841-336A3E959966}"/>
              </a:ext>
            </a:extLst>
          </p:cNvPr>
          <p:cNvSpPr/>
          <p:nvPr/>
        </p:nvSpPr>
        <p:spPr>
          <a:xfrm>
            <a:off x="572655" y="3756270"/>
            <a:ext cx="877454" cy="640240"/>
          </a:xfrm>
          <a:prstGeom prst="ellipse">
            <a:avLst/>
          </a:prstGeom>
          <a:solidFill>
            <a:srgbClr val="A6CAEC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FBBC8A-E9F9-C23C-1E3E-625AF0568EDE}"/>
              </a:ext>
            </a:extLst>
          </p:cNvPr>
          <p:cNvSpPr/>
          <p:nvPr/>
        </p:nvSpPr>
        <p:spPr>
          <a:xfrm>
            <a:off x="5110767" y="3756270"/>
            <a:ext cx="877454" cy="640240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4F71F-0018-188C-693B-7A5F30140641}"/>
              </a:ext>
            </a:extLst>
          </p:cNvPr>
          <p:cNvSpPr txBox="1"/>
          <p:nvPr/>
        </p:nvSpPr>
        <p:spPr>
          <a:xfrm>
            <a:off x="50800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Smallest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E83F26-4E84-8D97-209F-D2D140BE32A6}"/>
              </a:ext>
            </a:extLst>
          </p:cNvPr>
          <p:cNvSpPr txBox="1"/>
          <p:nvPr/>
        </p:nvSpPr>
        <p:spPr>
          <a:xfrm>
            <a:off x="510343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Largest</a:t>
            </a:r>
          </a:p>
        </p:txBody>
      </p:sp>
    </p:spTree>
    <p:extLst>
      <p:ext uri="{BB962C8B-B14F-4D97-AF65-F5344CB8AC3E}">
        <p14:creationId xmlns:p14="http://schemas.microsoft.com/office/powerpoint/2010/main" val="424862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F2BE5-4713-24F4-ED18-BF958D74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54A4-6A79-2063-59EF-01F2D86794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Removal</a:t>
            </a:r>
          </a:p>
        </p:txBody>
      </p:sp>
    </p:spTree>
    <p:extLst>
      <p:ext uri="{BB962C8B-B14F-4D97-AF65-F5344CB8AC3E}">
        <p14:creationId xmlns:p14="http://schemas.microsoft.com/office/powerpoint/2010/main" val="282699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A893-F9C1-B2A5-2B02-AF9246DA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AEC7-3221-189A-DF29-DFE84B5A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7D41113-2E4E-6C26-5405-8CC134A65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1: A Leaf Node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D230A7-3B44-1630-C972-50CF3B6A9DB6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2FFC78-CA35-670A-4932-54C5EAA41DB2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6656737-DBE6-A909-ECA7-D31A14A66409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34478BF-B259-0BDC-99C4-6F957E50BF54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649ED7F1-AB11-C7BB-E7F9-3ED50E00A15D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DD8783-3181-F0E4-9AB4-02B5B6FB5AE1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95FCD2-3794-187C-C746-257E74B500C9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B9D4D6C-2AA3-CF83-B48A-B53EAC0C524C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DD22B40-F266-4707-2CA6-2BE40ADAD028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13F625B-B5F1-6AF4-5ED9-E287807FCDDE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A2AA544-9F19-D0F7-85B7-E15D393FC0B8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29AEAD6D-7E1F-86AB-F991-11B6AF39C840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6AF5B5D-9892-F0AF-C460-8195916F167B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A278D43-81EC-A173-7B7C-EF8D08958F33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41B0654-6E8F-3729-AD3B-E2F6737F8A11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5DD44C-7F8A-F259-8BC2-B618BE03ACE4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19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40222F-E887-946C-7A70-E0F7C6466169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3D6B0AF-9775-73DB-CC8A-8BFFF03F737E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DC78B2-7338-332A-FB6C-2AF153EDE002}"/>
              </a:ext>
            </a:extLst>
          </p:cNvPr>
          <p:cNvCxnSpPr>
            <a:endCxn id="9" idx="1"/>
          </p:cNvCxnSpPr>
          <p:nvPr/>
        </p:nvCxnSpPr>
        <p:spPr bwMode="auto">
          <a:xfrm rot="16200000" flipH="1">
            <a:off x="6923137" y="493141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37A4CDF-50D1-8333-7DE4-5ABB4562225A}"/>
              </a:ext>
            </a:extLst>
          </p:cNvPr>
          <p:cNvSpPr/>
          <p:nvPr/>
        </p:nvSpPr>
        <p:spPr bwMode="auto">
          <a:xfrm>
            <a:off x="7183399" y="519167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BE0D6C-F695-C80D-DD55-D91E42C8C9D1}"/>
              </a:ext>
            </a:extLst>
          </p:cNvPr>
          <p:cNvCxnSpPr>
            <a:cxnSpLocks/>
            <a:endCxn id="50" idx="7"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7C4A88-DAD5-7367-D311-4303448FEA0C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737D62-494E-93D4-0C16-AA514CE41A9E}"/>
              </a:ext>
            </a:extLst>
          </p:cNvPr>
          <p:cNvCxnSpPr>
            <a:cxnSpLocks/>
            <a:endCxn id="53" idx="7"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AE6758-05F6-3F41-882A-6F708B935FDF}"/>
              </a:ext>
            </a:extLst>
          </p:cNvPr>
          <p:cNvCxnSpPr>
            <a:cxnSpLocks/>
            <a:endCxn id="57" idx="7"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3AAF34-B3AF-EE6A-F0DC-5A3DBE77F3D7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0EA14A-21D8-6D3E-0A5D-1657AAF62880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E0E9B0-3960-B4D4-7FFE-FC3657414282}"/>
              </a:ext>
            </a:extLst>
          </p:cNvPr>
          <p:cNvCxnSpPr>
            <a:cxnSpLocks/>
            <a:stCxn id="50" idx="5"/>
            <a:endCxn id="51" idx="1"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3CFE89-BC7E-529C-85B8-EDA7F264A9F1}"/>
              </a:ext>
            </a:extLst>
          </p:cNvPr>
          <p:cNvCxnSpPr>
            <a:cxnSpLocks/>
            <a:stCxn id="45" idx="5"/>
            <a:endCxn id="9" idx="1"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5B07EDF-3D69-7B39-BBAB-0AAA61975922}"/>
              </a:ext>
            </a:extLst>
          </p:cNvPr>
          <p:cNvCxnSpPr>
            <a:cxnSpLocks/>
            <a:stCxn id="45" idx="3"/>
            <a:endCxn id="46" idx="7"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73CA13E-DC58-4141-F93F-2604656696E9}"/>
              </a:ext>
            </a:extLst>
          </p:cNvPr>
          <p:cNvSpPr/>
          <p:nvPr/>
        </p:nvSpPr>
        <p:spPr>
          <a:xfrm>
            <a:off x="6143275" y="4900020"/>
            <a:ext cx="563375" cy="949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8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4625-E1AA-420D-7173-82150EAC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D36F-7459-49EA-9483-F6A232C1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4A61B616-9FD4-B862-0370-94A3C1532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85C8A7-CACA-94DC-FAE2-D4AE46BEFF89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21D7BF-14BF-42FF-A049-FD48CFE2DDCC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D7E3F4-845F-4587-DC93-D8E610FF3B48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C6E3297-96DF-31C8-837E-0BABB0E096E7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5F737E45-FA07-7812-7AFD-A4D7B52148CE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FA7AD3-3B7D-2CA1-8920-42C7B57C531F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0B29570-BFF8-E88C-926F-FF4DCE776961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2566149-931A-9B16-4AA1-1B32CBAD0B23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9DC567-4876-10E7-75A9-A73B896F7D92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855B820-5EB7-5DF3-BB8B-062BAE06CEDE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2B81AE6-BE69-27D6-32EE-AEC81D0D4335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B66725C-53E3-3B37-5C5C-3706B062E798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C97C0A9-34A6-BF20-9637-45C7FB46FE07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8D44E98-D203-BB95-9178-C0AFB1A97A39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3453004-9533-CE35-48FC-EBA7CDB60879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2EBFD0-0123-DA8A-B600-C5A1A4039228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EC25158-923F-7D9A-B01D-F1B9FF3A61F5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60CDBEF-3862-F20A-5AE3-DFA5DCCFD487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D42436-D915-89FB-0007-7EF48B923814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6923137" y="4934288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DF6C8839-0257-C613-4A8B-AA8ED7C0576C}"/>
              </a:ext>
            </a:extLst>
          </p:cNvPr>
          <p:cNvSpPr/>
          <p:nvPr/>
        </p:nvSpPr>
        <p:spPr bwMode="auto">
          <a:xfrm>
            <a:off x="7183399" y="519455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E53CCF-E3B9-7911-C685-4ED4ABF9A653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6BB4ED-9D82-CFCE-3A6D-1B3ED9DEE114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F7D593-21F1-17A7-DBB4-0DD6F105010F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0C63FF-5D4D-C478-8AC9-DD996A418DCD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B00D5D-C19D-35DF-C4CD-433323576389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CA672E-4435-12EB-6CE3-BE8845AA014E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FF8668-41B2-4CDE-E61C-B7EBDAD2E5DC}"/>
              </a:ext>
            </a:extLst>
          </p:cNvPr>
          <p:cNvCxnSpPr>
            <a:cxnSpLocks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1B92B2-A664-4D5D-6793-28785D7DBC21}"/>
              </a:ext>
            </a:extLst>
          </p:cNvPr>
          <p:cNvCxnSpPr>
            <a:cxnSpLocks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8BDCDA-60ED-3B9E-0B2B-039B95DA20FA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ADC436-9560-F3F4-40BB-AE08BD3AB365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09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E10E-2974-3BF7-FBEA-6AE56B1F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E6C6-4A32-520E-FA5F-0F0233B6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ADB053C-3912-4059-37C7-1C407C80E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2CC026-B575-5376-E835-2B2DF38F9748}"/>
              </a:ext>
            </a:extLst>
          </p:cNvPr>
          <p:cNvCxnSpPr>
            <a:cxnSpLocks/>
            <a:stCxn id="42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0A3A00-E030-871B-8371-2D5D1B1D77C3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26EAC0-5CC0-8D56-4C2C-443106F533FE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AF52840-56B9-9B57-2578-33129B7CDF1C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06FBBC-CC98-1981-97BE-FCAE2981857F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AE81FED-67B5-CFB9-686F-D6B415905C84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6DF9D51-66BE-21CA-A9BC-BA94A28926A2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9462EAE-915B-8BD3-F1F1-6AA9CB0F376A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33C4B0B-1F33-8638-2DB7-75286B8B9A21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551C5FC-F8EB-F885-C739-DEBB96671CDD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0D2CA37-3F52-906C-4142-E9C7B4F0EFF8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DFF37E2-7C73-3C51-E627-2DCAE4C8A150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4649555-8D92-EF8A-C549-BB00066DBFD2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90F31B-60D2-AE90-8C91-D487C77A0F4E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D97FB72-B1DA-F60F-21E5-1A661BDB22B8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DE12787A-E50F-E55E-44CD-63EE88343B2B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00F1E1-B79D-DC7F-EBFE-11C9A30429E4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17FF1E2-0033-2910-F5E2-36DD8F9051DC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BA1A1-A83F-789A-B761-418A975379D9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0D273E-C492-8355-9C7F-7179BF7AE794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E70A18-262B-D351-CEDF-EA89CAEDECF2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00DE45-CC14-66BE-A392-12CC82AE27AE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F7EF03-03F1-9218-581F-6DEEC2E05C3A}"/>
              </a:ext>
            </a:extLst>
          </p:cNvPr>
          <p:cNvCxnSpPr>
            <a:cxnSpLocks/>
            <a:stCxn id="45" idx="3"/>
            <a:endCxn id="46" idx="7"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43B69D-2860-C0A0-7602-7AF940DD0593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3B9AA8-8B8C-37E0-2D4D-ECC071EE27BD}"/>
              </a:ext>
            </a:extLst>
          </p:cNvPr>
          <p:cNvCxnSpPr>
            <a:cxnSpLocks/>
            <a:stCxn id="45" idx="5"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FB2EAB-1E09-0CE5-3CDF-3BBA2D6E01A1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AAFB08-1E32-8742-294B-9C520320E6C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70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378C-5E04-2BD9-C9DA-F412C336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D289-BB8A-1400-4E00-6399BEBA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DE9DB21-FCEB-A632-396B-02014977D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440D2F-C97F-DC96-2A72-EF00B2581E08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2CBC40-92C4-CAE7-015D-6A298BE5F9F3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10CED8-6367-5425-CA90-1E677FB4D59C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ED9239-B456-CFC0-90BD-F2D9F7200E05}"/>
              </a:ext>
            </a:extLst>
          </p:cNvPr>
          <p:cNvCxnSpPr>
            <a:stCxn id="16" idx="3"/>
            <a:endCxn id="17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A27382A-19AA-19D7-B861-760B1B053EA4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D514D1-C48E-4B2B-AEC9-EAF2637931BD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D8F0D20-5C81-9BE9-D85D-6C3843D827F9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B128FA-216A-99FA-C98C-4251DF20E7A8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A9A56F-2DCD-BC9B-080E-6B42ED0B29CB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1D5147-6AF2-D247-6C94-EBE64F2C78FC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E1AA812-B985-D5D2-693E-15163BE16EEE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514919-2C8D-C1C6-F941-52E01C768FDC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85D2E3A-A272-90C7-47BF-C45D52969C24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E1F3243-3AF8-A702-392D-ED14108C26F3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8B47A8-5DE7-1F25-0FB7-F8A65DB7CDE6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6FE40BD-9F10-566E-66AE-F946B511FEEF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0CF716-808A-E206-E4CB-711F3C90018D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532AF56-634D-66D0-E20F-4E8056534F54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E6D5C4-CA19-C2B0-C63C-BCEE58511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356"/>
          <a:stretch>
            <a:fillRect/>
          </a:stretch>
        </p:blipFill>
        <p:spPr>
          <a:xfrm>
            <a:off x="3165933" y="5804149"/>
            <a:ext cx="6058211" cy="849685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68CDC2DE-BD90-CA93-8B79-8CF6D01ADC10}"/>
              </a:ext>
            </a:extLst>
          </p:cNvPr>
          <p:cNvSpPr/>
          <p:nvPr/>
        </p:nvSpPr>
        <p:spPr>
          <a:xfrm>
            <a:off x="6092047" y="3527490"/>
            <a:ext cx="2747074" cy="1627238"/>
          </a:xfrm>
          <a:prstGeom prst="triangle">
            <a:avLst>
              <a:gd name="adj" fmla="val 4795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B47E8D-CC29-F658-997B-C2AB489AEE37}"/>
              </a:ext>
            </a:extLst>
          </p:cNvPr>
          <p:cNvSpPr/>
          <p:nvPr/>
        </p:nvSpPr>
        <p:spPr>
          <a:xfrm>
            <a:off x="5801635" y="3323813"/>
            <a:ext cx="504176" cy="461372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17D7C1-EBFA-B1DA-F697-988750E95256}"/>
              </a:ext>
            </a:extLst>
          </p:cNvPr>
          <p:cNvSpPr/>
          <p:nvPr/>
        </p:nvSpPr>
        <p:spPr>
          <a:xfrm>
            <a:off x="7064236" y="3891024"/>
            <a:ext cx="541910" cy="46229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EFBC3E9-CA50-70B5-1F04-2649090C5A89}"/>
              </a:ext>
            </a:extLst>
          </p:cNvPr>
          <p:cNvSpPr/>
          <p:nvPr/>
        </p:nvSpPr>
        <p:spPr>
          <a:xfrm>
            <a:off x="6655352" y="4524595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1902D7-8B3B-760A-5CB7-7999C34D3EC7}"/>
              </a:ext>
            </a:extLst>
          </p:cNvPr>
          <p:cNvSpPr txBox="1"/>
          <p:nvPr/>
        </p:nvSpPr>
        <p:spPr>
          <a:xfrm>
            <a:off x="8983677" y="1499192"/>
            <a:ext cx="3041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The node to promote:</a:t>
            </a:r>
          </a:p>
          <a:p>
            <a:endParaRPr lang="en-US" dirty="0"/>
          </a:p>
          <a:p>
            <a:r>
              <a:rPr lang="en-US" dirty="0"/>
              <a:t>Is it in the left or right subtree?</a:t>
            </a:r>
          </a:p>
          <a:p>
            <a:endParaRPr lang="en-US" dirty="0"/>
          </a:p>
          <a:p>
            <a:r>
              <a:rPr lang="en-US" dirty="0"/>
              <a:t>Is it the smallest value or the largest value in the right subtree?</a:t>
            </a:r>
          </a:p>
          <a:p>
            <a:endParaRPr lang="en-US" dirty="0"/>
          </a:p>
          <a:p>
            <a:r>
              <a:rPr lang="en-US" dirty="0"/>
              <a:t>Where is the smallest value located in the right subtree?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CA0FC-8E0D-C6D9-7575-428994676580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13DFD0-F0C7-C4F7-CB76-63C5EBFF874A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D053AA-D6E0-711A-2DDE-AE58CCE51258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C462FE-B6A1-AD6D-0A35-534F214BD58B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0C3636-7A89-4E48-5D03-71DB0FD6C9AA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0D997-3497-0E43-CE0C-4623498F7362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65B1E3-1E84-5F2B-B375-459346BA9F9C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DB4792A-D11D-E326-D29B-EBEDD2255F8E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AE7B7E3-6990-C7F5-F606-899203355D72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4EAD73-C6B8-EA16-CEEA-F6D27E3EAE3B}"/>
              </a:ext>
            </a:extLst>
          </p:cNvPr>
          <p:cNvSpPr txBox="1"/>
          <p:nvPr/>
        </p:nvSpPr>
        <p:spPr>
          <a:xfrm>
            <a:off x="6365467" y="5174618"/>
            <a:ext cx="2326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19 is leaf node </a:t>
            </a:r>
          </a:p>
          <a:p>
            <a:pPr algn="ctr"/>
            <a:r>
              <a:rPr lang="en-US" dirty="0"/>
              <a:t>(</a:t>
            </a:r>
            <a:r>
              <a:rPr lang="en-US" b="1" dirty="0"/>
              <a:t>Case 1</a:t>
            </a:r>
            <a:r>
              <a:rPr lang="en-US" dirty="0"/>
              <a:t>).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E00CC4-6514-E1D9-99F8-A1E3135999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53"/>
          <a:stretch>
            <a:fillRect/>
          </a:stretch>
        </p:blipFill>
        <p:spPr>
          <a:xfrm>
            <a:off x="609536" y="2665930"/>
            <a:ext cx="2819545" cy="1238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ABA448E-2172-EA05-729E-B6917C436B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3949"/>
          <a:stretch>
            <a:fillRect/>
          </a:stretch>
        </p:blipFill>
        <p:spPr>
          <a:xfrm>
            <a:off x="647853" y="4327304"/>
            <a:ext cx="2819545" cy="6610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4581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4" grpId="0" animBg="1"/>
      <p:bldP spid="35" grpId="0" animBg="1"/>
      <p:bldP spid="36" grpId="0" animBg="1"/>
      <p:bldP spid="37" grpId="0" animBg="1"/>
      <p:bldP spid="38" grpId="0" build="allAtOnce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5C26A-8C0E-59F4-62F1-4040302E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AA42-CD84-22F1-16B9-923E11AF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DECBEE0-B345-AFC4-ECA5-EFFFB551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4B52DD-11AA-70BE-41B2-AB378BEC9C46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FCE39E-2156-7514-3875-33FB4BC74773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0CBDEC-5F84-E620-521B-DC69E663788A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381CC12-1BB1-752D-7ED4-06447A4D5AD6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6879DC-92BF-A5D0-AEF0-83FBF67CD5D5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E556F8-41FC-3AB0-F0A1-67809063E459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BDD203-179A-C3BF-B826-D9A902BE7DE1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CF5C64-0554-0A2A-8426-062D36C125D6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42399C5-20C7-0CA2-99F0-F20DF34402FC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4F76EA-2D67-03FC-4B77-1491DFAF90B0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03F16FD-C88A-EE36-0105-AEE2EB42CF07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047E143-625E-53F2-59E7-D1909777D5DC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7AF302-03F7-CE6A-960F-31004C14068B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FC80349-FB5C-3BCD-F323-E8B03416E1FE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F1087B-3FD1-2249-0DE8-55A2CACFDC2F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EB2D026-F374-44FD-581D-AE7E4F831FC0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F0E76B-4309-218C-1C18-CD80D8AB59CD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2E6539-3484-A6FF-1438-C1F7BD35193F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5D014F-DFA3-37B5-ABB2-20F6E3B9A1A1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5767BA-55F5-1D67-729A-228D3B92E44E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8BF43-794F-A8AA-4D88-612604B91CC2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8C3331-4C31-EB10-E7E8-DDFB97A30964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3D16FC-C7FD-663A-4DAE-88D53338E8E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CA6EA4-226E-D1E7-3433-ABCA58EB2DFE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A6CFF91-4505-9DE8-B2AA-A507B3D9A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53"/>
          <a:stretch>
            <a:fillRect/>
          </a:stretch>
        </p:blipFill>
        <p:spPr>
          <a:xfrm>
            <a:off x="609536" y="2665930"/>
            <a:ext cx="2819545" cy="1238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93229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C0B4-C62C-B96B-394B-27FD03D8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452A9-9D4D-F7FD-C3D4-36873BC5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29D165D-D2F7-8FA7-E0F5-B39CB7D86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FFE843-6AF5-5A6C-77DF-CA8E2B2309FE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42BBC5-F5C0-2DA5-9250-F3C62429BB67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114F73-5085-8300-ACA6-6C349136F973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C7996A-1F5E-FA4F-26E0-8D963130617F}"/>
              </a:ext>
            </a:extLst>
          </p:cNvPr>
          <p:cNvCxnSpPr>
            <a:stCxn id="16" idx="3"/>
            <a:endCxn id="17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19E7B5E-ABDA-362B-4F5F-368EBA1B8D4B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74B8ED-F9C6-A4BD-68B8-48763E1E8E12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734CBCF-5150-C6E7-AF0D-DC46E2FAD16F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F7686D-DB8E-ABAD-55A2-10BAD432954A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5046366-BB08-CBF7-52B7-63ADAD7F170E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DCBB3C-4DA6-7F00-5AF5-147D4E32C8DB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8008C558-642A-5EA8-1729-A86C62F079CE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9E31DD-D628-65D0-56BF-5E0D58724A3E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20CF8F-366E-2F67-8F52-0EC6BD0197D5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D392E55-558B-7AC1-F010-B5B5D1BC39E4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36F38E-6F31-3F84-E9C1-91B8487001D8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A08FFB7-AF04-9585-2ABA-FF962C09483A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18938C7-C62D-7DF1-8E71-0210FF1371CB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A386C95F-98D9-85E9-4778-4462CFCE533E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58F1FE7A-1431-6C9D-C7BB-AD701F8FE407}"/>
              </a:ext>
            </a:extLst>
          </p:cNvPr>
          <p:cNvSpPr/>
          <p:nvPr/>
        </p:nvSpPr>
        <p:spPr>
          <a:xfrm>
            <a:off x="5985781" y="3486656"/>
            <a:ext cx="2898941" cy="2741796"/>
          </a:xfrm>
          <a:prstGeom prst="triangle">
            <a:avLst>
              <a:gd name="adj" fmla="val 4795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39F116-80BA-BEB5-E897-75837CC03940}"/>
              </a:ext>
            </a:extLst>
          </p:cNvPr>
          <p:cNvSpPr/>
          <p:nvPr/>
        </p:nvSpPr>
        <p:spPr>
          <a:xfrm>
            <a:off x="5801635" y="3323813"/>
            <a:ext cx="504176" cy="461372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373EF1A-10FE-CCC6-9ED1-923430014B36}"/>
              </a:ext>
            </a:extLst>
          </p:cNvPr>
          <p:cNvSpPr/>
          <p:nvPr/>
        </p:nvSpPr>
        <p:spPr>
          <a:xfrm>
            <a:off x="7064236" y="3891024"/>
            <a:ext cx="541910" cy="46229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8F3B7F9-9F3C-E8E2-0F92-8C0B2EB796DC}"/>
              </a:ext>
            </a:extLst>
          </p:cNvPr>
          <p:cNvSpPr/>
          <p:nvPr/>
        </p:nvSpPr>
        <p:spPr>
          <a:xfrm>
            <a:off x="6655352" y="4524595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51FC6A-897F-3F39-4A20-803CE8F32BA2}"/>
              </a:ext>
            </a:extLst>
          </p:cNvPr>
          <p:cNvSpPr txBox="1"/>
          <p:nvPr/>
        </p:nvSpPr>
        <p:spPr>
          <a:xfrm>
            <a:off x="8188965" y="1633090"/>
            <a:ext cx="3564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if Node (19) had a child? </a:t>
            </a:r>
          </a:p>
          <a:p>
            <a:pPr algn="ctr"/>
            <a:endParaRPr lang="en-US" sz="2800" b="1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will happen to this child?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25E015-0C9E-4B45-A6DA-C4827D816C51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503D02-24C9-D93B-E839-2263A00E750A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833DBD-0E24-FB2C-C282-15A1E672F4EC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DEBE77-8686-D28B-9F91-5568D456A3B6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FCB31D-D9B2-597B-90D9-441AB706ADFF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96B249-2037-CA73-EA27-775AEEFA1A03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BBABBA1-3F43-A48A-A54D-F318A1E0AB48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2D8086-EAC6-E740-0A07-9E4895B6C637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115D5AA-722C-2A5C-7446-24B98DAE4D26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6B10639-826C-601A-ACD7-F3A4FE024979}"/>
              </a:ext>
            </a:extLst>
          </p:cNvPr>
          <p:cNvSpPr/>
          <p:nvPr/>
        </p:nvSpPr>
        <p:spPr bwMode="auto">
          <a:xfrm>
            <a:off x="7302130" y="520028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2B619B-9D10-9986-D628-353C335ABDE2}"/>
              </a:ext>
            </a:extLst>
          </p:cNvPr>
          <p:cNvCxnSpPr>
            <a:cxnSpLocks/>
          </p:cNvCxnSpPr>
          <p:nvPr/>
        </p:nvCxnSpPr>
        <p:spPr>
          <a:xfrm>
            <a:off x="7079010" y="4902876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A1A41C-E6E8-2A8E-C832-34BDBA19B0C7}"/>
              </a:ext>
            </a:extLst>
          </p:cNvPr>
          <p:cNvSpPr txBox="1"/>
          <p:nvPr/>
        </p:nvSpPr>
        <p:spPr>
          <a:xfrm>
            <a:off x="8950583" y="4044410"/>
            <a:ext cx="28756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Node 19 will be removed recursively. </a:t>
            </a:r>
          </a:p>
          <a:p>
            <a:endParaRPr lang="en-US" sz="2000" dirty="0"/>
          </a:p>
          <a:p>
            <a:r>
              <a:rPr lang="en-US" sz="2000" dirty="0"/>
              <a:t>Since it has one child, the child will be promoted to take its place (</a:t>
            </a:r>
            <a:r>
              <a:rPr lang="en-US" sz="2000" b="1" dirty="0"/>
              <a:t>Case 2</a:t>
            </a:r>
            <a:r>
              <a:rPr lang="en-US" sz="2000" dirty="0"/>
              <a:t>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4CA1E7-6DE9-B720-3742-71368822F9F1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7614326" y="5512477"/>
            <a:ext cx="266924" cy="350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4460C8F-DCA4-79C7-DB56-AD928E61A908}"/>
              </a:ext>
            </a:extLst>
          </p:cNvPr>
          <p:cNvSpPr/>
          <p:nvPr/>
        </p:nvSpPr>
        <p:spPr bwMode="auto">
          <a:xfrm>
            <a:off x="7743255" y="583851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21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6F334E1-FB39-3D6D-5393-E0B0B1E842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53"/>
          <a:stretch>
            <a:fillRect/>
          </a:stretch>
        </p:blipFill>
        <p:spPr>
          <a:xfrm>
            <a:off x="609536" y="2665930"/>
            <a:ext cx="2819545" cy="1238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16E2BEB-4CA1-6B08-EBF7-662F356078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329"/>
          <a:stretch>
            <a:fillRect/>
          </a:stretch>
        </p:blipFill>
        <p:spPr>
          <a:xfrm>
            <a:off x="611674" y="4298043"/>
            <a:ext cx="2817407" cy="5802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6638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C462D-FBC1-176A-F436-8251C9DE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9D53E-1F10-DEEE-65B7-903D0A08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513B731-5F69-FA78-E48F-011B9A387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9DFC4A-21E5-6E4E-4887-82241838CAC7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1C94F6-015C-1359-F292-FCB645360610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29EAA7-EB97-8AE8-804F-9A31D7199428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A859C3-E387-292D-AF8C-6F5A486B319F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19CDBE-B0B7-EF2D-C5C5-F32C48F19210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94D083-95E0-A146-EEEC-5E15B6227725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FAC29F-3FE0-655C-710C-83FC5801441A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7FFC1A-BD06-C240-EB16-1EC4EB7025A9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6565398-F7EA-ADF6-A68C-95A62B5E5898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311190-8991-0B3A-D81F-BF15B6EB5074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65EDD9-2F47-088F-076D-7094623188AD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080CD1-8BB6-DAB6-C52A-350C93EE6753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B89FDC-46D7-BAA9-307C-3D94EB1E68F2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C175646-3264-3BD8-280F-BAFA697A27F1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60B8CD-16A1-4FB8-A9B8-2AC35E3A00A5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E72D083-5F78-08B9-964D-F6533E95B0E6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26DE9C-06AD-5834-A2C8-7EACAEE5145A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B74A41-3003-F928-899C-258B2B5512F0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76AACA-D634-5E47-0AFD-D1094AE7095F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6883FA-8806-8B96-6065-0FCD579A53FA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7E5DC1-2D86-97DB-63F3-4262BBE6326F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031F66-0D16-EDBA-12B3-05669C56918A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DC27A5-4297-EA4E-41BE-0488860FDE8D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BBFAEA-31B0-16D2-8142-CCC3560A24F0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67B1E3-9846-A86A-5D29-9C5E972C7F63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D25F5AA-FCCF-5374-BEC0-3C71A4683AAA}"/>
              </a:ext>
            </a:extLst>
          </p:cNvPr>
          <p:cNvSpPr/>
          <p:nvPr/>
        </p:nvSpPr>
        <p:spPr bwMode="auto">
          <a:xfrm>
            <a:off x="6815050" y="460676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946EAB-27B9-E55C-3A23-714A4DFC8CD0}"/>
              </a:ext>
            </a:extLst>
          </p:cNvPr>
          <p:cNvSpPr txBox="1"/>
          <p:nvPr/>
        </p:nvSpPr>
        <p:spPr>
          <a:xfrm>
            <a:off x="8188965" y="1633090"/>
            <a:ext cx="3564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if Node (19) had a child? </a:t>
            </a:r>
          </a:p>
          <a:p>
            <a:pPr algn="ctr"/>
            <a:endParaRPr lang="en-US" sz="2800" b="1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will happen to this child?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38FB09-F2F9-1A25-9903-685A1FE08173}"/>
              </a:ext>
            </a:extLst>
          </p:cNvPr>
          <p:cNvSpPr txBox="1"/>
          <p:nvPr/>
        </p:nvSpPr>
        <p:spPr>
          <a:xfrm>
            <a:off x="8950583" y="4044410"/>
            <a:ext cx="28756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Node 19 will be removed recursively. </a:t>
            </a:r>
          </a:p>
          <a:p>
            <a:endParaRPr lang="en-US" sz="2000" dirty="0"/>
          </a:p>
          <a:p>
            <a:r>
              <a:rPr lang="en-US" sz="2000" dirty="0"/>
              <a:t>Since it has one child, the child will be promoted to take its place (</a:t>
            </a:r>
            <a:r>
              <a:rPr lang="en-US" sz="2000" b="1" dirty="0"/>
              <a:t>Case 2</a:t>
            </a:r>
            <a:r>
              <a:rPr lang="en-US" sz="2000" dirty="0"/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B9C167-2B30-285B-EE7C-5B46B89BF76C}"/>
              </a:ext>
            </a:extLst>
          </p:cNvPr>
          <p:cNvCxnSpPr>
            <a:cxnSpLocks/>
            <a:stCxn id="12" idx="4"/>
            <a:endCxn id="32" idx="1"/>
          </p:cNvCxnSpPr>
          <p:nvPr/>
        </p:nvCxnSpPr>
        <p:spPr>
          <a:xfrm>
            <a:off x="6997930" y="4972520"/>
            <a:ext cx="255112" cy="329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1808F13-26EF-5A45-D17F-A86BBC2578D9}"/>
              </a:ext>
            </a:extLst>
          </p:cNvPr>
          <p:cNvSpPr/>
          <p:nvPr/>
        </p:nvSpPr>
        <p:spPr bwMode="auto">
          <a:xfrm>
            <a:off x="7199478" y="5248113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21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4CBD273-8C26-8BC3-0B6A-640A61EED4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53"/>
          <a:stretch>
            <a:fillRect/>
          </a:stretch>
        </p:blipFill>
        <p:spPr>
          <a:xfrm>
            <a:off x="609536" y="2665930"/>
            <a:ext cx="2819545" cy="1238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49076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77DD-8BA5-2CDE-9477-DF475F8F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7AD8D-F658-B77D-231E-06241C27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42443AD-E37F-FB27-1AAD-A964C1208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41464C-8E16-6BB0-075B-0CBF977D59B0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C1DF60-E17F-C171-E849-5B98911BB597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EDEB92-75A7-0002-DE67-31587DF5E73D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42B938-0809-E9C8-0297-F93605890595}"/>
              </a:ext>
            </a:extLst>
          </p:cNvPr>
          <p:cNvCxnSpPr>
            <a:stCxn id="16" idx="3"/>
            <a:endCxn id="17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99C3393-CB49-6910-F1C6-6B4F670D1BE3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29C9C20-E5D3-192F-F895-3F603EB96651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6AF32F-D352-6001-850A-7300847482A1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FE7E30-36F0-D3B0-89DB-FF4E6423A045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F52F0-D8E6-FA28-D17E-943D7E659BC8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D91F00-0AD6-78CC-EA6E-8E95BE9C410B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FB4EC5F-2EF1-4D1E-0961-8076A7FD7AFF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1762B9-9F01-0600-CE89-A6C9239FB067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C83305-0B15-599B-CC8C-CC58263F0E80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9D42316-33C6-1288-4230-EF8D06A38680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071C00-6AE3-6684-2C6D-8C0E15DDCBD9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A45A65-CAF0-61AE-F545-9036AAEE72C3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DA552-CA9F-1729-C99F-F31AA979C13E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7082CCD-8F5B-E9E4-086F-EBB1D2A1D774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21DF3103-58FB-BB10-3757-FF62D7C93430}"/>
              </a:ext>
            </a:extLst>
          </p:cNvPr>
          <p:cNvSpPr/>
          <p:nvPr/>
        </p:nvSpPr>
        <p:spPr>
          <a:xfrm>
            <a:off x="5985781" y="3486656"/>
            <a:ext cx="2898941" cy="2741796"/>
          </a:xfrm>
          <a:prstGeom prst="triangle">
            <a:avLst>
              <a:gd name="adj" fmla="val 4795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4780188-83FC-7FEF-52DA-3E51DCE2947E}"/>
              </a:ext>
            </a:extLst>
          </p:cNvPr>
          <p:cNvSpPr/>
          <p:nvPr/>
        </p:nvSpPr>
        <p:spPr>
          <a:xfrm>
            <a:off x="5801635" y="3323813"/>
            <a:ext cx="504176" cy="461372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487E299-717E-C875-F947-794F7BDC8673}"/>
              </a:ext>
            </a:extLst>
          </p:cNvPr>
          <p:cNvSpPr/>
          <p:nvPr/>
        </p:nvSpPr>
        <p:spPr>
          <a:xfrm>
            <a:off x="7064236" y="3891024"/>
            <a:ext cx="541910" cy="46229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8A3F047-4F09-92D5-EDB0-76A13C816C76}"/>
              </a:ext>
            </a:extLst>
          </p:cNvPr>
          <p:cNvSpPr/>
          <p:nvPr/>
        </p:nvSpPr>
        <p:spPr>
          <a:xfrm>
            <a:off x="6655352" y="4524595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1FB622-8337-5355-3CBB-65ADA226F61B}"/>
              </a:ext>
            </a:extLst>
          </p:cNvPr>
          <p:cNvSpPr txBox="1"/>
          <p:nvPr/>
        </p:nvSpPr>
        <p:spPr>
          <a:xfrm>
            <a:off x="8193751" y="2369706"/>
            <a:ext cx="39328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If (19) had one left child OR two children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79D656-4566-7759-5C49-1BAFC962DF8E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60D241-08A5-51DB-13CD-35D6B2327370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107210-7B0F-AC8C-A420-37794D2891BA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57C468-4A35-F581-C549-FA7E4AD35B46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23D739-2D65-7841-EFE0-99EF757B7DCE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C245A0-49F9-2541-F67A-7377137974AC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B372DA7-EB04-A19E-9C58-B7789F3D32E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F2BEFC9-01C9-5E00-929A-E6E23A71DBF0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03BB49-6B6B-636E-EE86-D71AB11F39E6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D5A0288-F4C1-3454-E574-CDB1B2E9809E}"/>
              </a:ext>
            </a:extLst>
          </p:cNvPr>
          <p:cNvSpPr/>
          <p:nvPr/>
        </p:nvSpPr>
        <p:spPr bwMode="auto">
          <a:xfrm>
            <a:off x="7302130" y="520028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061A09-88A0-21AF-9113-2E6715A66F9E}"/>
              </a:ext>
            </a:extLst>
          </p:cNvPr>
          <p:cNvCxnSpPr>
            <a:cxnSpLocks/>
          </p:cNvCxnSpPr>
          <p:nvPr/>
        </p:nvCxnSpPr>
        <p:spPr>
          <a:xfrm>
            <a:off x="7079010" y="4902876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7069AD9-088F-180A-0782-00497FFA9F9C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7614326" y="5512477"/>
            <a:ext cx="266924" cy="350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41E9BCA-9E41-7ECB-158B-71B06C490E3B}"/>
              </a:ext>
            </a:extLst>
          </p:cNvPr>
          <p:cNvSpPr/>
          <p:nvPr/>
        </p:nvSpPr>
        <p:spPr bwMode="auto">
          <a:xfrm>
            <a:off x="7743255" y="583851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BB7FB8-9AB2-95FB-5EB6-C57F561CABAD}"/>
              </a:ext>
            </a:extLst>
          </p:cNvPr>
          <p:cNvSpPr/>
          <p:nvPr/>
        </p:nvSpPr>
        <p:spPr bwMode="auto">
          <a:xfrm>
            <a:off x="6401054" y="5317703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18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3FB2313-8934-E40E-0DE4-38DD4B134B56}"/>
              </a:ext>
            </a:extLst>
          </p:cNvPr>
          <p:cNvCxnSpPr>
            <a:cxnSpLocks/>
            <a:stCxn id="37" idx="3"/>
            <a:endCxn id="33" idx="0"/>
          </p:cNvCxnSpPr>
          <p:nvPr/>
        </p:nvCxnSpPr>
        <p:spPr>
          <a:xfrm flipH="1">
            <a:off x="6583934" y="4945591"/>
            <a:ext cx="153516" cy="372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CD28611-8ACE-6E3A-0992-45B320432C53}"/>
              </a:ext>
            </a:extLst>
          </p:cNvPr>
          <p:cNvSpPr/>
          <p:nvPr/>
        </p:nvSpPr>
        <p:spPr>
          <a:xfrm>
            <a:off x="6324056" y="5245471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8D3CFF-0C96-3176-05B3-F1BDF1C4B926}"/>
              </a:ext>
            </a:extLst>
          </p:cNvPr>
          <p:cNvSpPr txBox="1"/>
          <p:nvPr/>
        </p:nvSpPr>
        <p:spPr>
          <a:xfrm>
            <a:off x="8545882" y="3438437"/>
            <a:ext cx="34401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wouldn’t be the in-order successor of (12).</a:t>
            </a:r>
          </a:p>
          <a:p>
            <a:pPr algn="ctr"/>
            <a:r>
              <a:rPr lang="en-US" sz="2400" dirty="0"/>
              <a:t> </a:t>
            </a:r>
          </a:p>
          <a:p>
            <a:pPr algn="ctr"/>
            <a:r>
              <a:rPr lang="en-US" sz="2400" dirty="0"/>
              <a:t>The left-child would be the in-order successor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3A4623A-606F-8908-FF73-11650FE73E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53"/>
          <a:stretch>
            <a:fillRect/>
          </a:stretch>
        </p:blipFill>
        <p:spPr>
          <a:xfrm>
            <a:off x="609536" y="2665930"/>
            <a:ext cx="2819545" cy="1238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8527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2" grpId="0" animBg="1"/>
      <p:bldP spid="45" grpId="0" animBg="1"/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6016-8857-3F85-4B18-C037298B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933" y="1780926"/>
            <a:ext cx="8669645" cy="254065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</a:rPr>
              <a:t>Remove Code</a:t>
            </a:r>
            <a:br>
              <a:rPr lang="en-US" sz="4800" dirty="0">
                <a:solidFill>
                  <a:srgbClr val="C00000"/>
                </a:solidFill>
              </a:rPr>
            </a:br>
            <a:r>
              <a:rPr lang="en-US" sz="4800" dirty="0">
                <a:solidFill>
                  <a:srgbClr val="C00000"/>
                </a:solidFill>
              </a:rPr>
              <a:t>Worked Example</a:t>
            </a:r>
          </a:p>
        </p:txBody>
      </p:sp>
    </p:spTree>
    <p:extLst>
      <p:ext uri="{BB962C8B-B14F-4D97-AF65-F5344CB8AC3E}">
        <p14:creationId xmlns:p14="http://schemas.microsoft.com/office/powerpoint/2010/main" val="1608610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6758-FF13-0E6B-43AF-C0F87884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2A24-064A-11E6-4820-423F3188B7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745807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ST difference">
            <a:extLst>
              <a:ext uri="{FF2B5EF4-FFF2-40B4-BE49-F238E27FC236}">
                <a16:creationId xmlns:a16="http://schemas.microsoft.com/office/drawing/2014/main" id="{A102FD70-6AED-EB0B-FBBF-3E2210E0D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6316673" y="1538736"/>
            <a:ext cx="5551435" cy="456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4EE9E1-6293-24CA-2FDB-8B569253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224978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BST Basic Operations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15D72-403A-287C-34C5-6F7B1F0C5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57" y="2260149"/>
            <a:ext cx="6384947" cy="15429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the worst case if I try to find an item in the tree?</a:t>
            </a:r>
          </a:p>
          <a:p>
            <a:pPr marL="457200" lvl="1" indent="0">
              <a:buNone/>
            </a:pPr>
            <a:r>
              <a:rPr lang="en-US" dirty="0"/>
              <a:t>Item exists in the last level OR doesn’t exist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CDF8C9-9754-B613-7AE2-0B225618A9FF}"/>
              </a:ext>
            </a:extLst>
          </p:cNvPr>
          <p:cNvSpPr txBox="1"/>
          <p:nvPr/>
        </p:nvSpPr>
        <p:spPr>
          <a:xfrm>
            <a:off x="7977987" y="1321356"/>
            <a:ext cx="284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Find Item: 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96FC22-8BAC-2E5F-BD01-4176E033B41E}"/>
              </a:ext>
            </a:extLst>
          </p:cNvPr>
          <p:cNvCxnSpPr/>
          <p:nvPr/>
        </p:nvCxnSpPr>
        <p:spPr>
          <a:xfrm flipH="1">
            <a:off x="8119136" y="2718652"/>
            <a:ext cx="625965" cy="625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11A501-774A-870D-9B89-DEF63159ABB7}"/>
              </a:ext>
            </a:extLst>
          </p:cNvPr>
          <p:cNvCxnSpPr>
            <a:cxnSpLocks/>
          </p:cNvCxnSpPr>
          <p:nvPr/>
        </p:nvCxnSpPr>
        <p:spPr>
          <a:xfrm>
            <a:off x="8554857" y="4456213"/>
            <a:ext cx="202518" cy="533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63A3F3-8161-EC20-C592-23EE93C53C96}"/>
              </a:ext>
            </a:extLst>
          </p:cNvPr>
          <p:cNvCxnSpPr>
            <a:cxnSpLocks/>
          </p:cNvCxnSpPr>
          <p:nvPr/>
        </p:nvCxnSpPr>
        <p:spPr>
          <a:xfrm flipH="1">
            <a:off x="7731489" y="5940531"/>
            <a:ext cx="356963" cy="52143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842F8A9-F9CF-2E40-C43E-AAFDFD0A00C7}"/>
              </a:ext>
            </a:extLst>
          </p:cNvPr>
          <p:cNvSpPr txBox="1"/>
          <p:nvPr/>
        </p:nvSpPr>
        <p:spPr>
          <a:xfrm>
            <a:off x="753307" y="4066795"/>
            <a:ext cx="556336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How about Other Basic Operations? </a:t>
            </a:r>
          </a:p>
          <a:p>
            <a:pPr lvl="1"/>
            <a:r>
              <a:rPr lang="en-US" sz="2400" u="sng" dirty="0"/>
              <a:t>Remove</a:t>
            </a:r>
            <a:r>
              <a:rPr lang="en-US" sz="2400" dirty="0"/>
              <a:t>: Same as find</a:t>
            </a:r>
          </a:p>
          <a:p>
            <a:pPr lvl="1"/>
            <a:r>
              <a:rPr lang="en-US" sz="2400" u="sng" dirty="0"/>
              <a:t>Add</a:t>
            </a:r>
            <a:r>
              <a:rPr lang="en-US" sz="2400" dirty="0"/>
              <a:t>: adding already happens at the last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D3338C-226E-657D-228A-218E09F8C0F6}"/>
              </a:ext>
            </a:extLst>
          </p:cNvPr>
          <p:cNvSpPr txBox="1"/>
          <p:nvPr/>
        </p:nvSpPr>
        <p:spPr>
          <a:xfrm>
            <a:off x="8554857" y="19194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F4E8DE-D37A-9B5B-784A-293511DDFA10}"/>
              </a:ext>
            </a:extLst>
          </p:cNvPr>
          <p:cNvSpPr txBox="1"/>
          <p:nvPr/>
        </p:nvSpPr>
        <p:spPr>
          <a:xfrm>
            <a:off x="7269235" y="347211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&gt;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8184E3-3E7F-6194-94DD-90D426FA480B}"/>
              </a:ext>
            </a:extLst>
          </p:cNvPr>
          <p:cNvSpPr txBox="1"/>
          <p:nvPr/>
        </p:nvSpPr>
        <p:spPr>
          <a:xfrm>
            <a:off x="7561604" y="48868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6</a:t>
            </a:r>
          </a:p>
        </p:txBody>
      </p:sp>
    </p:spTree>
    <p:extLst>
      <p:ext uri="{BB962C8B-B14F-4D97-AF65-F5344CB8AC3E}">
        <p14:creationId xmlns:p14="http://schemas.microsoft.com/office/powerpoint/2010/main" val="367798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D88D3-306D-11F0-6BE6-38F0691C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BST difference">
            <a:extLst>
              <a:ext uri="{FF2B5EF4-FFF2-40B4-BE49-F238E27FC236}">
                <a16:creationId xmlns:a16="http://schemas.microsoft.com/office/drawing/2014/main" id="{9652EB43-B9CF-CE52-CF4C-EB3720A22A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6316673" y="1538736"/>
            <a:ext cx="5551435" cy="456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C2919B-CBB4-A99F-4DAA-8D068CA3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Operations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11683-7F33-2818-5E17-3B86DB738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391" y="1819487"/>
            <a:ext cx="6378809" cy="1212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the worst case if I try to find an item in the tree?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0478FA-150D-F001-6C51-7F0EEC2255B6}"/>
              </a:ext>
            </a:extLst>
          </p:cNvPr>
          <p:cNvSpPr txBox="1">
            <a:spLocks/>
          </p:cNvSpPr>
          <p:nvPr/>
        </p:nvSpPr>
        <p:spPr>
          <a:xfrm>
            <a:off x="781945" y="2851928"/>
            <a:ext cx="5241399" cy="29814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Steps for a tree of height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b="1" dirty="0"/>
              <a:t>):</a:t>
            </a:r>
          </a:p>
          <a:p>
            <a:r>
              <a:rPr lang="en-US" b="1" dirty="0"/>
              <a:t>Traverse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b="1" dirty="0"/>
              <a:t> levels (</a:t>
            </a:r>
            <a:r>
              <a:rPr lang="en-US" b="1" u="sng" dirty="0"/>
              <a:t>h iterations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At each level: Compare the item value with the node </a:t>
            </a:r>
          </a:p>
          <a:p>
            <a:pPr lvl="1"/>
            <a:r>
              <a:rPr lang="en-US" b="1" dirty="0"/>
              <a:t>O(1): </a:t>
            </a:r>
            <a:r>
              <a:rPr lang="en-US" dirty="0"/>
              <a:t>constant; irrelevant of </a:t>
            </a:r>
            <a:r>
              <a:rPr lang="en-US" dirty="0" err="1"/>
              <a:t>inpt</a:t>
            </a:r>
            <a:r>
              <a:rPr lang="en-US" dirty="0"/>
              <a:t> size (i.e. number of nodes)</a:t>
            </a:r>
          </a:p>
          <a:p>
            <a:r>
              <a:rPr lang="en-US" b="1" dirty="0"/>
              <a:t>Apply the operation: add node, remove node, etc.</a:t>
            </a:r>
          </a:p>
          <a:p>
            <a:pPr lvl="1"/>
            <a:r>
              <a:rPr lang="en-US" b="1" dirty="0"/>
              <a:t>O(1): </a:t>
            </a:r>
            <a:r>
              <a:rPr lang="en-US" dirty="0"/>
              <a:t>constant; irrelevant of input size (i.e. number of nodes)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9A5F1-2C2D-3C1F-135E-6133567F2E43}"/>
              </a:ext>
            </a:extLst>
          </p:cNvPr>
          <p:cNvSpPr txBox="1"/>
          <p:nvPr/>
        </p:nvSpPr>
        <p:spPr>
          <a:xfrm>
            <a:off x="1157175" y="5809334"/>
            <a:ext cx="39805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Complexity: O(</a:t>
            </a:r>
            <a:r>
              <a:rPr lang="en-US" sz="3200" dirty="0">
                <a:solidFill>
                  <a:srgbClr val="FF0000"/>
                </a:solidFill>
              </a:rPr>
              <a:t>h</a:t>
            </a:r>
            <a:r>
              <a:rPr lang="en-US" sz="32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B538B-A2DF-6A27-CA4C-8554F2234869}"/>
              </a:ext>
            </a:extLst>
          </p:cNvPr>
          <p:cNvSpPr txBox="1"/>
          <p:nvPr/>
        </p:nvSpPr>
        <p:spPr>
          <a:xfrm>
            <a:off x="7977987" y="1321356"/>
            <a:ext cx="284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Find Item: 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6B83DA-74CC-504A-3BBD-D43D391A672A}"/>
              </a:ext>
            </a:extLst>
          </p:cNvPr>
          <p:cNvCxnSpPr/>
          <p:nvPr/>
        </p:nvCxnSpPr>
        <p:spPr>
          <a:xfrm flipH="1">
            <a:off x="8119136" y="2718652"/>
            <a:ext cx="625965" cy="625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A98C73-AAA2-DDD9-8013-93E138980CC2}"/>
              </a:ext>
            </a:extLst>
          </p:cNvPr>
          <p:cNvCxnSpPr>
            <a:cxnSpLocks/>
          </p:cNvCxnSpPr>
          <p:nvPr/>
        </p:nvCxnSpPr>
        <p:spPr>
          <a:xfrm>
            <a:off x="8554857" y="4456213"/>
            <a:ext cx="202518" cy="533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ECBB60-DA7F-7F06-1F73-01AFD1D6CA41}"/>
              </a:ext>
            </a:extLst>
          </p:cNvPr>
          <p:cNvCxnSpPr>
            <a:cxnSpLocks/>
          </p:cNvCxnSpPr>
          <p:nvPr/>
        </p:nvCxnSpPr>
        <p:spPr>
          <a:xfrm flipH="1">
            <a:off x="7731489" y="5940531"/>
            <a:ext cx="356963" cy="52143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3772CD-C5AC-33FE-6414-856A51D97BE8}"/>
              </a:ext>
            </a:extLst>
          </p:cNvPr>
          <p:cNvSpPr txBox="1"/>
          <p:nvPr/>
        </p:nvSpPr>
        <p:spPr>
          <a:xfrm>
            <a:off x="8554857" y="19194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218647-B014-18A4-8696-0CC2344BCF77}"/>
              </a:ext>
            </a:extLst>
          </p:cNvPr>
          <p:cNvSpPr txBox="1"/>
          <p:nvPr/>
        </p:nvSpPr>
        <p:spPr>
          <a:xfrm>
            <a:off x="7269235" y="347211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&gt;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7756F-1520-3661-4B2C-CB4A09C83918}"/>
              </a:ext>
            </a:extLst>
          </p:cNvPr>
          <p:cNvSpPr txBox="1"/>
          <p:nvPr/>
        </p:nvSpPr>
        <p:spPr>
          <a:xfrm>
            <a:off x="7561604" y="48868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6</a:t>
            </a:r>
          </a:p>
        </p:txBody>
      </p:sp>
    </p:spTree>
    <p:extLst>
      <p:ext uri="{BB962C8B-B14F-4D97-AF65-F5344CB8AC3E}">
        <p14:creationId xmlns:p14="http://schemas.microsoft.com/office/powerpoint/2010/main" val="9747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D46D-269E-7C48-943D-A2239876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0CFF-8A58-456A-E01A-547184F8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BAF00924-5A7B-0A8B-554E-330757C323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5BEEC3-92E5-2140-F0D9-AC796DE3105A}"/>
              </a:ext>
            </a:extLst>
          </p:cNvPr>
          <p:cNvSpPr txBox="1"/>
          <p:nvPr/>
        </p:nvSpPr>
        <p:spPr>
          <a:xfrm>
            <a:off x="7466587" y="2311726"/>
            <a:ext cx="1902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# Nodes @ Current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605079-45B5-6724-6FA7-6EB4605BA204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DEDF27-CBBF-A908-7000-AB1FAF37F564}"/>
              </a:ext>
            </a:extLst>
          </p:cNvPr>
          <p:cNvSpPr txBox="1"/>
          <p:nvPr/>
        </p:nvSpPr>
        <p:spPr>
          <a:xfrm>
            <a:off x="7871623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521472-DCA4-55FF-C713-B9ECA49BFFCF}"/>
              </a:ext>
            </a:extLst>
          </p:cNvPr>
          <p:cNvSpPr txBox="1"/>
          <p:nvPr/>
        </p:nvSpPr>
        <p:spPr>
          <a:xfrm>
            <a:off x="10165292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293FDB-E6B2-9C6F-9449-216C904BB57B}"/>
              </a:ext>
            </a:extLst>
          </p:cNvPr>
          <p:cNvSpPr txBox="1"/>
          <p:nvPr/>
        </p:nvSpPr>
        <p:spPr>
          <a:xfrm>
            <a:off x="7871623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9FE68E-A0E7-8E79-2D1A-3769565C16E0}"/>
              </a:ext>
            </a:extLst>
          </p:cNvPr>
          <p:cNvSpPr txBox="1"/>
          <p:nvPr/>
        </p:nvSpPr>
        <p:spPr>
          <a:xfrm>
            <a:off x="10165292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C573C1-86CC-567C-3A3D-F1DCD8C671E7}"/>
              </a:ext>
            </a:extLst>
          </p:cNvPr>
          <p:cNvSpPr txBox="1"/>
          <p:nvPr/>
        </p:nvSpPr>
        <p:spPr>
          <a:xfrm>
            <a:off x="7871623" y="520020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24BF1D-9AB9-810E-C099-C11BACEBCA63}"/>
              </a:ext>
            </a:extLst>
          </p:cNvPr>
          <p:cNvSpPr txBox="1"/>
          <p:nvPr/>
        </p:nvSpPr>
        <p:spPr>
          <a:xfrm>
            <a:off x="10165292" y="5213093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5C73B3-D101-462A-EFD3-8CB81CB714C7}"/>
              </a:ext>
            </a:extLst>
          </p:cNvPr>
          <p:cNvSpPr txBox="1"/>
          <p:nvPr/>
        </p:nvSpPr>
        <p:spPr>
          <a:xfrm>
            <a:off x="4218255" y="2407251"/>
            <a:ext cx="152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Level ID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602420-597B-C19E-85CF-015DBCD6190E}"/>
              </a:ext>
            </a:extLst>
          </p:cNvPr>
          <p:cNvSpPr txBox="1"/>
          <p:nvPr/>
        </p:nvSpPr>
        <p:spPr>
          <a:xfrm>
            <a:off x="4324558" y="302579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FDEE1E-A22F-FF50-CE0F-3391CC541EE5}"/>
              </a:ext>
            </a:extLst>
          </p:cNvPr>
          <p:cNvSpPr txBox="1"/>
          <p:nvPr/>
        </p:nvSpPr>
        <p:spPr>
          <a:xfrm>
            <a:off x="4324558" y="4063841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EA239A-79A1-2461-3C5B-9AE2A7CC4E3A}"/>
              </a:ext>
            </a:extLst>
          </p:cNvPr>
          <p:cNvSpPr txBox="1"/>
          <p:nvPr/>
        </p:nvSpPr>
        <p:spPr>
          <a:xfrm>
            <a:off x="4324558" y="518541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F848C-072F-14E7-A43A-3982BA99E0EF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D88EA-3D08-63B3-7454-8B31A854EBFE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6DB836-8672-2390-FBD9-4664AAD4CF37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C9166C-448D-E1FC-3C12-B20C35F5D54B}"/>
              </a:ext>
            </a:extLst>
          </p:cNvPr>
          <p:cNvSpPr txBox="1"/>
          <p:nvPr/>
        </p:nvSpPr>
        <p:spPr>
          <a:xfrm>
            <a:off x="5842421" y="5145829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C6EB23-584B-87E4-6691-ABC6FC9B8230}"/>
              </a:ext>
            </a:extLst>
          </p:cNvPr>
          <p:cNvSpPr/>
          <p:nvPr/>
        </p:nvSpPr>
        <p:spPr>
          <a:xfrm>
            <a:off x="5645960" y="4946352"/>
            <a:ext cx="1156814" cy="83099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E1BD760-3CB4-B746-4583-B0DBCB0646EF}"/>
              </a:ext>
            </a:extLst>
          </p:cNvPr>
          <p:cNvSpPr/>
          <p:nvPr/>
        </p:nvSpPr>
        <p:spPr>
          <a:xfrm>
            <a:off x="9965328" y="5000749"/>
            <a:ext cx="1156814" cy="83099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64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5" grpId="0"/>
      <p:bldP spid="6" grpId="0"/>
      <p:bldP spid="8" grpId="0"/>
      <p:bldP spid="12" grpId="0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9461-511B-BB5D-10C3-47E86BA7F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FBFF-418B-3EEA-5FCC-9CCBFBCF3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75856D66-0040-A90D-DEB1-E2F2C6473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27B61C-C78F-95B1-EAE6-DFB2A9D9620E}"/>
              </a:ext>
            </a:extLst>
          </p:cNvPr>
          <p:cNvSpPr txBox="1"/>
          <p:nvPr/>
        </p:nvSpPr>
        <p:spPr>
          <a:xfrm>
            <a:off x="7466587" y="2311726"/>
            <a:ext cx="1902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# Nodes @ Current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6C9BDB-99A1-3080-6382-73B68D6537AD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1E99AC-3B0F-0270-7BEC-1AFE693BCA05}"/>
              </a:ext>
            </a:extLst>
          </p:cNvPr>
          <p:cNvSpPr txBox="1"/>
          <p:nvPr/>
        </p:nvSpPr>
        <p:spPr>
          <a:xfrm>
            <a:off x="7871623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F7C2E2-DD9A-7875-1FA2-16757B596D7A}"/>
              </a:ext>
            </a:extLst>
          </p:cNvPr>
          <p:cNvSpPr txBox="1"/>
          <p:nvPr/>
        </p:nvSpPr>
        <p:spPr>
          <a:xfrm>
            <a:off x="10165292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EE36A8-AFF5-4AAC-85D0-BEE10151BDCD}"/>
              </a:ext>
            </a:extLst>
          </p:cNvPr>
          <p:cNvSpPr txBox="1"/>
          <p:nvPr/>
        </p:nvSpPr>
        <p:spPr>
          <a:xfrm>
            <a:off x="7871623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722655-E2D6-B1BF-8531-55DDB01E250C}"/>
              </a:ext>
            </a:extLst>
          </p:cNvPr>
          <p:cNvSpPr txBox="1"/>
          <p:nvPr/>
        </p:nvSpPr>
        <p:spPr>
          <a:xfrm>
            <a:off x="10165292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58A2A1-BFC8-45C7-533B-34D8422FD7DF}"/>
              </a:ext>
            </a:extLst>
          </p:cNvPr>
          <p:cNvSpPr txBox="1"/>
          <p:nvPr/>
        </p:nvSpPr>
        <p:spPr>
          <a:xfrm>
            <a:off x="7871623" y="520020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B9445D-157C-73E5-81ED-03A7BF23132C}"/>
              </a:ext>
            </a:extLst>
          </p:cNvPr>
          <p:cNvSpPr txBox="1"/>
          <p:nvPr/>
        </p:nvSpPr>
        <p:spPr>
          <a:xfrm>
            <a:off x="10165292" y="5213093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31C8A8-F2F4-ECF4-B0C4-81B79F4F1E12}"/>
              </a:ext>
            </a:extLst>
          </p:cNvPr>
          <p:cNvSpPr txBox="1"/>
          <p:nvPr/>
        </p:nvSpPr>
        <p:spPr>
          <a:xfrm>
            <a:off x="4218255" y="2407251"/>
            <a:ext cx="152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Level ID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2673FB-5B47-8A5D-83C9-47181E05F8BF}"/>
              </a:ext>
            </a:extLst>
          </p:cNvPr>
          <p:cNvSpPr txBox="1"/>
          <p:nvPr/>
        </p:nvSpPr>
        <p:spPr>
          <a:xfrm>
            <a:off x="4324558" y="302579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A9EBED-1EBD-62EB-E9ED-E8C63EA2A926}"/>
              </a:ext>
            </a:extLst>
          </p:cNvPr>
          <p:cNvSpPr txBox="1"/>
          <p:nvPr/>
        </p:nvSpPr>
        <p:spPr>
          <a:xfrm>
            <a:off x="4324558" y="4063841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FCE0CE-27EA-31DA-1F0E-483DD4B642B5}"/>
              </a:ext>
            </a:extLst>
          </p:cNvPr>
          <p:cNvSpPr txBox="1"/>
          <p:nvPr/>
        </p:nvSpPr>
        <p:spPr>
          <a:xfrm>
            <a:off x="4324558" y="518541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FCB03C-5391-B8CA-F2EC-010A6A386057}"/>
              </a:ext>
            </a:extLst>
          </p:cNvPr>
          <p:cNvSpPr txBox="1"/>
          <p:nvPr/>
        </p:nvSpPr>
        <p:spPr>
          <a:xfrm>
            <a:off x="4860433" y="5851905"/>
            <a:ext cx="55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Total Number of Levels (Height) = 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</a:rPr>
              <a:t>(i.e. levels 0, 1,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A6940-34D0-4022-2FE8-E679BD6089E2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EA6AE-B30F-199F-796C-73EEA2EE65AF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349C3-38A0-3920-D3E9-649F01A07CD7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06680-02CD-D16F-F9DB-1039B824D686}"/>
              </a:ext>
            </a:extLst>
          </p:cNvPr>
          <p:cNvSpPr txBox="1"/>
          <p:nvPr/>
        </p:nvSpPr>
        <p:spPr>
          <a:xfrm>
            <a:off x="5842421" y="5145829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AFCEDC-A9A9-B7D7-A9EA-CB6C1369E2EE}"/>
              </a:ext>
            </a:extLst>
          </p:cNvPr>
          <p:cNvSpPr/>
          <p:nvPr/>
        </p:nvSpPr>
        <p:spPr>
          <a:xfrm>
            <a:off x="5645960" y="4946352"/>
            <a:ext cx="1156814" cy="83099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26A93C-705B-17FE-FA95-66438326E911}"/>
              </a:ext>
            </a:extLst>
          </p:cNvPr>
          <p:cNvSpPr/>
          <p:nvPr/>
        </p:nvSpPr>
        <p:spPr>
          <a:xfrm>
            <a:off x="9965328" y="5000749"/>
            <a:ext cx="1156814" cy="83099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3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E42D5-6CF6-C94B-7D90-96ED6D56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2C53-654B-A2DB-2C5C-9A0CDF3E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24589E0A-D765-0C0E-D3A3-96E04E86F8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CCB043-06D3-9885-4306-FFD081B2E024}"/>
              </a:ext>
            </a:extLst>
          </p:cNvPr>
          <p:cNvSpPr txBox="1"/>
          <p:nvPr/>
        </p:nvSpPr>
        <p:spPr>
          <a:xfrm>
            <a:off x="7466587" y="2311726"/>
            <a:ext cx="1902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# Nodes @ Current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184B05-B47B-BD55-121F-B630D0E03695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E857CD-527E-2013-33AA-72447A981D4C}"/>
              </a:ext>
            </a:extLst>
          </p:cNvPr>
          <p:cNvSpPr txBox="1"/>
          <p:nvPr/>
        </p:nvSpPr>
        <p:spPr>
          <a:xfrm>
            <a:off x="7871623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5D8FA9-5B25-7FBA-5BDB-393B32B2DAFA}"/>
              </a:ext>
            </a:extLst>
          </p:cNvPr>
          <p:cNvSpPr txBox="1"/>
          <p:nvPr/>
        </p:nvSpPr>
        <p:spPr>
          <a:xfrm>
            <a:off x="10165292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A9961D-3978-1CF1-2A2F-32C4DD276CC4}"/>
              </a:ext>
            </a:extLst>
          </p:cNvPr>
          <p:cNvSpPr txBox="1"/>
          <p:nvPr/>
        </p:nvSpPr>
        <p:spPr>
          <a:xfrm>
            <a:off x="7871623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E2208A-ACA8-08AB-F26D-182F37E05E76}"/>
              </a:ext>
            </a:extLst>
          </p:cNvPr>
          <p:cNvSpPr txBox="1"/>
          <p:nvPr/>
        </p:nvSpPr>
        <p:spPr>
          <a:xfrm>
            <a:off x="10165292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6F2BC9-BC3E-AD9F-F39B-E9F01F291280}"/>
              </a:ext>
            </a:extLst>
          </p:cNvPr>
          <p:cNvSpPr txBox="1"/>
          <p:nvPr/>
        </p:nvSpPr>
        <p:spPr>
          <a:xfrm>
            <a:off x="7871623" y="520020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2F2919-0375-6FD3-8250-61673DADA748}"/>
              </a:ext>
            </a:extLst>
          </p:cNvPr>
          <p:cNvSpPr txBox="1"/>
          <p:nvPr/>
        </p:nvSpPr>
        <p:spPr>
          <a:xfrm>
            <a:off x="10165292" y="5128033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1E58FF-C629-0370-7040-7097BD6908C0}"/>
              </a:ext>
            </a:extLst>
          </p:cNvPr>
          <p:cNvSpPr txBox="1"/>
          <p:nvPr/>
        </p:nvSpPr>
        <p:spPr>
          <a:xfrm>
            <a:off x="4218255" y="2407251"/>
            <a:ext cx="152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Level ID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99C54D-FA20-73E1-224F-8BD371B0941A}"/>
              </a:ext>
            </a:extLst>
          </p:cNvPr>
          <p:cNvSpPr txBox="1"/>
          <p:nvPr/>
        </p:nvSpPr>
        <p:spPr>
          <a:xfrm>
            <a:off x="4324558" y="302579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B0B7B1-12D8-05A1-2400-30B7D339AD3B}"/>
              </a:ext>
            </a:extLst>
          </p:cNvPr>
          <p:cNvSpPr txBox="1"/>
          <p:nvPr/>
        </p:nvSpPr>
        <p:spPr>
          <a:xfrm>
            <a:off x="4324558" y="4063841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5D1FE3-002E-D8D5-243E-54B2E669BD28}"/>
              </a:ext>
            </a:extLst>
          </p:cNvPr>
          <p:cNvSpPr txBox="1"/>
          <p:nvPr/>
        </p:nvSpPr>
        <p:spPr>
          <a:xfrm>
            <a:off x="4324558" y="518541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D5EDA-4ADA-8461-5FEC-4F0D9399121F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E80B3-21A2-447B-E51B-33DA2F3B44DB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1A096-DB97-CDD1-2468-A25EF80AAC85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E94B8-85D9-C958-7733-68F784FE8AAA}"/>
              </a:ext>
            </a:extLst>
          </p:cNvPr>
          <p:cNvSpPr txBox="1"/>
          <p:nvPr/>
        </p:nvSpPr>
        <p:spPr>
          <a:xfrm>
            <a:off x="5842421" y="5060769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1EE8AB-A38A-36D2-4D93-94C13CDE37F9}"/>
              </a:ext>
            </a:extLst>
          </p:cNvPr>
          <p:cNvSpPr/>
          <p:nvPr/>
        </p:nvSpPr>
        <p:spPr>
          <a:xfrm>
            <a:off x="5645960" y="4946352"/>
            <a:ext cx="1156814" cy="83099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3A5D572-D4E2-FDAB-4CE8-AD0352C1EFF6}"/>
              </a:ext>
            </a:extLst>
          </p:cNvPr>
          <p:cNvSpPr/>
          <p:nvPr/>
        </p:nvSpPr>
        <p:spPr>
          <a:xfrm>
            <a:off x="9965328" y="5000749"/>
            <a:ext cx="1156814" cy="83099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12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C2ED-E28F-1748-27C1-2050A81E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BEC1-E974-8CA3-2B5E-2BCC56FA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0B994C03-2741-53DD-6FD9-6EADC54292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364C5C-BABB-4EBD-5771-650729DE0AB6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794F86-9DAD-DDDB-259B-1DC2D523DE92}"/>
              </a:ext>
            </a:extLst>
          </p:cNvPr>
          <p:cNvSpPr txBox="1"/>
          <p:nvPr/>
        </p:nvSpPr>
        <p:spPr>
          <a:xfrm>
            <a:off x="9612397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D540F7-72FC-9E1F-2FE4-8B157098AA8F}"/>
              </a:ext>
            </a:extLst>
          </p:cNvPr>
          <p:cNvSpPr txBox="1"/>
          <p:nvPr/>
        </p:nvSpPr>
        <p:spPr>
          <a:xfrm>
            <a:off x="9612397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5D51D-38D2-604B-E2B4-4A2214BEF11F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C1F0D-09B9-7E93-14FD-C87B191F1888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934D4-D72D-80AA-193C-8655629407C9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16F41F-AEAF-A977-7791-6639EF282105}"/>
              </a:ext>
            </a:extLst>
          </p:cNvPr>
          <p:cNvSpPr txBox="1"/>
          <p:nvPr/>
        </p:nvSpPr>
        <p:spPr>
          <a:xfrm>
            <a:off x="10222498" y="3034815"/>
            <a:ext cx="1156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b="1" dirty="0"/>
              <a:t>=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/>
              <a:t>2</a:t>
            </a:r>
            <a:r>
              <a:rPr lang="en-US" sz="2400" b="1" baseline="30000" dirty="0">
                <a:solidFill>
                  <a:schemeClr val="accent6">
                    <a:lumMod val="75000"/>
                  </a:schemeClr>
                </a:solidFill>
              </a:rPr>
              <a:t>1 </a:t>
            </a:r>
            <a:r>
              <a:rPr lang="en-US" sz="2400" b="1" dirty="0"/>
              <a:t>− 1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1B427-D376-1C3A-6768-AA94A327C635}"/>
              </a:ext>
            </a:extLst>
          </p:cNvPr>
          <p:cNvSpPr txBox="1"/>
          <p:nvPr/>
        </p:nvSpPr>
        <p:spPr>
          <a:xfrm>
            <a:off x="7225135" y="3290484"/>
            <a:ext cx="19085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How does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n-US" sz="2800" dirty="0"/>
              <a:t>relate to 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r>
              <a:rPr lang="en-US" sz="2800" dirty="0"/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AF73D4-FB3E-249D-98D4-371429E01D49}"/>
              </a:ext>
            </a:extLst>
          </p:cNvPr>
          <p:cNvSpPr txBox="1"/>
          <p:nvPr/>
        </p:nvSpPr>
        <p:spPr>
          <a:xfrm>
            <a:off x="10156930" y="4062167"/>
            <a:ext cx="1156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b="1" dirty="0"/>
              <a:t>=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/>
              <a:t>2</a:t>
            </a:r>
            <a:r>
              <a:rPr lang="en-US" sz="2400" b="1" baseline="30000" dirty="0">
                <a:solidFill>
                  <a:schemeClr val="accent6">
                    <a:lumMod val="75000"/>
                  </a:schemeClr>
                </a:solidFill>
              </a:rPr>
              <a:t>2 </a:t>
            </a:r>
            <a:r>
              <a:rPr lang="en-US" sz="2400" b="1" dirty="0"/>
              <a:t>− 1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3C92F2-E0B0-6383-6126-E1E880C36551}"/>
              </a:ext>
            </a:extLst>
          </p:cNvPr>
          <p:cNvSpPr txBox="1"/>
          <p:nvPr/>
        </p:nvSpPr>
        <p:spPr>
          <a:xfrm>
            <a:off x="10156930" y="5189588"/>
            <a:ext cx="13194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800" b="1" dirty="0"/>
              <a:t>=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b="1" dirty="0"/>
              <a:t>2</a:t>
            </a:r>
            <a:r>
              <a:rPr lang="en-US" sz="2800" b="1" baseline="30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2800" b="1" dirty="0"/>
              <a:t>− 1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1BBC15-9F27-D1BD-E827-422F174AB910}"/>
              </a:ext>
            </a:extLst>
          </p:cNvPr>
          <p:cNvSpPr/>
          <p:nvPr/>
        </p:nvSpPr>
        <p:spPr>
          <a:xfrm>
            <a:off x="9569740" y="5159339"/>
            <a:ext cx="2230287" cy="5691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7C5743-DB5E-0C9B-ECA3-936F48F73D24}"/>
              </a:ext>
            </a:extLst>
          </p:cNvPr>
          <p:cNvSpPr txBox="1"/>
          <p:nvPr/>
        </p:nvSpPr>
        <p:spPr>
          <a:xfrm>
            <a:off x="9692143" y="5128033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685440-4EAD-515C-B5DA-0473A0B8F5A1}"/>
              </a:ext>
            </a:extLst>
          </p:cNvPr>
          <p:cNvSpPr txBox="1"/>
          <p:nvPr/>
        </p:nvSpPr>
        <p:spPr>
          <a:xfrm>
            <a:off x="5842421" y="5060769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15934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32" grpId="0"/>
      <p:bldP spid="33" grpId="0"/>
      <p:bldP spid="3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8C7FF-8AEA-65B3-B384-51DE7EC2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C3B0-8C9D-2483-ED42-B178C68F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8BF957FA-A38A-C7A1-2F9D-C95D54BEF1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0B1E254-8D09-F7E6-35BC-C7FF1F7C1AFF}"/>
              </a:ext>
            </a:extLst>
          </p:cNvPr>
          <p:cNvSpPr txBox="1"/>
          <p:nvPr/>
        </p:nvSpPr>
        <p:spPr>
          <a:xfrm>
            <a:off x="7024726" y="2586743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42BD7-4AC8-2949-8F93-8D36BABA518F}"/>
              </a:ext>
            </a:extLst>
          </p:cNvPr>
          <p:cNvSpPr txBox="1"/>
          <p:nvPr/>
        </p:nvSpPr>
        <p:spPr>
          <a:xfrm>
            <a:off x="5225486" y="2602311"/>
            <a:ext cx="19993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dirty="0"/>
              <a:t>2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h </a:t>
            </a:r>
            <a:r>
              <a:rPr lang="en-US" sz="3200" dirty="0"/>
              <a:t>− 1</a:t>
            </a:r>
            <a:r>
              <a:rPr lang="en-US" sz="3200" b="1" dirty="0"/>
              <a:t> </a:t>
            </a:r>
            <a:r>
              <a:rPr lang="en-US" sz="3200" dirty="0"/>
              <a:t>=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F3AA31-9DA4-98D0-F52A-A2ADA4034E86}"/>
              </a:ext>
            </a:extLst>
          </p:cNvPr>
          <p:cNvSpPr txBox="1"/>
          <p:nvPr/>
        </p:nvSpPr>
        <p:spPr>
          <a:xfrm>
            <a:off x="7100722" y="3171518"/>
            <a:ext cx="1027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n</a:t>
            </a:r>
            <a:r>
              <a:rPr lang="en-US" sz="3200" dirty="0"/>
              <a:t>+1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F589F9-E072-8176-9C3F-8715582A0064}"/>
              </a:ext>
            </a:extLst>
          </p:cNvPr>
          <p:cNvSpPr txBox="1"/>
          <p:nvPr/>
        </p:nvSpPr>
        <p:spPr>
          <a:xfrm>
            <a:off x="6197448" y="3202654"/>
            <a:ext cx="1027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dirty="0"/>
              <a:t>2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dirty="0"/>
              <a:t>=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288A38-D9FC-5878-1BA6-BDEC9BBDA763}"/>
              </a:ext>
            </a:extLst>
          </p:cNvPr>
          <p:cNvSpPr txBox="1"/>
          <p:nvPr/>
        </p:nvSpPr>
        <p:spPr>
          <a:xfrm>
            <a:off x="4927453" y="3919768"/>
            <a:ext cx="4194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log</a:t>
            </a:r>
            <a:r>
              <a:rPr lang="en-US" sz="3200" baseline="-25000" dirty="0"/>
              <a:t>2</a:t>
            </a:r>
            <a:r>
              <a:rPr lang="en-US" sz="3200" dirty="0"/>
              <a:t>​(2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3200" dirty="0"/>
              <a:t>) = log</a:t>
            </a:r>
            <a:r>
              <a:rPr lang="en-US" sz="3200" baseline="-25000" dirty="0"/>
              <a:t>2</a:t>
            </a:r>
            <a:r>
              <a:rPr lang="en-US" sz="3200" dirty="0"/>
              <a:t>​(</a:t>
            </a:r>
            <a:r>
              <a:rPr lang="en-US" sz="3200" b="1" dirty="0">
                <a:solidFill>
                  <a:srgbClr val="0070C0"/>
                </a:solidFill>
              </a:rPr>
              <a:t>n</a:t>
            </a:r>
            <a:r>
              <a:rPr lang="en-US" sz="3200" dirty="0"/>
              <a:t>+1)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CD4C5D-27F2-F2E0-4F98-713A09A187C5}"/>
              </a:ext>
            </a:extLst>
          </p:cNvPr>
          <p:cNvSpPr txBox="1"/>
          <p:nvPr/>
        </p:nvSpPr>
        <p:spPr>
          <a:xfrm>
            <a:off x="6197448" y="4668018"/>
            <a:ext cx="2715513" cy="590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h </a:t>
            </a:r>
            <a:r>
              <a:rPr lang="en-US" sz="3200" dirty="0"/>
              <a:t>=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dirty="0"/>
              <a:t>log</a:t>
            </a:r>
            <a:r>
              <a:rPr lang="en-US" sz="3200" baseline="-25000" dirty="0"/>
              <a:t>2</a:t>
            </a:r>
            <a:r>
              <a:rPr lang="en-US" sz="3200" dirty="0"/>
              <a:t>​(</a:t>
            </a:r>
            <a:r>
              <a:rPr lang="en-US" sz="3200" b="1" dirty="0">
                <a:solidFill>
                  <a:srgbClr val="0070C0"/>
                </a:solidFill>
              </a:rPr>
              <a:t>n</a:t>
            </a:r>
            <a:r>
              <a:rPr lang="en-US" sz="3200" dirty="0"/>
              <a:t>+1)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283483-15A8-A1F3-EF77-49BDA60C92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58612" y="2771982"/>
            <a:ext cx="31525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BST Basic Operations Complexity:</a:t>
            </a: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O( </a:t>
            </a:r>
            <a:r>
              <a:rPr lang="en-US" sz="2800" dirty="0">
                <a:solidFill>
                  <a:srgbClr val="FF0000"/>
                </a:solidFill>
              </a:rPr>
              <a:t>h </a:t>
            </a:r>
            <a:r>
              <a:rPr lang="en-US" sz="2800" b="1" dirty="0">
                <a:solidFill>
                  <a:srgbClr val="FF0000"/>
                </a:solidFill>
              </a:rPr>
              <a:t>) =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O( </a:t>
            </a:r>
            <a:r>
              <a:rPr lang="en-US" sz="2800" dirty="0">
                <a:solidFill>
                  <a:srgbClr val="FF0000"/>
                </a:solidFill>
              </a:rPr>
              <a:t>log(n) </a:t>
            </a:r>
            <a:r>
              <a:rPr lang="en-US" sz="28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525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25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5B12-1D69-8E89-D754-F3642BCEA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Log(n) Compared to Other Complexity Classes</a:t>
            </a:r>
            <a:endParaRPr lang="en-US" dirty="0"/>
          </a:p>
        </p:txBody>
      </p:sp>
      <p:pic>
        <p:nvPicPr>
          <p:cNvPr id="4" name="Google Shape;1602;g23b567092ca_0_285">
            <a:extLst>
              <a:ext uri="{FF2B5EF4-FFF2-40B4-BE49-F238E27FC236}">
                <a16:creationId xmlns:a16="http://schemas.microsoft.com/office/drawing/2014/main" id="{C4132655-7979-3042-0A8F-8C97ECF3D66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73128" y="1825625"/>
            <a:ext cx="8810527" cy="46875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8231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BE6A-F298-07EB-5679-FFF57421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F1F7-0709-98A3-F087-9471E4D2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Balanced BST</a:t>
            </a:r>
            <a:endParaRPr lang="en-US" dirty="0"/>
          </a:p>
        </p:txBody>
      </p:sp>
      <p:pic>
        <p:nvPicPr>
          <p:cNvPr id="1026" name="Picture 2" descr="BST difference">
            <a:extLst>
              <a:ext uri="{FF2B5EF4-FFF2-40B4-BE49-F238E27FC236}">
                <a16:creationId xmlns:a16="http://schemas.microsoft.com/office/drawing/2014/main" id="{D439B8C8-11C5-7773-80B5-FD990AC51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7417024" y="1628410"/>
            <a:ext cx="4286242" cy="352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EAE64-CB18-CE02-2278-9D64E136F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8763" cy="4351338"/>
          </a:xfrm>
        </p:spPr>
        <p:txBody>
          <a:bodyPr>
            <a:normAutofit/>
          </a:bodyPr>
          <a:lstStyle/>
          <a:p>
            <a:r>
              <a:rPr lang="en-US" dirty="0"/>
              <a:t>The tree has to be balanced for this O(log n) complexity to apply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BST is </a:t>
            </a:r>
            <a:r>
              <a:rPr lang="en-US" b="1" dirty="0"/>
              <a:t>balanced</a:t>
            </a:r>
            <a:r>
              <a:rPr lang="en-US" dirty="0"/>
              <a:t> if the </a:t>
            </a:r>
            <a:r>
              <a:rPr lang="en-US" b="1" dirty="0"/>
              <a:t>height of the left and right subtrees</a:t>
            </a:r>
            <a:r>
              <a:rPr lang="en-US" dirty="0"/>
              <a:t> of every node differ by </a:t>
            </a:r>
            <a:r>
              <a:rPr lang="en-US" b="1" dirty="0"/>
              <a:t>at most a small constant</a:t>
            </a:r>
            <a:r>
              <a:rPr lang="en-US" dirty="0"/>
              <a:t> (often 1).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keeps the tree roughly "even" so it doesn’t become skewed.</a:t>
            </a:r>
          </a:p>
        </p:txBody>
      </p:sp>
    </p:spTree>
    <p:extLst>
      <p:ext uri="{BB962C8B-B14F-4D97-AF65-F5344CB8AC3E}">
        <p14:creationId xmlns:p14="http://schemas.microsoft.com/office/powerpoint/2010/main" val="199918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0390-1F7A-B73A-24C3-05BCEE12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Complexity: Skewed BST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7B15B-E7E2-AFEF-89DE-F72235ABD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237"/>
            <a:ext cx="7164334" cy="4172726"/>
          </a:xfrm>
        </p:spPr>
        <p:txBody>
          <a:bodyPr/>
          <a:lstStyle/>
          <a:p>
            <a:r>
              <a:rPr lang="en-US" dirty="0"/>
              <a:t>What does this look like now?</a:t>
            </a:r>
          </a:p>
          <a:p>
            <a:r>
              <a:rPr lang="en-US" dirty="0"/>
              <a:t>What is the complexity of finding an item in this tree?</a:t>
            </a:r>
          </a:p>
          <a:p>
            <a:r>
              <a:rPr lang="en-US" dirty="0"/>
              <a:t>How do you end up with such a skewed tree? </a:t>
            </a:r>
          </a:p>
          <a:p>
            <a:pPr lvl="1"/>
            <a:r>
              <a:rPr lang="en-US" dirty="0"/>
              <a:t>At which order where the items inserted?</a:t>
            </a:r>
          </a:p>
          <a:p>
            <a:r>
              <a:rPr lang="en-US" dirty="0"/>
              <a:t>How to avoid that?</a:t>
            </a:r>
          </a:p>
        </p:txBody>
      </p:sp>
      <p:pic>
        <p:nvPicPr>
          <p:cNvPr id="4" name="Picture 2" descr="BST difference">
            <a:extLst>
              <a:ext uri="{FF2B5EF4-FFF2-40B4-BE49-F238E27FC236}">
                <a16:creationId xmlns:a16="http://schemas.microsoft.com/office/drawing/2014/main" id="{18A941F0-024C-263B-BBC0-7AE98057E1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82" b="8309"/>
          <a:stretch>
            <a:fillRect/>
          </a:stretch>
        </p:blipFill>
        <p:spPr bwMode="auto">
          <a:xfrm>
            <a:off x="7781604" y="1825625"/>
            <a:ext cx="2988677" cy="409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05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7C1E-1FCE-C003-8700-19C4C88A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737CB-43B5-7E57-32D4-2C599652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Guaranteeing Balance: </a:t>
            </a:r>
            <a:r>
              <a:rPr lang="en-US" dirty="0">
                <a:solidFill>
                  <a:srgbClr val="C00000"/>
                </a:solidFill>
              </a:rPr>
              <a:t>Static Construction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3265-663C-3FD6-2597-0F569C937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1934" cy="3151411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b="1" dirty="0"/>
              <a:t>Build it in a balanced way: </a:t>
            </a:r>
            <a:r>
              <a:rPr lang="en-US" dirty="0"/>
              <a:t>If you already have </a:t>
            </a:r>
            <a:r>
              <a:rPr lang="en-US" b="1" dirty="0"/>
              <a:t>all the values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you can guarantee balance by inserting them in a </a:t>
            </a:r>
            <a:r>
              <a:rPr lang="en-US" b="1" dirty="0"/>
              <a:t>middle-first order</a:t>
            </a:r>
            <a:endParaRPr lang="en-US" dirty="0"/>
          </a:p>
          <a:p>
            <a:pPr lvl="1"/>
            <a:r>
              <a:rPr lang="en-US" b="1" dirty="0"/>
              <a:t>Steps:</a:t>
            </a:r>
          </a:p>
          <a:p>
            <a:pPr lvl="2"/>
            <a:r>
              <a:rPr lang="en-US" b="1" dirty="0"/>
              <a:t>Sort</a:t>
            </a:r>
            <a:r>
              <a:rPr lang="en-US" dirty="0"/>
              <a:t> the values (if not already sorted).</a:t>
            </a:r>
          </a:p>
          <a:p>
            <a:pPr lvl="2"/>
            <a:r>
              <a:rPr lang="en-US" dirty="0"/>
              <a:t>Pick the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middle element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/>
              <a:t>→ make it the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root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Recursively:</a:t>
            </a:r>
          </a:p>
          <a:p>
            <a:pPr lvl="3"/>
            <a:r>
              <a:rPr lang="en-US" dirty="0"/>
              <a:t>Make 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middle of the left half </a:t>
            </a:r>
            <a:r>
              <a:rPr lang="en-US" dirty="0"/>
              <a:t>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left child</a:t>
            </a:r>
            <a:r>
              <a:rPr lang="en-US" u="sng" dirty="0"/>
              <a:t>.</a:t>
            </a:r>
          </a:p>
          <a:p>
            <a:pPr lvl="3"/>
            <a:r>
              <a:rPr lang="en-US" dirty="0"/>
              <a:t>Make 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middle of the right half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/>
              <a:t>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right child</a:t>
            </a:r>
            <a:r>
              <a:rPr lang="en-US" dirty="0"/>
              <a:t>.</a:t>
            </a:r>
          </a:p>
        </p:txBody>
      </p:sp>
      <p:pic>
        <p:nvPicPr>
          <p:cNvPr id="5" name="Picture 2" descr="BST difference">
            <a:extLst>
              <a:ext uri="{FF2B5EF4-FFF2-40B4-BE49-F238E27FC236}">
                <a16:creationId xmlns:a16="http://schemas.microsoft.com/office/drawing/2014/main" id="{8DECCCAC-ABCF-7AAA-5367-ADBBB0CAC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7660657" y="2960273"/>
            <a:ext cx="3931971" cy="323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06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7376D-75F5-EB59-4A63-6E6C7088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4B3F-2D7D-A5BF-B19B-2A0BCAE9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Guaranteeing Balance: </a:t>
            </a:r>
            <a:r>
              <a:rPr lang="en-US" dirty="0">
                <a:solidFill>
                  <a:srgbClr val="C00000"/>
                </a:solidFill>
              </a:rPr>
              <a:t>Static Construction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F4C20-22D0-B984-F904-BD709547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1934" cy="1457623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b="1" dirty="0"/>
              <a:t>Build it in a balanced way: </a:t>
            </a:r>
            <a:r>
              <a:rPr lang="en-US" dirty="0"/>
              <a:t>If you already have </a:t>
            </a:r>
            <a:r>
              <a:rPr lang="en-US" b="1" dirty="0"/>
              <a:t>all the values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you can guarantee balance by inserting them in a </a:t>
            </a:r>
            <a:r>
              <a:rPr lang="en-US" b="1" dirty="0"/>
              <a:t>middle-first order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9EB95-A6CB-20F0-5F95-0EDF9F1150D7}"/>
              </a:ext>
            </a:extLst>
          </p:cNvPr>
          <p:cNvSpPr txBox="1"/>
          <p:nvPr/>
        </p:nvSpPr>
        <p:spPr>
          <a:xfrm>
            <a:off x="1269824" y="2891037"/>
            <a:ext cx="818252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Sort the values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[2, 3, 6, 8, 9, 10, 14]</a:t>
            </a:r>
            <a:endParaRPr lang="en-US" dirty="0"/>
          </a:p>
          <a:p>
            <a:pPr>
              <a:buNone/>
            </a:pPr>
            <a:r>
              <a:rPr lang="en-US" b="1" dirty="0"/>
              <a:t>2. Pick the middle element as the root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There are 7 elements → middle index = 3 (0-based)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Middle value → </a:t>
            </a:r>
            <a:r>
              <a:rPr lang="en-US" b="1" dirty="0"/>
              <a:t>[8] </a:t>
            </a:r>
          </a:p>
          <a:p>
            <a:r>
              <a:rPr lang="en-US" b="1" dirty="0"/>
              <a:t>3. Build the left subtree from </a:t>
            </a:r>
            <a:r>
              <a:rPr lang="en-US" b="1" dirty="0">
                <a:latin typeface="Courier New" panose="02070309020205020404" pitchFamily="49" charset="0"/>
              </a:rPr>
              <a:t>[2, 3, 6]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Middle → </a:t>
            </a:r>
            <a:r>
              <a:rPr lang="en-US" b="1" dirty="0"/>
              <a:t>[3] </a:t>
            </a:r>
            <a:r>
              <a:rPr lang="en-US" dirty="0"/>
              <a:t>→ root of left subtree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Left half →</a:t>
            </a:r>
            <a:r>
              <a:rPr lang="en-US" dirty="0">
                <a:latin typeface="Courier New" panose="02070309020205020404" pitchFamily="49" charset="0"/>
              </a:rPr>
              <a:t>[2]</a:t>
            </a:r>
            <a:r>
              <a:rPr lang="en-US" dirty="0"/>
              <a:t> → left child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Right half → </a:t>
            </a:r>
            <a:r>
              <a:rPr lang="en-US" dirty="0">
                <a:latin typeface="Courier New" panose="02070309020205020404" pitchFamily="49" charset="0"/>
              </a:rPr>
              <a:t>[6]</a:t>
            </a:r>
            <a:r>
              <a:rPr lang="en-US" dirty="0"/>
              <a:t> → right child</a:t>
            </a:r>
          </a:p>
          <a:p>
            <a:pPr>
              <a:buNone/>
            </a:pPr>
            <a:r>
              <a:rPr lang="en-US" b="1" dirty="0"/>
              <a:t>4. Build the right subtree from </a:t>
            </a:r>
            <a:r>
              <a:rPr lang="en-US" b="1" dirty="0">
                <a:latin typeface="Courier New" panose="02070309020205020404" pitchFamily="49" charset="0"/>
              </a:rPr>
              <a:t>[9, 10, 14]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Middle → </a:t>
            </a:r>
            <a:r>
              <a:rPr lang="en-US" b="1" dirty="0"/>
              <a:t>[10] </a:t>
            </a:r>
            <a:r>
              <a:rPr lang="en-US" dirty="0"/>
              <a:t>→ root of right subtree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Left half →</a:t>
            </a:r>
            <a:r>
              <a:rPr lang="en-US" dirty="0">
                <a:latin typeface="Courier New" panose="02070309020205020404" pitchFamily="49" charset="0"/>
              </a:rPr>
              <a:t>[9]</a:t>
            </a:r>
            <a:r>
              <a:rPr lang="en-US" dirty="0"/>
              <a:t> → left child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Right half →</a:t>
            </a:r>
            <a:r>
              <a:rPr lang="en-US" dirty="0">
                <a:latin typeface="Courier New" panose="02070309020205020404" pitchFamily="49" charset="0"/>
              </a:rPr>
              <a:t>[14]</a:t>
            </a:r>
            <a:r>
              <a:rPr lang="en-US" dirty="0"/>
              <a:t> → right child</a:t>
            </a:r>
          </a:p>
          <a:p>
            <a:pPr>
              <a:buNone/>
            </a:pPr>
            <a:r>
              <a:rPr lang="en-US" b="1" dirty="0"/>
              <a:t>5. Combine everything: </a:t>
            </a:r>
            <a:r>
              <a:rPr lang="en-US" dirty="0"/>
              <a:t>Attach the left and right subtrees to the main root </a:t>
            </a:r>
            <a:r>
              <a:rPr lang="en-US" b="1" dirty="0"/>
              <a:t>8</a:t>
            </a:r>
            <a:r>
              <a:rPr lang="en-US" dirty="0"/>
              <a:t>:</a:t>
            </a:r>
          </a:p>
        </p:txBody>
      </p:sp>
      <p:pic>
        <p:nvPicPr>
          <p:cNvPr id="9" name="Picture 2" descr="BST difference">
            <a:extLst>
              <a:ext uri="{FF2B5EF4-FFF2-40B4-BE49-F238E27FC236}">
                <a16:creationId xmlns:a16="http://schemas.microsoft.com/office/drawing/2014/main" id="{3A0BBF95-727B-D3CB-24FC-9F71F0E89D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7660657" y="2960273"/>
            <a:ext cx="3931971" cy="323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03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68DFE-AB27-9B44-7703-07B7545F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2A2AE6-AF23-824F-8CB6-0F5A6AC04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315" y="4026528"/>
            <a:ext cx="6305897" cy="25316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4D4FB4-1868-8E25-9D2A-12A03A1D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40" y="365125"/>
            <a:ext cx="1119254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Guaranteeing Balance: </a:t>
            </a:r>
            <a:r>
              <a:rPr lang="en-US" dirty="0">
                <a:solidFill>
                  <a:srgbClr val="C00000"/>
                </a:solidFill>
              </a:rPr>
              <a:t>Dynamic Construction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DC8F-9168-8A97-0396-80A3CA20E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517" y="1929808"/>
            <a:ext cx="10042546" cy="23923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B) Use a self-balancing BST : </a:t>
            </a:r>
            <a:r>
              <a:rPr lang="en-US" dirty="0"/>
              <a:t>If you’re inserting values one at a time (and don’t know all in advance),</a:t>
            </a:r>
          </a:p>
          <a:p>
            <a:pPr marL="0" indent="0">
              <a:buNone/>
            </a:pPr>
            <a:endParaRPr lang="en-US" sz="1000" dirty="0"/>
          </a:p>
          <a:p>
            <a:pPr lvl="1">
              <a:lnSpc>
                <a:spcPct val="100000"/>
              </a:lnSpc>
            </a:pPr>
            <a:r>
              <a:rPr lang="en-US" dirty="0"/>
              <a:t>use a </a:t>
            </a:r>
            <a:r>
              <a:rPr lang="en-US" b="1" dirty="0"/>
              <a:t>self-balancing BST</a:t>
            </a:r>
            <a:r>
              <a:rPr lang="en-US" dirty="0"/>
              <a:t> (AVL, Red-Black, etc.) that rebalances automatically after updates.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By performing specific rotations in the tree nodes</a:t>
            </a:r>
          </a:p>
        </p:txBody>
      </p:sp>
    </p:spTree>
    <p:extLst>
      <p:ext uri="{BB962C8B-B14F-4D97-AF65-F5344CB8AC3E}">
        <p14:creationId xmlns:p14="http://schemas.microsoft.com/office/powerpoint/2010/main" val="3004816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7088-B442-BFD2-5634-9F70FA74F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ive demo @ the staff club, Highfield - Digital Learning">
            <a:extLst>
              <a:ext uri="{FF2B5EF4-FFF2-40B4-BE49-F238E27FC236}">
                <a16:creationId xmlns:a16="http://schemas.microsoft.com/office/drawing/2014/main" id="{8D95BE8B-74A3-4015-05F2-26D2737CC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594" y="1453154"/>
            <a:ext cx="8692828" cy="3616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316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222F-DFC2-C859-3683-5D13BEEB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6A26-C13F-2B48-1895-AC73374092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902710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11656</TotalTime>
  <Words>1393</Words>
  <Application>Microsoft Office PowerPoint</Application>
  <PresentationFormat>Widescreen</PresentationFormat>
  <Paragraphs>314</Paragraphs>
  <Slides>29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Courier New</vt:lpstr>
      <vt:lpstr>Helvetica Neue</vt:lpstr>
      <vt:lpstr>system-ui</vt:lpstr>
      <vt:lpstr>Office Theme</vt:lpstr>
      <vt:lpstr>Binary Search Tree</vt:lpstr>
      <vt:lpstr>Tree Terminology</vt:lpstr>
      <vt:lpstr>Binary Search Tree</vt:lpstr>
      <vt:lpstr>Removal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Remove Code Worked Example</vt:lpstr>
      <vt:lpstr>Efficiency</vt:lpstr>
      <vt:lpstr>BST Basic Operations Complexity</vt:lpstr>
      <vt:lpstr>BST Basic Operations Complexity</vt:lpstr>
      <vt:lpstr>BST Basic Ops Complexity: O(h)  – What is (h) for a tree with (n) nodes?</vt:lpstr>
      <vt:lpstr>BST Basic Ops Complexity: O(h)  – What is (h) for a tree with (n) nodes?</vt:lpstr>
      <vt:lpstr>BST Basic Ops Complexity: O(h)  – What is (h) for a tree with (n) nodes?</vt:lpstr>
      <vt:lpstr>BST Basic Ops Complexity: O(h)  – What is (h) for a tree with (n) nodes?</vt:lpstr>
      <vt:lpstr>BST Basic Ops Complexity: O(h)  – What is (h) for a tree with (n) nodes?</vt:lpstr>
      <vt:lpstr>Log(n) Compared to Other Complexity Classes</vt:lpstr>
      <vt:lpstr>Balanced BST</vt:lpstr>
      <vt:lpstr>Complexity: Skewed BST</vt:lpstr>
      <vt:lpstr>Guaranteeing Balance: Static Construction</vt:lpstr>
      <vt:lpstr>Guaranteeing Balance: Static Construction</vt:lpstr>
      <vt:lpstr>Guaranteeing Balance: Dynamic Construction</vt:lpstr>
      <vt:lpstr>PowerPoint Presentation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 Gedawy</dc:creator>
  <cp:lastModifiedBy>Hend Gedawy</cp:lastModifiedBy>
  <cp:revision>34</cp:revision>
  <dcterms:created xsi:type="dcterms:W3CDTF">2025-10-07T09:47:52Z</dcterms:created>
  <dcterms:modified xsi:type="dcterms:W3CDTF">2025-10-28T12:53:50Z</dcterms:modified>
</cp:coreProperties>
</file>