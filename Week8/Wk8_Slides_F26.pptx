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558" r:id="rId2"/>
    <p:sldId id="260" r:id="rId3"/>
    <p:sldId id="263" r:id="rId4"/>
    <p:sldId id="565" r:id="rId5"/>
    <p:sldId id="576" r:id="rId6"/>
    <p:sldId id="567" r:id="rId7"/>
    <p:sldId id="570" r:id="rId8"/>
    <p:sldId id="572" r:id="rId9"/>
    <p:sldId id="573" r:id="rId10"/>
    <p:sldId id="574" r:id="rId11"/>
    <p:sldId id="575" r:id="rId12"/>
    <p:sldId id="577" r:id="rId13"/>
    <p:sldId id="568" r:id="rId14"/>
    <p:sldId id="579" r:id="rId15"/>
    <p:sldId id="580" r:id="rId16"/>
    <p:sldId id="581" r:id="rId17"/>
    <p:sldId id="583" r:id="rId18"/>
    <p:sldId id="578" r:id="rId19"/>
    <p:sldId id="569" r:id="rId20"/>
    <p:sldId id="582" r:id="rId21"/>
    <p:sldId id="584" r:id="rId22"/>
    <p:sldId id="585" r:id="rId23"/>
    <p:sldId id="586" r:id="rId24"/>
    <p:sldId id="587" r:id="rId25"/>
    <p:sldId id="566" r:id="rId26"/>
    <p:sldId id="624" r:id="rId27"/>
    <p:sldId id="625" r:id="rId28"/>
    <p:sldId id="626" r:id="rId29"/>
    <p:sldId id="627" r:id="rId30"/>
    <p:sldId id="628" r:id="rId31"/>
    <p:sldId id="629" r:id="rId32"/>
    <p:sldId id="630" r:id="rId33"/>
    <p:sldId id="588" r:id="rId34"/>
    <p:sldId id="548" r:id="rId35"/>
    <p:sldId id="549" r:id="rId36"/>
    <p:sldId id="550" r:id="rId37"/>
    <p:sldId id="552" r:id="rId38"/>
    <p:sldId id="551" r:id="rId39"/>
    <p:sldId id="621" r:id="rId40"/>
    <p:sldId id="622" r:id="rId41"/>
    <p:sldId id="623" r:id="rId42"/>
    <p:sldId id="619" r:id="rId43"/>
    <p:sldId id="616" r:id="rId44"/>
    <p:sldId id="615" r:id="rId45"/>
    <p:sldId id="617" r:id="rId46"/>
    <p:sldId id="618" r:id="rId47"/>
    <p:sldId id="589" r:id="rId48"/>
    <p:sldId id="593" r:id="rId49"/>
    <p:sldId id="595" r:id="rId50"/>
    <p:sldId id="603" r:id="rId51"/>
    <p:sldId id="611" r:id="rId52"/>
    <p:sldId id="607" r:id="rId53"/>
    <p:sldId id="608" r:id="rId54"/>
    <p:sldId id="609" r:id="rId55"/>
    <p:sldId id="631" r:id="rId56"/>
    <p:sldId id="592" r:id="rId57"/>
    <p:sldId id="596" r:id="rId58"/>
    <p:sldId id="594" r:id="rId59"/>
    <p:sldId id="597" r:id="rId60"/>
    <p:sldId id="599" r:id="rId61"/>
    <p:sldId id="598" r:id="rId62"/>
    <p:sldId id="590" r:id="rId63"/>
    <p:sldId id="632" r:id="rId64"/>
    <p:sldId id="633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000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4746" autoAdjust="0"/>
  </p:normalViewPr>
  <p:slideViewPr>
    <p:cSldViewPr snapToGrid="0">
      <p:cViewPr varScale="1">
        <p:scale>
          <a:sx n="75" d="100"/>
          <a:sy n="75" d="100"/>
        </p:scale>
        <p:origin x="735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7D91-DAF0-4763-853B-8C89576CC12A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8CA59-AC17-49C7-A2D1-D8F06A983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29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57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25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28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84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14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58CB-87C7-4F5F-1225-15405272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DA6D-E836-D3F2-8DF2-D06C2AE3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210DD-01EE-1F6E-ABD6-48D09E79C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0685-6459-8194-A699-1ABFC3242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3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58D-1D05-D1B3-CBCC-908E28F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52749-FC9A-5881-7CBF-B1EAB4F7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25EB-EFB2-5E27-FD3E-D7E4F8C0A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86669-F556-CC6D-83B3-9CF403052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91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84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14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58CB-87C7-4F5F-1225-15405272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4DA6D-E836-D3F2-8DF2-D06C2AE3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210DD-01EE-1F6E-ABD6-48D09E79C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0685-6459-8194-A699-1ABFC3242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35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58D-1D05-D1B3-CBCC-908E28F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52749-FC9A-5881-7CBF-B1EAB4F7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F25EB-EFB2-5E27-FD3E-D7E4F8C0A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86669-F556-CC6D-83B3-9CF403052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91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167-AB25-5BFD-13E4-5338A66C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425E2-AE3F-0947-3A81-7A4C33F53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8EF27-BBDA-D701-F012-39CD1781B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9224B-2862-2562-D4EC-6C207EE80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95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EC78-BBCD-D6BA-2849-34C9C075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06709-21EE-F5FF-5CF1-DB7AD064B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94EC7-F4ED-BCEA-3F46-15AB7849D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11F3B-7B70-3DD4-CEEF-16C0F62CC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58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99FC4-C007-98B0-FC73-13F75085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494F4-D866-A761-C2FA-B0ACD658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FCC31D-3B42-1942-5497-0E3DD2474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D94AA-2167-06D8-283C-2FA5044EC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18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8D5F-35AA-C8AD-3D80-EFF763CE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D28C7-0D58-69D3-6C8D-82264D3CA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1B977-0A7E-FA6C-96AA-8494F7598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52745-81F7-49B2-89B5-36B5B095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76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24D37-11AC-BB01-702A-CF0B6799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6D331-8E5E-73A9-2F02-A08A5B1E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50195-D879-326C-EBCD-F64B7B0E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1FF30-C589-FC29-B5E0-CA0BBC278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41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F56E2-FB48-8D35-096E-23D110B6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A6BE7-01EA-CCA7-708D-4C08A62F0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0FC18-FE45-B5F5-3539-12177497F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2B75B-7A71-9D45-EFFC-ECF29EB17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32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77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296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5F0C-AF81-05B6-AE6C-D087A585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A0988-D9E1-6E0D-9B4F-10321FBE4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0F57C-FCDC-E24A-5C96-D1BC43D6B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D6A57-B7FE-0079-1520-82334ED6B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201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1C51-BB69-294E-EF2E-8B88856E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CF031-0B4F-4007-A777-56183331D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90E7F-775F-229C-BA45-EF9ECC4B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77239-61D4-186F-5705-02C513254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314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9294-E234-AA13-4D59-D9D55D7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A4848-EBBF-0C51-EBDB-D2C7C5297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2C595-E3A5-D4EE-A204-06E1DE332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10559-662F-255D-9665-F102E94DB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95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1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2EB8-655D-D57C-DA6B-68520229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BD92B-5617-5281-6B0D-CE38FEBE5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A1907-B5A5-15AD-ECF9-C046984DE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0500-6932-554E-6C7D-6D0172F68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042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C835-226C-B9C6-3F62-A698676F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AE98B-DF94-E490-3C37-ED90432B2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DD38F-54EB-B1F6-5D2D-3B017020B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C87E-CA97-04E0-6277-06BB35F99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535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1A0A4-4DB3-EEF1-1331-ADE9DEB3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35606-02AD-A25D-2C8F-35081FD76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C4FEA-A2D8-A2E7-B70C-A5BFFEAFA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45666-7CDC-F02C-F882-2D5F3C7AE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13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95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5771-6506-AE02-5955-3339C2D5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79FC8-F96D-28FD-06D7-905D625F5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33FDB-CCD8-11A2-B165-6FEFA1DE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575E-48B1-D9FF-0653-670BE131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3530-FF98-CC0A-A688-DED2F698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4595-F45B-185B-D8B6-BDF8FE78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8D33-F961-F684-614B-7CE901A7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0950-8B40-327E-6BEA-73601392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13BD-252B-F789-B2A6-082042AD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59DD-6139-AF6A-C97F-E2B1EFB4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A98F-3DFC-76B2-6CEA-3A831490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662A-2148-7A3C-604C-00AA976B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0784-5F12-5FCF-D51D-B2D5F64A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838D-02FD-638E-3945-C2EC80F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1DF3-C60E-CBA5-E23E-1AC70C19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9340-B617-CC5D-7682-F3A73B32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D211-586B-E8CF-3D9B-F83734EA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DE551-F838-11EF-4876-D365AEF2F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6BFC-0020-6D68-0D4D-09E78E10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3A3D6-1A2A-0354-C91D-6696811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20CF2-D0AB-A18F-3CC0-E0C1EA8A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8B01-715C-6681-669D-E4D88FF3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E54A-F791-3A97-47A2-EC4EDBB6C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C6024-64BE-5661-954E-7EAB3A40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32738-1A18-95F3-7BB9-CC190B4B8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A5D3-8791-D5C8-AF0F-F6C1A586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0EC8F-F029-602F-E1D0-F8FDA70C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38FEF-8247-A965-8286-806B94E6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99D24-7A73-61C1-7C21-7AE006A1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2F2B-4B6D-8DC0-B064-8C4F3650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219F5-FC76-45AD-4440-E1297CCF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39A41-79F6-F3E9-5AA8-E1DBAE4E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E3F9-D69A-1FFB-D441-0FF4CA26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2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9D4CA-AF11-A881-1919-EE02F24D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84056-98A4-62E2-12FA-0DDF9909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BB9D2-7FB3-C0F9-9F42-7ABAC8F1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8B5F-BCCD-C71C-4B1F-E0E3BA93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66F7-573F-20CD-B0D9-C4D19561B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6FBC-CDE2-13CF-44FC-E14320BCF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17FB-B552-B1E6-C274-C8F36D79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E04BC-6413-E8FF-7474-00357DD2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28B79-8114-2CD7-EFFD-CA51E643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617B-4E3F-2FBC-0D2C-CFEA2DD7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0BBC4-7498-D68A-BCD0-D1C9C48D8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5D728-E93F-779A-36FB-1D04B3867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00E8-533E-C204-8227-1F6B11A7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4001-492C-81AD-39A5-1CEACEDB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4893-A5B2-0EC8-2BAC-891894FA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A0C6-3D07-8603-3B4A-E31C209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E485E-DA75-86A0-C93A-C078FEB2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7476-1D84-9B3C-D40F-A87204B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7E1A-E9A5-7399-B972-16358D6D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5A32-C0FE-DBF2-8ADD-0B3860A7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6DE25-9315-462C-4445-E32985CD7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355BD-AFB7-2600-949F-B1ECB270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DD26-7CBE-6FFA-0A7C-D37027BA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9A51-ED47-73D0-1D2F-61527CD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7A65-4DBB-6707-54ED-B95538A7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5D44A-48DD-CBF6-FD31-166A7E52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0D83-66E3-9821-8701-D852E91F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B94F-D0EE-7989-F4FB-ED9CD6C13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A9E35-212F-49D4-A32F-B4AB0D76B5D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1D39-52CE-7F00-C734-95F164893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F8D9-A022-80E0-FAAC-0C132F3D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5CF7-DB55-96EF-6C84-39CCA728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439E-D5C7-DDFB-2F91-AD4B8596D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378542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55E852-E8B1-0801-C3B3-2A9CBA64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35" y="1929447"/>
            <a:ext cx="5936445" cy="36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20B7D-167F-8278-270A-52FFA7ED95B1}"/>
              </a:ext>
            </a:extLst>
          </p:cNvPr>
          <p:cNvCxnSpPr/>
          <p:nvPr/>
        </p:nvCxnSpPr>
        <p:spPr>
          <a:xfrm>
            <a:off x="2257832" y="221449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3766811-7DA3-9265-0D17-E077B38A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Tree 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6400-3996-2D9F-6B3C-F703B0CB1F7A}"/>
              </a:ext>
            </a:extLst>
          </p:cNvPr>
          <p:cNvCxnSpPr/>
          <p:nvPr/>
        </p:nvCxnSpPr>
        <p:spPr>
          <a:xfrm>
            <a:off x="2257832" y="3242291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E05A1B-BB9D-79B7-EEA6-04611BE9379C}"/>
              </a:ext>
            </a:extLst>
          </p:cNvPr>
          <p:cNvCxnSpPr/>
          <p:nvPr/>
        </p:nvCxnSpPr>
        <p:spPr>
          <a:xfrm>
            <a:off x="2257832" y="425520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7E7D9C-D3EF-25AA-0A15-144E606F5536}"/>
              </a:ext>
            </a:extLst>
          </p:cNvPr>
          <p:cNvCxnSpPr/>
          <p:nvPr/>
        </p:nvCxnSpPr>
        <p:spPr>
          <a:xfrm>
            <a:off x="2257832" y="5268117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10B3344-78A1-5C84-6F0C-9C382E83935F}"/>
              </a:ext>
            </a:extLst>
          </p:cNvPr>
          <p:cNvSpPr/>
          <p:nvPr/>
        </p:nvSpPr>
        <p:spPr>
          <a:xfrm>
            <a:off x="5057369" y="1975576"/>
            <a:ext cx="749721" cy="5206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7AA82-9113-4105-26B4-B42C4D15BC0A}"/>
              </a:ext>
            </a:extLst>
          </p:cNvPr>
          <p:cNvSpPr txBox="1"/>
          <p:nvPr/>
        </p:nvSpPr>
        <p:spPr>
          <a:xfrm>
            <a:off x="5606299" y="1269678"/>
            <a:ext cx="82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root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83E8A-C269-BFDF-5622-85F73F4661C9}"/>
              </a:ext>
            </a:extLst>
          </p:cNvPr>
          <p:cNvCxnSpPr>
            <a:stCxn id="12" idx="2"/>
          </p:cNvCxnSpPr>
          <p:nvPr/>
        </p:nvCxnSpPr>
        <p:spPr>
          <a:xfrm flipH="1">
            <a:off x="5607742" y="1639010"/>
            <a:ext cx="408809" cy="33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3EC9C7-D750-A43C-B0BF-55532F858C3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047587" y="1851440"/>
            <a:ext cx="49837" cy="115177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05D9E6-194A-5015-744B-5A2CD82F7391}"/>
              </a:ext>
            </a:extLst>
          </p:cNvPr>
          <p:cNvSpPr txBox="1"/>
          <p:nvPr/>
        </p:nvSpPr>
        <p:spPr>
          <a:xfrm>
            <a:off x="7557884" y="1482108"/>
            <a:ext cx="107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child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BD1E6E-7EAE-C7A6-E7CA-605D6E4BDD42}"/>
              </a:ext>
            </a:extLst>
          </p:cNvPr>
          <p:cNvCxnSpPr>
            <a:cxnSpLocks/>
          </p:cNvCxnSpPr>
          <p:nvPr/>
        </p:nvCxnSpPr>
        <p:spPr>
          <a:xfrm flipV="1">
            <a:off x="5922256" y="5548644"/>
            <a:ext cx="126002" cy="5656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C79179-BFE1-71CE-0A8F-B311FCF73707}"/>
              </a:ext>
            </a:extLst>
          </p:cNvPr>
          <p:cNvSpPr txBox="1"/>
          <p:nvPr/>
        </p:nvSpPr>
        <p:spPr>
          <a:xfrm>
            <a:off x="4940360" y="6154017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Leaf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251890C3-BFDD-3A6E-1F4B-32D009B7C83F}"/>
              </a:ext>
            </a:extLst>
          </p:cNvPr>
          <p:cNvCxnSpPr>
            <a:cxnSpLocks/>
            <a:stCxn id="1025" idx="2"/>
          </p:cNvCxnSpPr>
          <p:nvPr/>
        </p:nvCxnSpPr>
        <p:spPr>
          <a:xfrm flipH="1">
            <a:off x="6623983" y="1352426"/>
            <a:ext cx="799560" cy="13734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1A5089B-5535-D923-AEDC-0DB8AEF99BB5}"/>
              </a:ext>
            </a:extLst>
          </p:cNvPr>
          <p:cNvSpPr txBox="1"/>
          <p:nvPr/>
        </p:nvSpPr>
        <p:spPr>
          <a:xfrm>
            <a:off x="6426803" y="983094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edge</a:t>
            </a:r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D1F68B7C-41CD-72E0-62E7-3CEBB1A825E9}"/>
              </a:ext>
            </a:extLst>
          </p:cNvPr>
          <p:cNvSpPr/>
          <p:nvPr/>
        </p:nvSpPr>
        <p:spPr>
          <a:xfrm>
            <a:off x="2693726" y="2595241"/>
            <a:ext cx="2938214" cy="2065756"/>
          </a:xfrm>
          <a:prstGeom prst="triangl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F01755-2856-AEC3-1B20-B9296923A66D}"/>
              </a:ext>
            </a:extLst>
          </p:cNvPr>
          <p:cNvSpPr txBox="1"/>
          <p:nvPr/>
        </p:nvSpPr>
        <p:spPr>
          <a:xfrm rot="18300317">
            <a:off x="2552519" y="3264216"/>
            <a:ext cx="163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subtree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2BA96CED-B31C-94A5-72B8-CEE38B625DEC}"/>
              </a:ext>
            </a:extLst>
          </p:cNvPr>
          <p:cNvSpPr/>
          <p:nvPr/>
        </p:nvSpPr>
        <p:spPr>
          <a:xfrm>
            <a:off x="5039727" y="1969075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22BB6286-C6C7-61A1-3EB6-C858F60BDD7F}"/>
              </a:ext>
            </a:extLst>
          </p:cNvPr>
          <p:cNvSpPr/>
          <p:nvPr/>
        </p:nvSpPr>
        <p:spPr>
          <a:xfrm>
            <a:off x="7557884" y="2981627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1E356A3E-6900-2BC1-4E9D-34C6BA34CFA4}"/>
              </a:ext>
            </a:extLst>
          </p:cNvPr>
          <p:cNvSpPr/>
          <p:nvPr/>
        </p:nvSpPr>
        <p:spPr>
          <a:xfrm>
            <a:off x="8189151" y="3988039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8B2A7F76-4836-481C-71DF-85C1F90813DC}"/>
              </a:ext>
            </a:extLst>
          </p:cNvPr>
          <p:cNvSpPr txBox="1"/>
          <p:nvPr/>
        </p:nvSpPr>
        <p:spPr>
          <a:xfrm>
            <a:off x="9889097" y="2044712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0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D019FFA-E85D-79B9-88A4-F7E968C55F0E}"/>
              </a:ext>
            </a:extLst>
          </p:cNvPr>
          <p:cNvSpPr txBox="1"/>
          <p:nvPr/>
        </p:nvSpPr>
        <p:spPr>
          <a:xfrm>
            <a:off x="9889097" y="305726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1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37C9969-6F84-8C6C-A511-71234123CE8B}"/>
              </a:ext>
            </a:extLst>
          </p:cNvPr>
          <p:cNvSpPr txBox="1"/>
          <p:nvPr/>
        </p:nvSpPr>
        <p:spPr>
          <a:xfrm>
            <a:off x="9963060" y="408824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13D3E32-5A11-85BF-1B9D-7ED6F14CDA53}"/>
              </a:ext>
            </a:extLst>
          </p:cNvPr>
          <p:cNvSpPr txBox="1"/>
          <p:nvPr/>
        </p:nvSpPr>
        <p:spPr>
          <a:xfrm>
            <a:off x="9963060" y="5047420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3</a:t>
            </a:r>
          </a:p>
        </p:txBody>
      </p:sp>
      <p:sp>
        <p:nvSpPr>
          <p:cNvPr id="1044" name="Arrow: Up-Down 1043">
            <a:extLst>
              <a:ext uri="{FF2B5EF4-FFF2-40B4-BE49-F238E27FC236}">
                <a16:creationId xmlns:a16="http://schemas.microsoft.com/office/drawing/2014/main" id="{E68DFD99-6B34-B581-2392-AF9B0D1EB6E6}"/>
              </a:ext>
            </a:extLst>
          </p:cNvPr>
          <p:cNvSpPr/>
          <p:nvPr/>
        </p:nvSpPr>
        <p:spPr>
          <a:xfrm>
            <a:off x="1161022" y="1975576"/>
            <a:ext cx="988470" cy="3543300"/>
          </a:xfrm>
          <a:prstGeom prst="up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66CE5D2-6BF6-235F-46AA-DBEC47887003}"/>
              </a:ext>
            </a:extLst>
          </p:cNvPr>
          <p:cNvSpPr txBox="1"/>
          <p:nvPr/>
        </p:nvSpPr>
        <p:spPr>
          <a:xfrm rot="16200000">
            <a:off x="92770" y="3477976"/>
            <a:ext cx="30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Height of the Tree</a:t>
            </a:r>
          </a:p>
        </p:txBody>
      </p:sp>
    </p:spTree>
    <p:extLst>
      <p:ext uri="{BB962C8B-B14F-4D97-AF65-F5344CB8AC3E}">
        <p14:creationId xmlns:p14="http://schemas.microsoft.com/office/powerpoint/2010/main" val="131391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2E8C-057F-2972-DADE-B8070E26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Binary Search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20E022-DDBD-60EF-AEA8-4A9DCE35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7" y="1968781"/>
            <a:ext cx="5308122" cy="327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6B619-A43F-DAC5-ACEC-339B313A7B2A}"/>
              </a:ext>
            </a:extLst>
          </p:cNvPr>
          <p:cNvSpPr txBox="1"/>
          <p:nvPr/>
        </p:nvSpPr>
        <p:spPr>
          <a:xfrm>
            <a:off x="6439516" y="2454577"/>
            <a:ext cx="4563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A node can have at most 2 children: left and right.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left subtree of a node always contains values less than the node.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right subtree of a node always contains values greater than the node.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39D1-8B38-2791-9AB9-D32C9709E9CC}"/>
              </a:ext>
            </a:extLst>
          </p:cNvPr>
          <p:cNvSpPr txBox="1"/>
          <p:nvPr/>
        </p:nvSpPr>
        <p:spPr>
          <a:xfrm>
            <a:off x="6348510" y="1841800"/>
            <a:ext cx="300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C00000"/>
                </a:solidFill>
              </a:rPr>
              <a:t>For Every Node: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70FB5-0C7B-A13F-DF53-82654A476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" y="5518488"/>
            <a:ext cx="6058211" cy="10668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9C0B5CB-60E8-5C7B-2841-336A3E959966}"/>
              </a:ext>
            </a:extLst>
          </p:cNvPr>
          <p:cNvSpPr/>
          <p:nvPr/>
        </p:nvSpPr>
        <p:spPr>
          <a:xfrm>
            <a:off x="572655" y="3756270"/>
            <a:ext cx="877454" cy="640240"/>
          </a:xfrm>
          <a:prstGeom prst="ellipse">
            <a:avLst/>
          </a:prstGeom>
          <a:solidFill>
            <a:srgbClr val="A6CAE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BBC8A-E9F9-C23C-1E3E-625AF0568EDE}"/>
              </a:ext>
            </a:extLst>
          </p:cNvPr>
          <p:cNvSpPr/>
          <p:nvPr/>
        </p:nvSpPr>
        <p:spPr>
          <a:xfrm>
            <a:off x="5110767" y="3756270"/>
            <a:ext cx="877454" cy="64024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4F71F-0018-188C-693B-7A5F30140641}"/>
              </a:ext>
            </a:extLst>
          </p:cNvPr>
          <p:cNvSpPr txBox="1"/>
          <p:nvPr/>
        </p:nvSpPr>
        <p:spPr>
          <a:xfrm>
            <a:off x="50800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Smallest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E83F26-4E84-8D97-209F-D2D140BE32A6}"/>
              </a:ext>
            </a:extLst>
          </p:cNvPr>
          <p:cNvSpPr txBox="1"/>
          <p:nvPr/>
        </p:nvSpPr>
        <p:spPr>
          <a:xfrm>
            <a:off x="510343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Largest</a:t>
            </a:r>
          </a:p>
        </p:txBody>
      </p:sp>
    </p:spTree>
    <p:extLst>
      <p:ext uri="{BB962C8B-B14F-4D97-AF65-F5344CB8AC3E}">
        <p14:creationId xmlns:p14="http://schemas.microsoft.com/office/powerpoint/2010/main" val="42486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36B1-1FC2-D9E9-9D97-EF7DEA7B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E431-52F5-1735-1123-769FD4E2DA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Traversal</a:t>
            </a:r>
          </a:p>
        </p:txBody>
      </p:sp>
    </p:spTree>
    <p:extLst>
      <p:ext uri="{BB962C8B-B14F-4D97-AF65-F5344CB8AC3E}">
        <p14:creationId xmlns:p14="http://schemas.microsoft.com/office/powerpoint/2010/main" val="383982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381E4-DF21-CB68-0F20-DE8D1615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9AC6-C801-F656-EFB2-8CEAA2715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950" y="427127"/>
            <a:ext cx="9144000" cy="1578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In-Order Traversal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191C9DC-B996-273A-2D44-5725A592B654}"/>
              </a:ext>
            </a:extLst>
          </p:cNvPr>
          <p:cNvGrpSpPr/>
          <p:nvPr/>
        </p:nvGrpSpPr>
        <p:grpSpPr>
          <a:xfrm>
            <a:off x="4657928" y="3227154"/>
            <a:ext cx="2285925" cy="2027564"/>
            <a:chOff x="5066852" y="3522489"/>
            <a:chExt cx="2285925" cy="202756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03FD86D6-435D-74B8-036C-0C619F4EA9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57" r="64251" b="27021"/>
            <a:stretch>
              <a:fillRect/>
            </a:stretch>
          </p:blipFill>
          <p:spPr bwMode="auto">
            <a:xfrm>
              <a:off x="5066852" y="3795384"/>
              <a:ext cx="2285925" cy="1754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DEB8F5C-B238-39A9-BE7D-03B2B5D8CA0B}"/>
                </a:ext>
              </a:extLst>
            </p:cNvPr>
            <p:cNvSpPr/>
            <p:nvPr/>
          </p:nvSpPr>
          <p:spPr>
            <a:xfrm>
              <a:off x="6338170" y="3522489"/>
              <a:ext cx="713983" cy="398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83ABF9F-041E-D529-E8BD-8580379C0DC6}"/>
              </a:ext>
            </a:extLst>
          </p:cNvPr>
          <p:cNvSpPr txBox="1"/>
          <p:nvPr/>
        </p:nvSpPr>
        <p:spPr>
          <a:xfrm>
            <a:off x="3443229" y="4646316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1) 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6F1F2A-CB74-E5C1-A7AB-685AF8C28FB5}"/>
              </a:ext>
            </a:extLst>
          </p:cNvPr>
          <p:cNvCxnSpPr/>
          <p:nvPr/>
        </p:nvCxnSpPr>
        <p:spPr>
          <a:xfrm flipV="1">
            <a:off x="4415994" y="3578855"/>
            <a:ext cx="527278" cy="7032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63B1E4-D18A-39E3-7547-6F07A7C5C8D5}"/>
              </a:ext>
            </a:extLst>
          </p:cNvPr>
          <p:cNvSpPr txBox="1"/>
          <p:nvPr/>
        </p:nvSpPr>
        <p:spPr>
          <a:xfrm>
            <a:off x="5444907" y="3040369"/>
            <a:ext cx="110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2) </a:t>
            </a:r>
            <a:r>
              <a:rPr lang="en-US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92E0DD-6C6E-3CB1-A5DC-E1FA32513CC5}"/>
              </a:ext>
            </a:extLst>
          </p:cNvPr>
          <p:cNvSpPr txBox="1"/>
          <p:nvPr/>
        </p:nvSpPr>
        <p:spPr>
          <a:xfrm>
            <a:off x="7499663" y="4646316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3) </a:t>
            </a:r>
            <a:r>
              <a:rPr lang="en-US" dirty="0">
                <a:solidFill>
                  <a:srgbClr val="FF0000"/>
                </a:solidFill>
              </a:rPr>
              <a:t>Right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81F5EB-6C3A-F0FD-4578-848B401A11FD}"/>
              </a:ext>
            </a:extLst>
          </p:cNvPr>
          <p:cNvCxnSpPr>
            <a:cxnSpLocks/>
          </p:cNvCxnSpPr>
          <p:nvPr/>
        </p:nvCxnSpPr>
        <p:spPr>
          <a:xfrm>
            <a:off x="6599757" y="3562702"/>
            <a:ext cx="597666" cy="735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89A52F-2AC2-5B71-A8A9-A31C1965CD68}"/>
              </a:ext>
            </a:extLst>
          </p:cNvPr>
          <p:cNvSpPr txBox="1"/>
          <p:nvPr/>
        </p:nvSpPr>
        <p:spPr>
          <a:xfrm>
            <a:off x="5002320" y="5833734"/>
            <a:ext cx="58942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2686847-00DC-A7F1-A46C-59FFF66F60C2}"/>
              </a:ext>
            </a:extLst>
          </p:cNvPr>
          <p:cNvCxnSpPr>
            <a:cxnSpLocks/>
          </p:cNvCxnSpPr>
          <p:nvPr/>
        </p:nvCxnSpPr>
        <p:spPr>
          <a:xfrm flipH="1">
            <a:off x="4679633" y="3806517"/>
            <a:ext cx="530761" cy="698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752BA7-1817-CA69-6CBB-C8084B9FB8B6}"/>
              </a:ext>
            </a:extLst>
          </p:cNvPr>
          <p:cNvSpPr txBox="1"/>
          <p:nvPr/>
        </p:nvSpPr>
        <p:spPr>
          <a:xfrm>
            <a:off x="6189308" y="5833734"/>
            <a:ext cx="533636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70E82-8768-9B42-FCAA-B8EF1B362D31}"/>
              </a:ext>
            </a:extLst>
          </p:cNvPr>
          <p:cNvSpPr txBox="1"/>
          <p:nvPr/>
        </p:nvSpPr>
        <p:spPr>
          <a:xfrm>
            <a:off x="5623709" y="5833734"/>
            <a:ext cx="53363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0A98FD3-1881-5415-7293-C3EF461A7BE4}"/>
              </a:ext>
            </a:extLst>
          </p:cNvPr>
          <p:cNvSpPr txBox="1">
            <a:spLocks/>
          </p:cNvSpPr>
          <p:nvPr/>
        </p:nvSpPr>
        <p:spPr>
          <a:xfrm>
            <a:off x="1782362" y="2067740"/>
            <a:ext cx="8293767" cy="568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Left – Node – Right</a:t>
            </a:r>
            <a:r>
              <a:rPr lang="en-US" sz="32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243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5" grpId="0" animBg="1"/>
      <p:bldP spid="14" grpId="0" animBg="1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07C2-79D2-43DB-3A48-532288393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C0ACA-7A81-5857-898B-E41C98736B8E}"/>
              </a:ext>
            </a:extLst>
          </p:cNvPr>
          <p:cNvSpPr txBox="1"/>
          <p:nvPr/>
        </p:nvSpPr>
        <p:spPr>
          <a:xfrm>
            <a:off x="5024582" y="2245934"/>
            <a:ext cx="7249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“To traverse a BST </a:t>
            </a:r>
            <a:r>
              <a:rPr lang="en-US" sz="3600" i="1" dirty="0"/>
              <a:t>in order</a:t>
            </a:r>
            <a:r>
              <a:rPr lang="en-US" sz="3600" dirty="0"/>
              <a:t>, do the following at every node:</a:t>
            </a:r>
            <a:br>
              <a:rPr lang="en-US" sz="3600" dirty="0"/>
            </a:br>
            <a:r>
              <a:rPr lang="en-US" sz="3600" dirty="0"/>
              <a:t>1️⃣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left</a:t>
            </a:r>
            <a:r>
              <a:rPr lang="en-US" sz="3600" dirty="0"/>
              <a:t> subtree.</a:t>
            </a:r>
            <a:br>
              <a:rPr lang="en-US" sz="3600" dirty="0"/>
            </a:br>
            <a:r>
              <a:rPr lang="en-US" sz="3600" dirty="0"/>
              <a:t>2️⃣ </a:t>
            </a:r>
            <a:r>
              <a:rPr lang="en-US" sz="3600" i="1" dirty="0"/>
              <a:t>Visit</a:t>
            </a:r>
            <a:r>
              <a:rPr lang="en-US" sz="3600" dirty="0"/>
              <a:t> (or print) the </a:t>
            </a:r>
            <a:r>
              <a:rPr lang="en-US" sz="3600" b="1" dirty="0"/>
              <a:t>current</a:t>
            </a:r>
            <a:r>
              <a:rPr lang="en-US" sz="3600" dirty="0"/>
              <a:t> node.</a:t>
            </a:r>
            <a:br>
              <a:rPr lang="en-US" sz="3600" dirty="0"/>
            </a:br>
            <a:r>
              <a:rPr lang="en-US" sz="3600" dirty="0"/>
              <a:t>3️⃣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right</a:t>
            </a:r>
            <a:r>
              <a:rPr lang="en-US" sz="3600" dirty="0"/>
              <a:t> subtree.”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9534DE-687C-9AD6-58F4-54BEAAD8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7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DF06-7C4B-0147-BE77-A1A7ADC3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787D-0EFF-E6F0-827E-49DC116E2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1A4159-213F-6EB0-7D29-6D1378C0C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602521-05ED-CA54-8938-11081885C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F97DA52-7FCC-9652-9971-6DB2C3943A06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ABF75-8791-F74B-8CF1-72E578112305}"/>
              </a:ext>
            </a:extLst>
          </p:cNvPr>
          <p:cNvSpPr/>
          <p:nvPr/>
        </p:nvSpPr>
        <p:spPr>
          <a:xfrm>
            <a:off x="1578279" y="335697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DFD5FC-05A0-A343-86D2-3E37714C1411}"/>
              </a:ext>
            </a:extLst>
          </p:cNvPr>
          <p:cNvSpPr/>
          <p:nvPr/>
        </p:nvSpPr>
        <p:spPr>
          <a:xfrm>
            <a:off x="434235" y="448640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F990F9-5DDE-9083-68E6-0D54CF1EE9A9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0AAE3-C1C4-4C70-AF68-881BDDABED7F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1F1B1-0F0C-FC58-1939-5ED5BA3418A6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5BCB27E-A666-8DC6-415C-F210FC711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435CD-8D0E-5FFA-AF99-47B91E9AB87B}"/>
              </a:ext>
            </a:extLst>
          </p:cNvPr>
          <p:cNvSpPr/>
          <p:nvPr/>
        </p:nvSpPr>
        <p:spPr>
          <a:xfrm>
            <a:off x="5198301" y="3754676"/>
            <a:ext cx="6461887" cy="1778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115FEE-4339-72D3-857E-7ED37BCC6140}"/>
              </a:ext>
            </a:extLst>
          </p:cNvPr>
          <p:cNvSpPr/>
          <p:nvPr/>
        </p:nvSpPr>
        <p:spPr>
          <a:xfrm>
            <a:off x="5303294" y="2923060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6B433-B47A-F8DF-D356-4BACEF08A82D}"/>
              </a:ext>
            </a:extLst>
          </p:cNvPr>
          <p:cNvSpPr/>
          <p:nvPr/>
        </p:nvSpPr>
        <p:spPr>
          <a:xfrm>
            <a:off x="4813844" y="3334221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6C16E6-D9F1-7E9F-B127-A5C3BCC5D8B5}"/>
              </a:ext>
            </a:extLst>
          </p:cNvPr>
          <p:cNvSpPr/>
          <p:nvPr/>
        </p:nvSpPr>
        <p:spPr>
          <a:xfrm>
            <a:off x="8131293" y="3283183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10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BD48-0609-2F8E-87CD-17514BB4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D5C6-F915-9911-321C-A92D7226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CFF07-5698-941A-F2E6-7D26502D4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474ED-5AA8-2E1A-07C8-3F3B0D41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76A9D65-2D27-26E7-9019-D6123040D4B7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9FE66-9120-7941-23D5-3369E564459F}"/>
              </a:ext>
            </a:extLst>
          </p:cNvPr>
          <p:cNvSpPr/>
          <p:nvPr/>
        </p:nvSpPr>
        <p:spPr>
          <a:xfrm>
            <a:off x="1578279" y="335697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046943-1B4A-7AA0-588B-C4462DA23AC9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68EEF6-E077-5D29-D048-2E0C1C9AABA2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6136EE-9A0F-7703-E42D-7BA33A0486FF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24C8E0-CD13-6234-A9F7-93A29C1497EE}"/>
              </a:ext>
            </a:extLst>
          </p:cNvPr>
          <p:cNvSpPr/>
          <p:nvPr/>
        </p:nvSpPr>
        <p:spPr>
          <a:xfrm>
            <a:off x="1592893" y="444256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648697-4697-3716-AA73-12BAD49D57F3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13D227-95F7-8AA9-BB6B-3E2996733CDA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B9B493-79C2-81FA-03D9-193CD99DF7EB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635F2-8680-E828-5DB0-044F99510943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2C5910-7F63-2008-6C2F-A20C3075CEC8}"/>
              </a:ext>
            </a:extLst>
          </p:cNvPr>
          <p:cNvSpPr/>
          <p:nvPr/>
        </p:nvSpPr>
        <p:spPr>
          <a:xfrm>
            <a:off x="434235" y="448640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BF7CB1D0-2BF2-93FC-4B01-B9C8EE42A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1F7C77-5BFA-4F63-FF77-03E4C9334048}"/>
              </a:ext>
            </a:extLst>
          </p:cNvPr>
          <p:cNvSpPr/>
          <p:nvPr/>
        </p:nvSpPr>
        <p:spPr>
          <a:xfrm>
            <a:off x="5198301" y="4486404"/>
            <a:ext cx="6461887" cy="1046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E156B9-0981-07BF-841B-6E9365B1F87C}"/>
              </a:ext>
            </a:extLst>
          </p:cNvPr>
          <p:cNvSpPr/>
          <p:nvPr/>
        </p:nvSpPr>
        <p:spPr>
          <a:xfrm>
            <a:off x="5259453" y="3717098"/>
            <a:ext cx="3367414" cy="433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40D8AD-4E4D-5CBC-8CC9-FDA07DA51916}"/>
              </a:ext>
            </a:extLst>
          </p:cNvPr>
          <p:cNvSpPr/>
          <p:nvPr/>
        </p:nvSpPr>
        <p:spPr>
          <a:xfrm>
            <a:off x="5303294" y="4128259"/>
            <a:ext cx="2170656" cy="35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A0CA2-6082-406F-5F34-12049D9701B4}"/>
              </a:ext>
            </a:extLst>
          </p:cNvPr>
          <p:cNvSpPr/>
          <p:nvPr/>
        </p:nvSpPr>
        <p:spPr>
          <a:xfrm>
            <a:off x="7484433" y="4151013"/>
            <a:ext cx="2170656" cy="35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9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3D4F-322F-00D1-D61B-035520FF6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A9B2-D8AA-2D91-4BC1-93683E3C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B8EBAA-610E-E74C-04A5-18D8397D7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0FA47-3756-19CD-ABC3-B27C8700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4499647-CFCD-DB67-925C-C332CD860D44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6FD2F5-B009-2B7D-9BEC-D5C757ACF1A7}"/>
              </a:ext>
            </a:extLst>
          </p:cNvPr>
          <p:cNvSpPr/>
          <p:nvPr/>
        </p:nvSpPr>
        <p:spPr>
          <a:xfrm>
            <a:off x="1578279" y="335697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CE16A0-1D18-C414-6439-B05F69C7DD9F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695CE5-09F6-1D11-43B3-606613D08A36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45D1E-F05A-076F-9732-E783144E7146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AC55BF-CFB0-B06D-61EC-B01A2FD62FBB}"/>
              </a:ext>
            </a:extLst>
          </p:cNvPr>
          <p:cNvSpPr/>
          <p:nvPr/>
        </p:nvSpPr>
        <p:spPr>
          <a:xfrm>
            <a:off x="1592893" y="444256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5ABF85-2997-C1BC-6A81-32847320AC40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AD3B8E-5570-DBBE-1619-BBDE6E45EA24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46BB97-5897-9DAA-219F-0E97C87F94C2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1B2DE2-AE99-F793-E461-157D2C5D012D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415F7B-383A-CDDB-7F6D-09AE7FBC1362}"/>
              </a:ext>
            </a:extLst>
          </p:cNvPr>
          <p:cNvSpPr/>
          <p:nvPr/>
        </p:nvSpPr>
        <p:spPr>
          <a:xfrm>
            <a:off x="2257479" y="222433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B8C714-37D5-05D2-A9AB-49C6B1D7914C}"/>
              </a:ext>
            </a:extLst>
          </p:cNvPr>
          <p:cNvSpPr/>
          <p:nvPr/>
        </p:nvSpPr>
        <p:spPr>
          <a:xfrm>
            <a:off x="3134636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10888838-B08C-EE6E-C590-150B18220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495B71-6C04-E8F2-2D40-DD09AB2E1E55}"/>
              </a:ext>
            </a:extLst>
          </p:cNvPr>
          <p:cNvSpPr/>
          <p:nvPr/>
        </p:nvSpPr>
        <p:spPr>
          <a:xfrm>
            <a:off x="5198301" y="4813124"/>
            <a:ext cx="6461887" cy="720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BF7FAD-F0B9-DC0D-EF18-83F6C01F54FA}"/>
              </a:ext>
            </a:extLst>
          </p:cNvPr>
          <p:cNvSpPr/>
          <p:nvPr/>
        </p:nvSpPr>
        <p:spPr>
          <a:xfrm>
            <a:off x="5330435" y="4501665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D9140D-F264-A521-E498-DAB52C249A5D}"/>
              </a:ext>
            </a:extLst>
          </p:cNvPr>
          <p:cNvSpPr/>
          <p:nvPr/>
        </p:nvSpPr>
        <p:spPr>
          <a:xfrm>
            <a:off x="6864101" y="4505811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5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5" grpId="0" animBg="1"/>
      <p:bldP spid="10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2969-D746-87B8-53E6-CE82FB3B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6AB52-4488-8FFA-67C9-B29D02DCA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23FEB2-BCB3-18C3-E67D-7B939B95A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799B72-A188-FD53-E399-AF2FB078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5C5B912-6D51-CBC6-E2CE-CA4F344A5452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FF20A7-6FCF-B108-03FB-01A6235D3C13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B24C36-033A-77A8-F723-9444B0C1D69F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FFE6E8-0969-B872-A6CE-EDFA11F6ADB8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AC06C5-E2B9-4908-C58D-8CA6AAF34966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A3BDC1-E5CB-CBBD-F579-E91DED845828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813A9-B614-6EBF-EEA8-5ABAE05327AC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83EA1B-205E-01CD-D202-D511E964EED6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05F107-B80B-0498-E2AA-77040BD8BBA7}"/>
              </a:ext>
            </a:extLst>
          </p:cNvPr>
          <p:cNvSpPr/>
          <p:nvPr/>
        </p:nvSpPr>
        <p:spPr>
          <a:xfrm>
            <a:off x="2257479" y="222433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9C47F2-A406-0AC7-B5BD-4C96CF355A46}"/>
              </a:ext>
            </a:extLst>
          </p:cNvPr>
          <p:cNvSpPr/>
          <p:nvPr/>
        </p:nvSpPr>
        <p:spPr>
          <a:xfrm>
            <a:off x="3134636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FE6F1E-BCB7-06AD-1243-C1B7AA827BF8}"/>
              </a:ext>
            </a:extLst>
          </p:cNvPr>
          <p:cNvSpPr/>
          <p:nvPr/>
        </p:nvSpPr>
        <p:spPr>
          <a:xfrm>
            <a:off x="2726497" y="335063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AA32A1-F853-2D83-356F-344486B38B8A}"/>
              </a:ext>
            </a:extLst>
          </p:cNvPr>
          <p:cNvSpPr/>
          <p:nvPr/>
        </p:nvSpPr>
        <p:spPr>
          <a:xfrm>
            <a:off x="3832836" y="4419284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10AFE8-55B6-8B19-7604-ACB8C8C0EE7B}"/>
              </a:ext>
            </a:extLst>
          </p:cNvPr>
          <p:cNvSpPr/>
          <p:nvPr/>
        </p:nvSpPr>
        <p:spPr>
          <a:xfrm>
            <a:off x="2820440" y="3377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902562C-E4FB-C56E-D3E1-E0C2B85D2ED3}"/>
              </a:ext>
            </a:extLst>
          </p:cNvPr>
          <p:cNvSpPr/>
          <p:nvPr/>
        </p:nvSpPr>
        <p:spPr>
          <a:xfrm>
            <a:off x="3983147" y="451873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F331F7-4228-6DE9-EB6E-FA1F5B43E413}"/>
              </a:ext>
            </a:extLst>
          </p:cNvPr>
          <p:cNvSpPr/>
          <p:nvPr/>
        </p:nvSpPr>
        <p:spPr>
          <a:xfrm>
            <a:off x="410632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AEE1E3-0A9D-9F3B-525F-B110B45A430C}"/>
              </a:ext>
            </a:extLst>
          </p:cNvPr>
          <p:cNvSpPr/>
          <p:nvPr/>
        </p:nvSpPr>
        <p:spPr>
          <a:xfrm>
            <a:off x="507800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4CC51A62-6179-F198-E701-9A7277E71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E64ADE-C95A-78B4-ACAF-D25AFEC7C2E3}"/>
              </a:ext>
            </a:extLst>
          </p:cNvPr>
          <p:cNvSpPr/>
          <p:nvPr/>
        </p:nvSpPr>
        <p:spPr>
          <a:xfrm>
            <a:off x="5213026" y="4851349"/>
            <a:ext cx="2409062" cy="380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D9F10B-4006-321F-2887-EDD00D6DC693}"/>
              </a:ext>
            </a:extLst>
          </p:cNvPr>
          <p:cNvSpPr/>
          <p:nvPr/>
        </p:nvSpPr>
        <p:spPr>
          <a:xfrm>
            <a:off x="7622088" y="4851349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8B4C2B-E1F1-54D4-0457-FB4CE87F8740}"/>
              </a:ext>
            </a:extLst>
          </p:cNvPr>
          <p:cNvSpPr/>
          <p:nvPr/>
        </p:nvSpPr>
        <p:spPr>
          <a:xfrm>
            <a:off x="9158310" y="4851349"/>
            <a:ext cx="1565143" cy="31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DD2952-1912-F6EF-BD23-E726A56A3604}"/>
              </a:ext>
            </a:extLst>
          </p:cNvPr>
          <p:cNvSpPr/>
          <p:nvPr/>
        </p:nvSpPr>
        <p:spPr>
          <a:xfrm>
            <a:off x="10772384" y="4836419"/>
            <a:ext cx="701457" cy="380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7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A9D2-226E-52E6-F7DF-D883ADF8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0D09-24BC-6128-FF04-90740298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In-Order Traversal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2FA2B8-214D-BCB2-04CE-D4671C705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2" y="2191543"/>
            <a:ext cx="4357385" cy="2947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EDC5C-79AA-C4E7-5BC6-CB4AC577B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399" y="170616"/>
            <a:ext cx="4690151" cy="19312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FFDC07-AD5E-46FC-ADFE-EA0D42C74870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050B8F-1D27-9D6D-1A79-518366920ABB}"/>
              </a:ext>
            </a:extLst>
          </p:cNvPr>
          <p:cNvSpPr/>
          <p:nvPr/>
        </p:nvSpPr>
        <p:spPr>
          <a:xfrm>
            <a:off x="540706" y="450513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946514-B4AA-5C0B-9C88-771C9874279C}"/>
              </a:ext>
            </a:extLst>
          </p:cNvPr>
          <p:cNvSpPr/>
          <p:nvPr/>
        </p:nvSpPr>
        <p:spPr>
          <a:xfrm>
            <a:off x="1699363" y="338197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F1A0D-683C-7B04-2DF0-1CF9B503701D}"/>
              </a:ext>
            </a:extLst>
          </p:cNvPr>
          <p:cNvSpPr/>
          <p:nvPr/>
        </p:nvSpPr>
        <p:spPr>
          <a:xfrm>
            <a:off x="2169089" y="219414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431EA7-FA22-7D97-551F-D447D8A14622}"/>
              </a:ext>
            </a:extLst>
          </p:cNvPr>
          <p:cNvSpPr/>
          <p:nvPr/>
        </p:nvSpPr>
        <p:spPr>
          <a:xfrm>
            <a:off x="1716064" y="450166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9408C3-D2EC-12DB-6B23-F06BE80A310F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6507C5-B654-770B-BC10-542B97EB4D75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C08CA3-DE08-889D-4389-D8D7C803A27C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E4B7BF-D6F9-DAA2-03B1-66DF9280ED27}"/>
              </a:ext>
            </a:extLst>
          </p:cNvPr>
          <p:cNvSpPr/>
          <p:nvPr/>
        </p:nvSpPr>
        <p:spPr>
          <a:xfrm>
            <a:off x="2257479" y="222433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0EE2-6358-EAF4-8ED4-8A311B65062E}"/>
              </a:ext>
            </a:extLst>
          </p:cNvPr>
          <p:cNvSpPr/>
          <p:nvPr/>
        </p:nvSpPr>
        <p:spPr>
          <a:xfrm>
            <a:off x="3134636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6C7012-DAFF-21D4-AA68-F2FB93E86302}"/>
              </a:ext>
            </a:extLst>
          </p:cNvPr>
          <p:cNvSpPr/>
          <p:nvPr/>
        </p:nvSpPr>
        <p:spPr>
          <a:xfrm>
            <a:off x="2726497" y="335063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0473D8-E7AA-0202-6F97-0109DADAC736}"/>
              </a:ext>
            </a:extLst>
          </p:cNvPr>
          <p:cNvSpPr/>
          <p:nvPr/>
        </p:nvSpPr>
        <p:spPr>
          <a:xfrm>
            <a:off x="3832836" y="4419284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FE36BF-5731-B7B0-6D45-EAB60CAE1DA0}"/>
              </a:ext>
            </a:extLst>
          </p:cNvPr>
          <p:cNvSpPr/>
          <p:nvPr/>
        </p:nvSpPr>
        <p:spPr>
          <a:xfrm>
            <a:off x="2820440" y="3377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038697D-1799-ED9A-F07D-17CA935329B2}"/>
              </a:ext>
            </a:extLst>
          </p:cNvPr>
          <p:cNvSpPr/>
          <p:nvPr/>
        </p:nvSpPr>
        <p:spPr>
          <a:xfrm>
            <a:off x="3983147" y="451873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7AE184-90C8-873F-5DBB-CF783323C67C}"/>
              </a:ext>
            </a:extLst>
          </p:cNvPr>
          <p:cNvSpPr/>
          <p:nvPr/>
        </p:nvSpPr>
        <p:spPr>
          <a:xfrm>
            <a:off x="410632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105636-91FA-E27F-60AD-0ABDAFDA884B}"/>
              </a:ext>
            </a:extLst>
          </p:cNvPr>
          <p:cNvSpPr/>
          <p:nvPr/>
        </p:nvSpPr>
        <p:spPr>
          <a:xfrm>
            <a:off x="507800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1F21C4AA-7D35-F481-02B2-992E2E176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294" y="2923060"/>
            <a:ext cx="6769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(to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left again (to 1) → left is null, so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3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6)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 to 8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 right (to 10) → then 14 → print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5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C3E0-281F-83D5-7316-04E13B07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C0EF-2640-5D63-D65A-29AA59700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7207" y="717837"/>
            <a:ext cx="9144000" cy="1055614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Pre-Order Traversal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7ED53D-B4E1-1094-9E2C-14FE548B39FD}"/>
              </a:ext>
            </a:extLst>
          </p:cNvPr>
          <p:cNvGrpSpPr/>
          <p:nvPr/>
        </p:nvGrpSpPr>
        <p:grpSpPr>
          <a:xfrm>
            <a:off x="5130059" y="3117962"/>
            <a:ext cx="2285925" cy="2027564"/>
            <a:chOff x="5066852" y="3522489"/>
            <a:chExt cx="2285925" cy="202756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7980DC79-7132-424A-CC7D-37DE18DFAE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57" r="64251" b="27021"/>
            <a:stretch>
              <a:fillRect/>
            </a:stretch>
          </p:blipFill>
          <p:spPr bwMode="auto">
            <a:xfrm>
              <a:off x="5066852" y="3795384"/>
              <a:ext cx="2285925" cy="1754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879FC3-356D-890D-443A-7306CC93D5AD}"/>
                </a:ext>
              </a:extLst>
            </p:cNvPr>
            <p:cNvSpPr/>
            <p:nvPr/>
          </p:nvSpPr>
          <p:spPr>
            <a:xfrm>
              <a:off x="6338170" y="3522489"/>
              <a:ext cx="713983" cy="398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10EBD78-F46F-20DF-3F53-6200C39AF17F}"/>
              </a:ext>
            </a:extLst>
          </p:cNvPr>
          <p:cNvSpPr txBox="1"/>
          <p:nvPr/>
        </p:nvSpPr>
        <p:spPr>
          <a:xfrm>
            <a:off x="3915360" y="4537124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Left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A69401-FB9A-A7D3-5843-6B5EB7A96C51}"/>
              </a:ext>
            </a:extLst>
          </p:cNvPr>
          <p:cNvCxnSpPr>
            <a:cxnSpLocks/>
          </p:cNvCxnSpPr>
          <p:nvPr/>
        </p:nvCxnSpPr>
        <p:spPr>
          <a:xfrm flipH="1">
            <a:off x="4900565" y="3296383"/>
            <a:ext cx="691923" cy="9040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1DC97A-9675-109B-F906-45535E85127C}"/>
              </a:ext>
            </a:extLst>
          </p:cNvPr>
          <p:cNvSpPr txBox="1"/>
          <p:nvPr/>
        </p:nvSpPr>
        <p:spPr>
          <a:xfrm>
            <a:off x="5797245" y="2931177"/>
            <a:ext cx="104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E52E4-9424-1166-28EC-BBE93D8713F5}"/>
              </a:ext>
            </a:extLst>
          </p:cNvPr>
          <p:cNvSpPr txBox="1"/>
          <p:nvPr/>
        </p:nvSpPr>
        <p:spPr>
          <a:xfrm>
            <a:off x="7751301" y="4537124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Right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5CA048-834D-EBFB-6E2E-B6E2C51F5F68}"/>
              </a:ext>
            </a:extLst>
          </p:cNvPr>
          <p:cNvCxnSpPr>
            <a:cxnSpLocks/>
          </p:cNvCxnSpPr>
          <p:nvPr/>
        </p:nvCxnSpPr>
        <p:spPr>
          <a:xfrm>
            <a:off x="6951588" y="3085476"/>
            <a:ext cx="867806" cy="1182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59F59C-808E-48B5-2F05-F84F08B92888}"/>
              </a:ext>
            </a:extLst>
          </p:cNvPr>
          <p:cNvCxnSpPr>
            <a:cxnSpLocks/>
          </p:cNvCxnSpPr>
          <p:nvPr/>
        </p:nvCxnSpPr>
        <p:spPr>
          <a:xfrm flipV="1">
            <a:off x="4456593" y="3085476"/>
            <a:ext cx="790441" cy="10556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8B9D56-DFB8-5A6F-C791-8CB5E024B92B}"/>
              </a:ext>
            </a:extLst>
          </p:cNvPr>
          <p:cNvSpPr txBox="1"/>
          <p:nvPr/>
        </p:nvSpPr>
        <p:spPr>
          <a:xfrm>
            <a:off x="6106664" y="5716377"/>
            <a:ext cx="58942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CFC1D-8A16-AC41-5893-EA787436D6CF}"/>
              </a:ext>
            </a:extLst>
          </p:cNvPr>
          <p:cNvSpPr txBox="1"/>
          <p:nvPr/>
        </p:nvSpPr>
        <p:spPr>
          <a:xfrm>
            <a:off x="6786263" y="5716377"/>
            <a:ext cx="533636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EF6536-AA61-8DB9-86E5-6054FB0480FD}"/>
              </a:ext>
            </a:extLst>
          </p:cNvPr>
          <p:cNvSpPr txBox="1"/>
          <p:nvPr/>
        </p:nvSpPr>
        <p:spPr>
          <a:xfrm>
            <a:off x="5459833" y="5716377"/>
            <a:ext cx="53363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6531ABB-44A1-CC8A-F79D-D4A6DD113ED2}"/>
              </a:ext>
            </a:extLst>
          </p:cNvPr>
          <p:cNvSpPr txBox="1">
            <a:spLocks/>
          </p:cNvSpPr>
          <p:nvPr/>
        </p:nvSpPr>
        <p:spPr>
          <a:xfrm>
            <a:off x="1846584" y="1752167"/>
            <a:ext cx="8293767" cy="568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Node – Left – Right</a:t>
            </a:r>
            <a:r>
              <a:rPr lang="en-US" sz="32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731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1" grpId="0" animBg="1"/>
      <p:bldP spid="12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BCF4-A344-A763-F062-721F8DA57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5D05-D7B3-7225-89DF-B73D123B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B4721-A20E-DFD3-63BE-020B4A322CAF}"/>
              </a:ext>
            </a:extLst>
          </p:cNvPr>
          <p:cNvSpPr txBox="1"/>
          <p:nvPr/>
        </p:nvSpPr>
        <p:spPr>
          <a:xfrm>
            <a:off x="5024582" y="2245934"/>
            <a:ext cx="7249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“To traverse a BST </a:t>
            </a:r>
            <a:r>
              <a:rPr lang="en-US" sz="3600" i="1" dirty="0"/>
              <a:t>pre order</a:t>
            </a:r>
            <a:r>
              <a:rPr lang="en-US" sz="3600" dirty="0"/>
              <a:t>, do the following at every node:</a:t>
            </a:r>
            <a:br>
              <a:rPr lang="en-US" sz="3600" dirty="0"/>
            </a:br>
            <a:r>
              <a:rPr lang="en-US" sz="3600" dirty="0"/>
              <a:t>1️⃣ </a:t>
            </a:r>
            <a:r>
              <a:rPr lang="en-US" sz="3600" i="1" dirty="0"/>
              <a:t>Visit</a:t>
            </a:r>
            <a:r>
              <a:rPr lang="en-US" sz="3600" dirty="0"/>
              <a:t> (or print) the </a:t>
            </a:r>
            <a:r>
              <a:rPr lang="en-US" sz="3600" b="1" dirty="0"/>
              <a:t>current</a:t>
            </a:r>
            <a:r>
              <a:rPr lang="en-US" sz="3600" dirty="0"/>
              <a:t> node.</a:t>
            </a:r>
            <a:br>
              <a:rPr lang="en-US" sz="3600" dirty="0"/>
            </a:br>
            <a:r>
              <a:rPr lang="en-US" sz="3600" dirty="0"/>
              <a:t>2️⃣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left</a:t>
            </a:r>
            <a:r>
              <a:rPr lang="en-US" sz="3600" dirty="0"/>
              <a:t> subtree.</a:t>
            </a:r>
          </a:p>
          <a:p>
            <a:r>
              <a:rPr lang="en-US" sz="3600" dirty="0"/>
              <a:t>3️⃣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right</a:t>
            </a:r>
            <a:r>
              <a:rPr lang="en-US" sz="3600" dirty="0"/>
              <a:t> subtree.”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DA075B-B02E-4455-BC6F-24D28958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E12E-D837-CC57-9CB8-5CAEC9E1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49B2-455F-4D18-727A-96F99DF6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46893-99E1-4BEE-88BC-60C89505B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DDA2C1-291E-E6C2-CB1C-F748E1A0E3D1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3FDB0-C744-0A81-70B8-0A70CA8B5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6D05AD-1B8C-0711-9882-A98697F2E508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7B2B1-B497-CDE3-AC8B-B12F2FEAE9C8}"/>
              </a:ext>
            </a:extLst>
          </p:cNvPr>
          <p:cNvSpPr/>
          <p:nvPr/>
        </p:nvSpPr>
        <p:spPr>
          <a:xfrm>
            <a:off x="1521912" y="3319397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F69AF4-F400-CBBE-F96C-BC26C170A471}"/>
              </a:ext>
            </a:extLst>
          </p:cNvPr>
          <p:cNvSpPr/>
          <p:nvPr/>
        </p:nvSpPr>
        <p:spPr>
          <a:xfrm>
            <a:off x="1642996" y="334439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B7CBBC-7C90-AB2D-62AA-46819389A349}"/>
              </a:ext>
            </a:extLst>
          </p:cNvPr>
          <p:cNvSpPr/>
          <p:nvPr/>
        </p:nvSpPr>
        <p:spPr>
          <a:xfrm>
            <a:off x="2137774" y="211898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9857BD-37D6-B3F9-2024-B869A1E56AF8}"/>
              </a:ext>
            </a:extLst>
          </p:cNvPr>
          <p:cNvSpPr/>
          <p:nvPr/>
        </p:nvSpPr>
        <p:spPr>
          <a:xfrm>
            <a:off x="2226164" y="214917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6EF189-B90D-024F-84D9-36766656E6E9}"/>
              </a:ext>
            </a:extLst>
          </p:cNvPr>
          <p:cNvSpPr/>
          <p:nvPr/>
        </p:nvSpPr>
        <p:spPr>
          <a:xfrm>
            <a:off x="272519" y="453703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650F3A-881A-5F8C-88A6-C37D2AA6126B}"/>
              </a:ext>
            </a:extLst>
          </p:cNvPr>
          <p:cNvSpPr/>
          <p:nvPr/>
        </p:nvSpPr>
        <p:spPr>
          <a:xfrm>
            <a:off x="393603" y="456202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010DFD-D2CB-45E4-75CC-90AD0F60F331}"/>
              </a:ext>
            </a:extLst>
          </p:cNvPr>
          <p:cNvSpPr/>
          <p:nvPr/>
        </p:nvSpPr>
        <p:spPr>
          <a:xfrm>
            <a:off x="5879404" y="4108537"/>
            <a:ext cx="5945746" cy="1246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12BAF0-F304-6E67-F196-8DA60AB51EB6}"/>
              </a:ext>
            </a:extLst>
          </p:cNvPr>
          <p:cNvSpPr/>
          <p:nvPr/>
        </p:nvSpPr>
        <p:spPr>
          <a:xfrm>
            <a:off x="5969907" y="3063218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029902-7FD3-6BE0-09E3-ECF3072093C7}"/>
              </a:ext>
            </a:extLst>
          </p:cNvPr>
          <p:cNvSpPr/>
          <p:nvPr/>
        </p:nvSpPr>
        <p:spPr>
          <a:xfrm>
            <a:off x="5969907" y="3408750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439522-9FE8-42EE-1C9D-F3F79020EC65}"/>
              </a:ext>
            </a:extLst>
          </p:cNvPr>
          <p:cNvSpPr/>
          <p:nvPr/>
        </p:nvSpPr>
        <p:spPr>
          <a:xfrm>
            <a:off x="5879404" y="3818978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B3535-23BB-1778-5F42-5C48ED23F7F1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9B1B9B-660A-FECB-37F7-1837365C7B69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9B933D-5613-D378-1719-02A675D881C0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37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C219-3C0E-6AC2-145E-0CA6DFBC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F09D4-002F-0734-31E1-80B64D18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96C2D-A9AE-88FF-02AC-8B086EA9F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9E6560-21DF-AC1E-A811-CED4C6A95B06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B311FF-2955-B92C-46E1-33A482BC0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E2D7F5-C078-A650-C630-CD7289841FA0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DD99F7-2A2A-9BDD-91B9-1F068E2A3606}"/>
              </a:ext>
            </a:extLst>
          </p:cNvPr>
          <p:cNvSpPr/>
          <p:nvPr/>
        </p:nvSpPr>
        <p:spPr>
          <a:xfrm>
            <a:off x="1642996" y="334439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FF1AB3-2F9C-3448-DBF7-5EF747B7DCE4}"/>
              </a:ext>
            </a:extLst>
          </p:cNvPr>
          <p:cNvSpPr/>
          <p:nvPr/>
        </p:nvSpPr>
        <p:spPr>
          <a:xfrm>
            <a:off x="2226164" y="214917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569DC00-94A7-3DC8-0A1E-57AC091DEC95}"/>
              </a:ext>
            </a:extLst>
          </p:cNvPr>
          <p:cNvSpPr/>
          <p:nvPr/>
        </p:nvSpPr>
        <p:spPr>
          <a:xfrm>
            <a:off x="393603" y="456202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D9EC42-F625-9D51-B449-A855EDF556B2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1211C-5044-23A0-1488-86EBB47FF0BF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54C56-583F-4252-FE4D-AD690F6D4FC3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D96B5D-37DA-2ECC-4F8F-1523E1530D6F}"/>
              </a:ext>
            </a:extLst>
          </p:cNvPr>
          <p:cNvSpPr/>
          <p:nvPr/>
        </p:nvSpPr>
        <p:spPr>
          <a:xfrm>
            <a:off x="1521912" y="3319397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A8A396-B648-DA4A-4F4B-83E9B0591F4B}"/>
              </a:ext>
            </a:extLst>
          </p:cNvPr>
          <p:cNvSpPr/>
          <p:nvPr/>
        </p:nvSpPr>
        <p:spPr>
          <a:xfrm>
            <a:off x="2137774" y="211898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F3BBD8-9E0F-5DEF-4EFA-2DF9A739555B}"/>
              </a:ext>
            </a:extLst>
          </p:cNvPr>
          <p:cNvGrpSpPr/>
          <p:nvPr/>
        </p:nvGrpSpPr>
        <p:grpSpPr>
          <a:xfrm>
            <a:off x="1554270" y="4533276"/>
            <a:ext cx="1083502" cy="720247"/>
            <a:chOff x="9796685" y="5925028"/>
            <a:chExt cx="1083502" cy="72024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0D4EAD6-3470-F6F9-6AE4-04255560D39A}"/>
                </a:ext>
              </a:extLst>
            </p:cNvPr>
            <p:cNvSpPr/>
            <p:nvPr/>
          </p:nvSpPr>
          <p:spPr>
            <a:xfrm>
              <a:off x="9885075" y="59552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D65EECD-07F8-19BD-18B5-5AC37C7E1452}"/>
                </a:ext>
              </a:extLst>
            </p:cNvPr>
            <p:cNvSpPr/>
            <p:nvPr/>
          </p:nvSpPr>
          <p:spPr>
            <a:xfrm>
              <a:off x="9796685" y="59250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5C3194-09A2-A4CD-45EF-9AA4FB8CBB4E}"/>
              </a:ext>
            </a:extLst>
          </p:cNvPr>
          <p:cNvSpPr/>
          <p:nvPr/>
        </p:nvSpPr>
        <p:spPr>
          <a:xfrm>
            <a:off x="313221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35F5EF-17A1-0E21-2159-B67232B4E87A}"/>
              </a:ext>
            </a:extLst>
          </p:cNvPr>
          <p:cNvSpPr/>
          <p:nvPr/>
        </p:nvSpPr>
        <p:spPr>
          <a:xfrm>
            <a:off x="5879404" y="4448783"/>
            <a:ext cx="5945746" cy="9060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2E760A-B7D9-DC1E-342D-7B154E4FBD97}"/>
              </a:ext>
            </a:extLst>
          </p:cNvPr>
          <p:cNvSpPr/>
          <p:nvPr/>
        </p:nvSpPr>
        <p:spPr>
          <a:xfrm>
            <a:off x="7303330" y="4193426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D413-72FB-2B67-6ECB-4E0C5ED0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AC72F-B04E-482A-47ED-8C2C0B58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BDA73-87B0-7DC7-DB20-3BA2D8154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82DEFA-9F15-98BA-5550-6B305BBCEDC0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B936A-D7D2-D443-E80E-BAD4C786B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E7EE0E-9A6D-F8BC-DFDE-925EEC13D93F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1118694-F44B-547B-7DA7-97B00040D2D3}"/>
              </a:ext>
            </a:extLst>
          </p:cNvPr>
          <p:cNvSpPr/>
          <p:nvPr/>
        </p:nvSpPr>
        <p:spPr>
          <a:xfrm>
            <a:off x="1636020" y="3353078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CA877-62F8-8549-B434-F7FA6D8F3C5D}"/>
              </a:ext>
            </a:extLst>
          </p:cNvPr>
          <p:cNvSpPr/>
          <p:nvPr/>
        </p:nvSpPr>
        <p:spPr>
          <a:xfrm>
            <a:off x="1547630" y="33228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17A5C2-2D86-2B57-392F-D045DE87044B}"/>
              </a:ext>
            </a:extLst>
          </p:cNvPr>
          <p:cNvSpPr/>
          <p:nvPr/>
        </p:nvSpPr>
        <p:spPr>
          <a:xfrm>
            <a:off x="1636020" y="455606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6C6A12-DACF-7EC0-6B5B-2563E89C34D1}"/>
              </a:ext>
            </a:extLst>
          </p:cNvPr>
          <p:cNvSpPr/>
          <p:nvPr/>
        </p:nvSpPr>
        <p:spPr>
          <a:xfrm>
            <a:off x="439519" y="456254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CD9D4C-4F96-393C-465F-68238A34759E}"/>
              </a:ext>
            </a:extLst>
          </p:cNvPr>
          <p:cNvGrpSpPr/>
          <p:nvPr/>
        </p:nvGrpSpPr>
        <p:grpSpPr>
          <a:xfrm>
            <a:off x="2153965" y="2118562"/>
            <a:ext cx="1083502" cy="720247"/>
            <a:chOff x="9644285" y="5772628"/>
            <a:chExt cx="1083502" cy="72024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B206F2B-3C69-0061-A0C6-B8B009C94318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8306BD1-0A6C-114F-E0A8-41E143BFD485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EBB6A-3C3E-922E-1A03-375C224BC779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4B133F-BB27-7722-0FF4-3AAF82DB1376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DD29DC-70FF-7781-F113-95442C865AA2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8B6762-66A8-C112-A96F-2C62677490D7}"/>
              </a:ext>
            </a:extLst>
          </p:cNvPr>
          <p:cNvSpPr/>
          <p:nvPr/>
        </p:nvSpPr>
        <p:spPr>
          <a:xfrm>
            <a:off x="313221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044D87-9276-DB97-8394-737486E142C1}"/>
              </a:ext>
            </a:extLst>
          </p:cNvPr>
          <p:cNvGrpSpPr/>
          <p:nvPr/>
        </p:nvGrpSpPr>
        <p:grpSpPr>
          <a:xfrm>
            <a:off x="2744355" y="3309007"/>
            <a:ext cx="1083502" cy="720247"/>
            <a:chOff x="9644285" y="5772628"/>
            <a:chExt cx="1083502" cy="7202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33E8A40-8196-4483-000D-E52536A5545C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345B98-8C9E-3248-F073-9743C57D29BD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5EEE807-2A37-87F4-ECEB-D31014E3E3A7}"/>
              </a:ext>
            </a:extLst>
          </p:cNvPr>
          <p:cNvSpPr/>
          <p:nvPr/>
        </p:nvSpPr>
        <p:spPr>
          <a:xfrm>
            <a:off x="4085879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81E6F7-B240-AE4F-F605-58CDBB03FC7A}"/>
              </a:ext>
            </a:extLst>
          </p:cNvPr>
          <p:cNvGrpSpPr/>
          <p:nvPr/>
        </p:nvGrpSpPr>
        <p:grpSpPr>
          <a:xfrm>
            <a:off x="3941080" y="4553985"/>
            <a:ext cx="1083502" cy="720247"/>
            <a:chOff x="9644285" y="5772628"/>
            <a:chExt cx="1083502" cy="720247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EF23139-DC91-E9C4-2476-5607111E5D26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1A53AB5-3063-EC7E-05EC-B581A36D7F75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D5B7427-3938-36EA-C78E-6653827CFEA6}"/>
              </a:ext>
            </a:extLst>
          </p:cNvPr>
          <p:cNvSpPr/>
          <p:nvPr/>
        </p:nvSpPr>
        <p:spPr>
          <a:xfrm>
            <a:off x="503954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2031-9644-9777-CA90-3663DC0175E9}"/>
              </a:ext>
            </a:extLst>
          </p:cNvPr>
          <p:cNvSpPr/>
          <p:nvPr/>
        </p:nvSpPr>
        <p:spPr>
          <a:xfrm>
            <a:off x="7303330" y="4550456"/>
            <a:ext cx="3131206" cy="300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262DAC-B6E1-0F0F-97E7-8516A9B59F80}"/>
              </a:ext>
            </a:extLst>
          </p:cNvPr>
          <p:cNvSpPr/>
          <p:nvPr/>
        </p:nvSpPr>
        <p:spPr>
          <a:xfrm>
            <a:off x="10434536" y="4550456"/>
            <a:ext cx="1734436" cy="300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4B0F07-B3C6-E34F-664B-BCB0A74B3D56}"/>
              </a:ext>
            </a:extLst>
          </p:cNvPr>
          <p:cNvSpPr/>
          <p:nvPr/>
        </p:nvSpPr>
        <p:spPr>
          <a:xfrm>
            <a:off x="5995481" y="4868121"/>
            <a:ext cx="1734436" cy="3004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8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5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B8BB-19DA-567E-F039-BECDAADD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5ABC-BD84-4A2C-943C-5281F4EA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BED1B-F268-4668-C388-26C435EF0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0" y="2068512"/>
            <a:ext cx="4657732" cy="31511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AC280A-A1C7-8A90-576C-478CAA831AC6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06ADC-F970-2FB3-311D-F59D454AA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2" y="227883"/>
            <a:ext cx="4595885" cy="187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F5B95F-7ED6-B557-68DD-B2AA3E876923}"/>
              </a:ext>
            </a:extLst>
          </p:cNvPr>
          <p:cNvSpPr txBox="1"/>
          <p:nvPr/>
        </p:nvSpPr>
        <p:spPr>
          <a:xfrm>
            <a:off x="5879404" y="2965908"/>
            <a:ext cx="6097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Start at 8 → print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3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→ 1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right → 6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right → 10 → print 10 → right → 14 → print 14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F9381-AF9C-9A8B-5EC8-C61013E75053}"/>
              </a:ext>
            </a:extLst>
          </p:cNvPr>
          <p:cNvSpPr/>
          <p:nvPr/>
        </p:nvSpPr>
        <p:spPr>
          <a:xfrm>
            <a:off x="1636020" y="3353078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4D71E1-EA21-4877-CFDA-9C721CABAD74}"/>
              </a:ext>
            </a:extLst>
          </p:cNvPr>
          <p:cNvSpPr/>
          <p:nvPr/>
        </p:nvSpPr>
        <p:spPr>
          <a:xfrm>
            <a:off x="1636020" y="4556065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90135D-61CC-AC39-B042-D58CB06C4AE6}"/>
              </a:ext>
            </a:extLst>
          </p:cNvPr>
          <p:cNvSpPr/>
          <p:nvPr/>
        </p:nvSpPr>
        <p:spPr>
          <a:xfrm>
            <a:off x="439519" y="4562549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4C00261-E2C5-D7CD-00BC-211300E7C706}"/>
              </a:ext>
            </a:extLst>
          </p:cNvPr>
          <p:cNvSpPr/>
          <p:nvPr/>
        </p:nvSpPr>
        <p:spPr>
          <a:xfrm>
            <a:off x="2242355" y="2148748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4B880E-FAE2-541E-0708-06ED961E6622}"/>
              </a:ext>
            </a:extLst>
          </p:cNvPr>
          <p:cNvSpPr/>
          <p:nvPr/>
        </p:nvSpPr>
        <p:spPr>
          <a:xfrm>
            <a:off x="2153965" y="211856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CBFF8E-B3AE-9C4E-CC79-559E5AFBE773}"/>
              </a:ext>
            </a:extLst>
          </p:cNvPr>
          <p:cNvSpPr/>
          <p:nvPr/>
        </p:nvSpPr>
        <p:spPr>
          <a:xfrm>
            <a:off x="212942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A84540-8F7F-373A-E14F-4CE0EB488F46}"/>
              </a:ext>
            </a:extLst>
          </p:cNvPr>
          <p:cNvSpPr/>
          <p:nvPr/>
        </p:nvSpPr>
        <p:spPr>
          <a:xfrm>
            <a:off x="1186840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66905-B529-C834-5A39-D9241DB79399}"/>
              </a:ext>
            </a:extLst>
          </p:cNvPr>
          <p:cNvSpPr/>
          <p:nvPr/>
        </p:nvSpPr>
        <p:spPr>
          <a:xfrm>
            <a:off x="2160738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6B6B0A-2C7A-C387-5562-630B5D9A6E4E}"/>
              </a:ext>
            </a:extLst>
          </p:cNvPr>
          <p:cNvSpPr/>
          <p:nvPr/>
        </p:nvSpPr>
        <p:spPr>
          <a:xfrm>
            <a:off x="313221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A2ACE6-B115-1BF1-0AD6-DC795BDBA2D1}"/>
              </a:ext>
            </a:extLst>
          </p:cNvPr>
          <p:cNvSpPr/>
          <p:nvPr/>
        </p:nvSpPr>
        <p:spPr>
          <a:xfrm>
            <a:off x="2832745" y="3339193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1E5B6B-8831-0F26-CB7C-ECC12DFCD3E5}"/>
              </a:ext>
            </a:extLst>
          </p:cNvPr>
          <p:cNvSpPr/>
          <p:nvPr/>
        </p:nvSpPr>
        <p:spPr>
          <a:xfrm>
            <a:off x="2744355" y="3309007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943655-0083-1B03-AE2C-6CCD7822A215}"/>
              </a:ext>
            </a:extLst>
          </p:cNvPr>
          <p:cNvSpPr/>
          <p:nvPr/>
        </p:nvSpPr>
        <p:spPr>
          <a:xfrm>
            <a:off x="4085879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FF6908-72FB-4632-7DE4-36BEECEF6C6D}"/>
              </a:ext>
            </a:extLst>
          </p:cNvPr>
          <p:cNvSpPr/>
          <p:nvPr/>
        </p:nvSpPr>
        <p:spPr>
          <a:xfrm>
            <a:off x="4029470" y="458417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215EFF-9A05-7582-6E9D-CA3A63B1EEEC}"/>
              </a:ext>
            </a:extLst>
          </p:cNvPr>
          <p:cNvSpPr/>
          <p:nvPr/>
        </p:nvSpPr>
        <p:spPr>
          <a:xfrm>
            <a:off x="3941080" y="4553985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A80DBF-82C5-EEBB-6B1B-86BB44F826CD}"/>
              </a:ext>
            </a:extLst>
          </p:cNvPr>
          <p:cNvSpPr/>
          <p:nvPr/>
        </p:nvSpPr>
        <p:spPr>
          <a:xfrm>
            <a:off x="5039544" y="5724395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22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09F63-D634-6791-FEDC-814F57D0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4D2E-D9F1-0B12-96D0-AE9133AAE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3497"/>
            <a:ext cx="9144000" cy="997191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Post-Order Traversal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5FDE01-CECC-5279-974B-08064A54A737}"/>
              </a:ext>
            </a:extLst>
          </p:cNvPr>
          <p:cNvGrpSpPr/>
          <p:nvPr/>
        </p:nvGrpSpPr>
        <p:grpSpPr>
          <a:xfrm>
            <a:off x="5066852" y="2953623"/>
            <a:ext cx="2285925" cy="2027564"/>
            <a:chOff x="5066852" y="3522489"/>
            <a:chExt cx="2285925" cy="202756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2E90316-E969-EC68-805A-D51C5EAEA7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57" r="64251" b="27021"/>
            <a:stretch>
              <a:fillRect/>
            </a:stretch>
          </p:blipFill>
          <p:spPr bwMode="auto">
            <a:xfrm>
              <a:off x="5066852" y="3795384"/>
              <a:ext cx="2285925" cy="1754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ABBF01F-851B-941A-C793-D44ACA814F16}"/>
                </a:ext>
              </a:extLst>
            </p:cNvPr>
            <p:cNvSpPr/>
            <p:nvPr/>
          </p:nvSpPr>
          <p:spPr>
            <a:xfrm>
              <a:off x="6338170" y="3522489"/>
              <a:ext cx="713983" cy="3981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17AADF-CB62-CDBC-2245-1C5F5946E48A}"/>
              </a:ext>
            </a:extLst>
          </p:cNvPr>
          <p:cNvSpPr txBox="1"/>
          <p:nvPr/>
        </p:nvSpPr>
        <p:spPr>
          <a:xfrm>
            <a:off x="4139482" y="4444643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Left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E982E3-5BFA-E452-E2E2-5204F7DE7FA9}"/>
              </a:ext>
            </a:extLst>
          </p:cNvPr>
          <p:cNvCxnSpPr>
            <a:cxnSpLocks/>
          </p:cNvCxnSpPr>
          <p:nvPr/>
        </p:nvCxnSpPr>
        <p:spPr>
          <a:xfrm flipH="1" flipV="1">
            <a:off x="6695161" y="3117233"/>
            <a:ext cx="875489" cy="1211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5EBB16-9CFF-DB8C-E4CA-7535FA877E39}"/>
              </a:ext>
            </a:extLst>
          </p:cNvPr>
          <p:cNvSpPr txBox="1"/>
          <p:nvPr/>
        </p:nvSpPr>
        <p:spPr>
          <a:xfrm>
            <a:off x="5853831" y="2766838"/>
            <a:ext cx="1005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8D058-0255-C592-7800-945FF985782D}"/>
              </a:ext>
            </a:extLst>
          </p:cNvPr>
          <p:cNvSpPr txBox="1"/>
          <p:nvPr/>
        </p:nvSpPr>
        <p:spPr>
          <a:xfrm>
            <a:off x="7908587" y="4372785"/>
            <a:ext cx="927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Right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11D47C-DD04-EBCD-32A9-4AEE4720C81C}"/>
              </a:ext>
            </a:extLst>
          </p:cNvPr>
          <p:cNvCxnSpPr>
            <a:cxnSpLocks/>
          </p:cNvCxnSpPr>
          <p:nvPr/>
        </p:nvCxnSpPr>
        <p:spPr>
          <a:xfrm>
            <a:off x="7030810" y="2820910"/>
            <a:ext cx="1005732" cy="1282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6F9661-600B-DB54-F94E-A7C1D66273B1}"/>
              </a:ext>
            </a:extLst>
          </p:cNvPr>
          <p:cNvCxnSpPr>
            <a:cxnSpLocks/>
          </p:cNvCxnSpPr>
          <p:nvPr/>
        </p:nvCxnSpPr>
        <p:spPr>
          <a:xfrm flipV="1">
            <a:off x="4515177" y="3016698"/>
            <a:ext cx="908726" cy="1171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442676-D1C0-9C5A-5BE1-A5FF02D39975}"/>
              </a:ext>
            </a:extLst>
          </p:cNvPr>
          <p:cNvSpPr txBox="1"/>
          <p:nvPr/>
        </p:nvSpPr>
        <p:spPr>
          <a:xfrm>
            <a:off x="5391753" y="5677009"/>
            <a:ext cx="58942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80AC13-0417-5FC2-AD26-C32646EF5250}"/>
              </a:ext>
            </a:extLst>
          </p:cNvPr>
          <p:cNvSpPr txBox="1"/>
          <p:nvPr/>
        </p:nvSpPr>
        <p:spPr>
          <a:xfrm>
            <a:off x="6071352" y="5677009"/>
            <a:ext cx="533636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72BE9-CEB8-FB85-81F5-B6BA56BFD5C6}"/>
              </a:ext>
            </a:extLst>
          </p:cNvPr>
          <p:cNvSpPr txBox="1"/>
          <p:nvPr/>
        </p:nvSpPr>
        <p:spPr>
          <a:xfrm>
            <a:off x="6695162" y="5677009"/>
            <a:ext cx="533635" cy="369332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B7E888F-31A2-B447-A480-DB82C72B8458}"/>
              </a:ext>
            </a:extLst>
          </p:cNvPr>
          <p:cNvSpPr txBox="1">
            <a:spLocks/>
          </p:cNvSpPr>
          <p:nvPr/>
        </p:nvSpPr>
        <p:spPr>
          <a:xfrm>
            <a:off x="1846584" y="1752167"/>
            <a:ext cx="8293767" cy="5687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Left – Right – Node </a:t>
            </a:r>
            <a:r>
              <a:rPr lang="en-US" sz="3200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0140B1-2BE0-598A-9EA9-A7302C96C6C1}"/>
              </a:ext>
            </a:extLst>
          </p:cNvPr>
          <p:cNvCxnSpPr>
            <a:cxnSpLocks/>
            <a:endCxn id="5" idx="1"/>
          </p:cNvCxnSpPr>
          <p:nvPr/>
        </p:nvCxnSpPr>
        <p:spPr>
          <a:xfrm flipH="1">
            <a:off x="5066852" y="3089843"/>
            <a:ext cx="768452" cy="1014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06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1" grpId="0" animBg="1"/>
      <p:bldP spid="12" grpId="0" animBg="1"/>
      <p:bldP spid="13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C8ED-2A87-B2A2-C3E2-CCC5F417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B32C-5AE1-CCCD-F804-734F00B07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003C9-F1FD-53C0-C18B-F032DE733DAE}"/>
              </a:ext>
            </a:extLst>
          </p:cNvPr>
          <p:cNvSpPr txBox="1"/>
          <p:nvPr/>
        </p:nvSpPr>
        <p:spPr>
          <a:xfrm>
            <a:off x="4894882" y="2245934"/>
            <a:ext cx="7249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“To traverse a BST </a:t>
            </a:r>
            <a:r>
              <a:rPr lang="en-US" sz="3600" i="1" dirty="0"/>
              <a:t>post order</a:t>
            </a:r>
            <a:r>
              <a:rPr lang="en-US" sz="3600" dirty="0"/>
              <a:t>, do the following at every node:</a:t>
            </a:r>
            <a:br>
              <a:rPr lang="en-US" sz="3600" dirty="0"/>
            </a:br>
            <a:r>
              <a:rPr lang="en-US" sz="3600" dirty="0"/>
              <a:t>1️⃣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left</a:t>
            </a:r>
            <a:r>
              <a:rPr lang="en-US" sz="3600" dirty="0"/>
              <a:t> subtree.</a:t>
            </a:r>
            <a:br>
              <a:rPr lang="en-US" sz="3600" dirty="0"/>
            </a:br>
            <a:r>
              <a:rPr lang="en-US" sz="3600" dirty="0"/>
              <a:t>2️⃣ </a:t>
            </a:r>
            <a:r>
              <a:rPr lang="en-US" sz="3600" i="1" dirty="0"/>
              <a:t>Traverse</a:t>
            </a:r>
            <a:r>
              <a:rPr lang="en-US" sz="3600" dirty="0"/>
              <a:t> the </a:t>
            </a:r>
            <a:r>
              <a:rPr lang="en-US" sz="3600" b="1" dirty="0"/>
              <a:t>right</a:t>
            </a:r>
            <a:r>
              <a:rPr lang="en-US" sz="3600" dirty="0"/>
              <a:t> subtree.” </a:t>
            </a:r>
          </a:p>
          <a:p>
            <a:r>
              <a:rPr lang="en-US" sz="3600" dirty="0"/>
              <a:t>3️⃣</a:t>
            </a:r>
            <a:r>
              <a:rPr lang="en-US" sz="3600" i="1" dirty="0"/>
              <a:t>Visit</a:t>
            </a:r>
            <a:r>
              <a:rPr lang="en-US" sz="3600" dirty="0"/>
              <a:t> (or print) the </a:t>
            </a:r>
            <a:r>
              <a:rPr lang="en-US" sz="3600" b="1" dirty="0"/>
              <a:t>current</a:t>
            </a:r>
            <a:r>
              <a:rPr lang="en-US" sz="3600" dirty="0"/>
              <a:t> node.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298E0-2509-A115-6BDD-4C413F4FB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66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0AF7E-280B-CEA5-BB7A-59B2B109D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872E-2AE7-FDFE-F7C5-BF54EEAD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68197-563D-60F9-23C0-1C6D779F73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79E02C-CC88-6A34-AE07-8AF2BB087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1EC366E-2A4C-93DB-DF6C-14948840BDE1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4C185-9E56-D587-D3EC-94204C9D6A77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D864AC-3DF2-39FA-7EBD-D5A718C8F7C2}"/>
              </a:ext>
            </a:extLst>
          </p:cNvPr>
          <p:cNvSpPr/>
          <p:nvPr/>
        </p:nvSpPr>
        <p:spPr>
          <a:xfrm>
            <a:off x="1571787" y="334392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11D9CC-216C-4749-2A6D-BA7E70C6E3A7}"/>
              </a:ext>
            </a:extLst>
          </p:cNvPr>
          <p:cNvSpPr/>
          <p:nvPr/>
        </p:nvSpPr>
        <p:spPr>
          <a:xfrm>
            <a:off x="411198" y="4457648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EAE56C-75CE-F590-F03E-A48DFA4DB40B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0B5A7C-731D-2DA6-437E-927BCCA5EFD0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B46B7D-373B-4929-58B8-D63F9DC4E0E5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196DB0-5591-DB73-E489-838EC8DD0E08}"/>
              </a:ext>
            </a:extLst>
          </p:cNvPr>
          <p:cNvSpPr/>
          <p:nvPr/>
        </p:nvSpPr>
        <p:spPr>
          <a:xfrm>
            <a:off x="5879404" y="3429000"/>
            <a:ext cx="5945746" cy="2849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077DCF-F6D4-C29C-AED5-FA499B95C752}"/>
              </a:ext>
            </a:extLst>
          </p:cNvPr>
          <p:cNvSpPr/>
          <p:nvPr/>
        </p:nvSpPr>
        <p:spPr>
          <a:xfrm>
            <a:off x="7052717" y="2754739"/>
            <a:ext cx="2882370" cy="289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42E177-8C3A-F2BB-3DDC-52B03F558440}"/>
              </a:ext>
            </a:extLst>
          </p:cNvPr>
          <p:cNvSpPr/>
          <p:nvPr/>
        </p:nvSpPr>
        <p:spPr>
          <a:xfrm>
            <a:off x="5611531" y="3098967"/>
            <a:ext cx="4683935" cy="330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7DDF3C-FA0E-5963-2B05-2E1A82DD683C}"/>
              </a:ext>
            </a:extLst>
          </p:cNvPr>
          <p:cNvSpPr/>
          <p:nvPr/>
        </p:nvSpPr>
        <p:spPr>
          <a:xfrm>
            <a:off x="10295466" y="3139440"/>
            <a:ext cx="1181947" cy="330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41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D16A-1500-B183-34E4-51D8FB05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AA9B-29A9-1CD4-87E8-6477E5F5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E5D4E-2146-54CB-46D8-509CFFD3F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A0BAB-5A2F-E23B-FBA6-857F0642A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DB2475D-FF0E-0885-2EE4-D06C0B65E09F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66768D-1A8E-399F-418E-00C62F0DDD05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39324-E766-2C5D-A8D1-06B4FFBCDF1B}"/>
              </a:ext>
            </a:extLst>
          </p:cNvPr>
          <p:cNvSpPr/>
          <p:nvPr/>
        </p:nvSpPr>
        <p:spPr>
          <a:xfrm>
            <a:off x="1571787" y="334392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F2C5B0-F1F9-1DCE-10F8-29F78447EAC4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4C5787-DC27-3A41-5331-922D71F9D18B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4E43FA-94D0-04C0-1324-FB469297A765}"/>
              </a:ext>
            </a:extLst>
          </p:cNvPr>
          <p:cNvSpPr/>
          <p:nvPr/>
        </p:nvSpPr>
        <p:spPr>
          <a:xfrm>
            <a:off x="1571787" y="4441924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AB7509-A431-4FE6-6173-AE8F012378C5}"/>
              </a:ext>
            </a:extLst>
          </p:cNvPr>
          <p:cNvSpPr/>
          <p:nvPr/>
        </p:nvSpPr>
        <p:spPr>
          <a:xfrm>
            <a:off x="1660513" y="4518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0E3E1-03CA-B2F6-EE78-8B0B8A5D9092}"/>
              </a:ext>
            </a:extLst>
          </p:cNvPr>
          <p:cNvSpPr/>
          <p:nvPr/>
        </p:nvSpPr>
        <p:spPr>
          <a:xfrm>
            <a:off x="1330661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BB882-BCF2-5780-B070-2A353F902407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7155A8-5207-8EA5-C47A-EF572D4A3FAF}"/>
              </a:ext>
            </a:extLst>
          </p:cNvPr>
          <p:cNvSpPr/>
          <p:nvPr/>
        </p:nvSpPr>
        <p:spPr>
          <a:xfrm>
            <a:off x="5879404" y="4145280"/>
            <a:ext cx="5945746" cy="213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123D2D-3B47-89DF-EE7D-09950856FB93}"/>
              </a:ext>
            </a:extLst>
          </p:cNvPr>
          <p:cNvSpPr/>
          <p:nvPr/>
        </p:nvSpPr>
        <p:spPr>
          <a:xfrm>
            <a:off x="7629985" y="3457852"/>
            <a:ext cx="4562015" cy="302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C094FD-55DB-9E28-7E41-CA9426F89DB7}"/>
              </a:ext>
            </a:extLst>
          </p:cNvPr>
          <p:cNvSpPr/>
          <p:nvPr/>
        </p:nvSpPr>
        <p:spPr>
          <a:xfrm>
            <a:off x="5870893" y="3868690"/>
            <a:ext cx="541751" cy="276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BED36D-5847-4EDA-A2E8-48F4F1EFE37C}"/>
              </a:ext>
            </a:extLst>
          </p:cNvPr>
          <p:cNvSpPr/>
          <p:nvPr/>
        </p:nvSpPr>
        <p:spPr>
          <a:xfrm>
            <a:off x="6477106" y="3898817"/>
            <a:ext cx="1312227" cy="2765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1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6335-7DBB-45EE-0888-35D90E59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6B1C-AB03-785C-978A-9A7396A54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1217F-6BFA-5EDC-656B-1DC7EBC64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72C3DD-C15B-205E-5DC0-73CABEA04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5ED1A98-470D-D008-0DE7-687DD8C90BCE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09BF58-BA78-36EE-2521-4C173344834F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AAED3-5CE6-8F37-8D3E-2A06A13F0944}"/>
              </a:ext>
            </a:extLst>
          </p:cNvPr>
          <p:cNvSpPr/>
          <p:nvPr/>
        </p:nvSpPr>
        <p:spPr>
          <a:xfrm>
            <a:off x="1571787" y="3343929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70739D3-4101-9457-ABBB-392A8F400D8C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3B4C5-455C-6328-9CA4-320889447101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A854A0-DD0A-2743-0209-3680B196FDDD}"/>
              </a:ext>
            </a:extLst>
          </p:cNvPr>
          <p:cNvSpPr/>
          <p:nvPr/>
        </p:nvSpPr>
        <p:spPr>
          <a:xfrm>
            <a:off x="1660513" y="4518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8A7F7-AB14-1BBA-28C6-C03C35FC6A97}"/>
              </a:ext>
            </a:extLst>
          </p:cNvPr>
          <p:cNvSpPr/>
          <p:nvPr/>
        </p:nvSpPr>
        <p:spPr>
          <a:xfrm>
            <a:off x="1330661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9EA2C0-1286-7836-2136-CD064387E4D7}"/>
              </a:ext>
            </a:extLst>
          </p:cNvPr>
          <p:cNvSpPr/>
          <p:nvPr/>
        </p:nvSpPr>
        <p:spPr>
          <a:xfrm>
            <a:off x="1660513" y="342900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FEF2E-E52E-170D-0BCB-0FFC86FDC2E4}"/>
              </a:ext>
            </a:extLst>
          </p:cNvPr>
          <p:cNvSpPr/>
          <p:nvPr/>
        </p:nvSpPr>
        <p:spPr>
          <a:xfrm>
            <a:off x="2250124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3DBAE6-D72C-860F-9820-6DE8F1EE6746}"/>
              </a:ext>
            </a:extLst>
          </p:cNvPr>
          <p:cNvSpPr/>
          <p:nvPr/>
        </p:nvSpPr>
        <p:spPr>
          <a:xfrm>
            <a:off x="2719893" y="335368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89DAEFF-75FF-9CE9-6E3F-4A50510DA721}"/>
              </a:ext>
            </a:extLst>
          </p:cNvPr>
          <p:cNvGrpSpPr/>
          <p:nvPr/>
        </p:nvGrpSpPr>
        <p:grpSpPr>
          <a:xfrm>
            <a:off x="3749621" y="4511270"/>
            <a:ext cx="1083502" cy="720247"/>
            <a:chOff x="9644285" y="5772628"/>
            <a:chExt cx="1083502" cy="7202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CD6EB3-D94B-E49F-ABEE-5A268F3697BD}"/>
                </a:ext>
              </a:extLst>
            </p:cNvPr>
            <p:cNvSpPr/>
            <p:nvPr/>
          </p:nvSpPr>
          <p:spPr>
            <a:xfrm>
              <a:off x="9732675" y="5802814"/>
              <a:ext cx="906050" cy="567901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ED53C36-AD17-8667-A987-AE7B5AFF2A00}"/>
                </a:ext>
              </a:extLst>
            </p:cNvPr>
            <p:cNvSpPr/>
            <p:nvPr/>
          </p:nvSpPr>
          <p:spPr>
            <a:xfrm>
              <a:off x="9644285" y="5772628"/>
              <a:ext cx="1083502" cy="720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195F205-E1FD-B3F9-C2CD-024EB03646CB}"/>
              </a:ext>
            </a:extLst>
          </p:cNvPr>
          <p:cNvSpPr/>
          <p:nvPr/>
        </p:nvSpPr>
        <p:spPr>
          <a:xfrm>
            <a:off x="3160579" y="57351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7C8268-2D49-33B6-AA85-01BF22854313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282610-FC8C-DD19-D006-A5500234A4C6}"/>
              </a:ext>
            </a:extLst>
          </p:cNvPr>
          <p:cNvSpPr/>
          <p:nvPr/>
        </p:nvSpPr>
        <p:spPr>
          <a:xfrm>
            <a:off x="5879404" y="5289322"/>
            <a:ext cx="5945746" cy="9895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AFD2FB-0A77-AB22-B150-477EB3F9458D}"/>
              </a:ext>
            </a:extLst>
          </p:cNvPr>
          <p:cNvSpPr/>
          <p:nvPr/>
        </p:nvSpPr>
        <p:spPr>
          <a:xfrm>
            <a:off x="9072792" y="4169078"/>
            <a:ext cx="1344595" cy="3647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F866B6-F4CC-C483-BF9D-A4880F64C8FE}"/>
              </a:ext>
            </a:extLst>
          </p:cNvPr>
          <p:cNvSpPr/>
          <p:nvPr/>
        </p:nvSpPr>
        <p:spPr>
          <a:xfrm>
            <a:off x="5893499" y="4460663"/>
            <a:ext cx="3799141" cy="443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FF775-318B-D51F-3106-7FD00DF07AD3}"/>
              </a:ext>
            </a:extLst>
          </p:cNvPr>
          <p:cNvSpPr/>
          <p:nvPr/>
        </p:nvSpPr>
        <p:spPr>
          <a:xfrm>
            <a:off x="5970968" y="4864048"/>
            <a:ext cx="2608611" cy="3674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3449CB-04F6-A828-C72A-CE2D179C6409}"/>
              </a:ext>
            </a:extLst>
          </p:cNvPr>
          <p:cNvSpPr/>
          <p:nvPr/>
        </p:nvSpPr>
        <p:spPr>
          <a:xfrm>
            <a:off x="8610507" y="4921850"/>
            <a:ext cx="1488533" cy="443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27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 animBg="1"/>
      <p:bldP spid="20" grpId="0" animBg="1"/>
      <p:bldP spid="25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6BF1-3952-DF3A-AA8E-F90C4F39A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F301-D82D-1BC0-0483-78B598D1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Post-Order Traversal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47095-5002-E649-1C80-2E2F19209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5CC9C-75F7-B22C-7016-C459D10A1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19" y="285919"/>
            <a:ext cx="4489633" cy="17114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ED9BCF-2C5D-03EB-35AF-C99FCBD33065}"/>
              </a:ext>
            </a:extLst>
          </p:cNvPr>
          <p:cNvSpPr/>
          <p:nvPr/>
        </p:nvSpPr>
        <p:spPr>
          <a:xfrm>
            <a:off x="7473950" y="95250"/>
            <a:ext cx="4673600" cy="21795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F510C2-8497-DBF6-FCDE-C69914257024}"/>
              </a:ext>
            </a:extLst>
          </p:cNvPr>
          <p:cNvSpPr/>
          <p:nvPr/>
        </p:nvSpPr>
        <p:spPr>
          <a:xfrm>
            <a:off x="2113538" y="2196092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46E1C4-38AB-D9DB-755D-F24B7F1E2350}"/>
              </a:ext>
            </a:extLst>
          </p:cNvPr>
          <p:cNvSpPr/>
          <p:nvPr/>
        </p:nvSpPr>
        <p:spPr>
          <a:xfrm>
            <a:off x="522668" y="453382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DA3934-F5C5-63FE-1EE7-9D01314975EC}"/>
              </a:ext>
            </a:extLst>
          </p:cNvPr>
          <p:cNvSpPr/>
          <p:nvPr/>
        </p:nvSpPr>
        <p:spPr>
          <a:xfrm>
            <a:off x="411198" y="5751127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44BE4A-7CBE-F3A9-10A2-5052A491C112}"/>
              </a:ext>
            </a:extLst>
          </p:cNvPr>
          <p:cNvSpPr/>
          <p:nvPr/>
        </p:nvSpPr>
        <p:spPr>
          <a:xfrm>
            <a:off x="1660513" y="451809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6DB4-59F9-1A0D-2763-AB897A5D2149}"/>
              </a:ext>
            </a:extLst>
          </p:cNvPr>
          <p:cNvSpPr/>
          <p:nvPr/>
        </p:nvSpPr>
        <p:spPr>
          <a:xfrm>
            <a:off x="1330661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3E10D4-CFD7-F91A-4900-8137D9B13B39}"/>
              </a:ext>
            </a:extLst>
          </p:cNvPr>
          <p:cNvSpPr/>
          <p:nvPr/>
        </p:nvSpPr>
        <p:spPr>
          <a:xfrm>
            <a:off x="1660513" y="3429000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89B949-C3D5-42D2-2946-0C1E461A3D9C}"/>
              </a:ext>
            </a:extLst>
          </p:cNvPr>
          <p:cNvSpPr/>
          <p:nvPr/>
        </p:nvSpPr>
        <p:spPr>
          <a:xfrm>
            <a:off x="2250124" y="5735406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0A94F3-17DE-36BD-6E45-B3BF027D837F}"/>
              </a:ext>
            </a:extLst>
          </p:cNvPr>
          <p:cNvSpPr/>
          <p:nvPr/>
        </p:nvSpPr>
        <p:spPr>
          <a:xfrm>
            <a:off x="2719893" y="3353681"/>
            <a:ext cx="1083502" cy="720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1597909-213C-66F4-E5B3-C838A775EF48}"/>
              </a:ext>
            </a:extLst>
          </p:cNvPr>
          <p:cNvSpPr/>
          <p:nvPr/>
        </p:nvSpPr>
        <p:spPr>
          <a:xfrm>
            <a:off x="3838011" y="4541456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D40C1E-140B-B4F8-BEDB-B8BB8799B023}"/>
              </a:ext>
            </a:extLst>
          </p:cNvPr>
          <p:cNvSpPr/>
          <p:nvPr/>
        </p:nvSpPr>
        <p:spPr>
          <a:xfrm>
            <a:off x="3160579" y="57351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48B9F2-E7ED-2BD4-92A8-245AADF70F81}"/>
              </a:ext>
            </a:extLst>
          </p:cNvPr>
          <p:cNvSpPr/>
          <p:nvPr/>
        </p:nvSpPr>
        <p:spPr>
          <a:xfrm>
            <a:off x="2761415" y="3420101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DA92D5-29BF-CEFD-749A-2BCDA96ABB65}"/>
              </a:ext>
            </a:extLst>
          </p:cNvPr>
          <p:cNvSpPr/>
          <p:nvPr/>
        </p:nvSpPr>
        <p:spPr>
          <a:xfrm>
            <a:off x="4080042" y="57174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4A9571-3393-DBFF-0F6A-BA007240E2F0}"/>
              </a:ext>
            </a:extLst>
          </p:cNvPr>
          <p:cNvSpPr/>
          <p:nvPr/>
        </p:nvSpPr>
        <p:spPr>
          <a:xfrm>
            <a:off x="2202264" y="2284614"/>
            <a:ext cx="906050" cy="567901"/>
          </a:xfrm>
          <a:prstGeom prst="ellipse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53635B-6397-0F20-FC54-B2F03170B9E5}"/>
              </a:ext>
            </a:extLst>
          </p:cNvPr>
          <p:cNvSpPr/>
          <p:nvPr/>
        </p:nvSpPr>
        <p:spPr>
          <a:xfrm>
            <a:off x="4999505" y="5717418"/>
            <a:ext cx="782877" cy="9895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A4E974-A7A2-5B5C-8E2D-F72D6AAB8F93}"/>
              </a:ext>
            </a:extLst>
          </p:cNvPr>
          <p:cNvSpPr txBox="1"/>
          <p:nvPr/>
        </p:nvSpPr>
        <p:spPr>
          <a:xfrm>
            <a:off x="5870893" y="265959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to 8 → go left to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left to 1 → both left/right null → print 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3 → go right to 6 → both left/right null → print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3 done → print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Back to 8 → go right to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Go right again to 14 → print 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10 done → print 10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system-ui"/>
              </a:rPr>
              <a:t> Both children of 8 done → print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8459D2-6B4D-A49B-9CE0-85BEFEC2F3CC}"/>
              </a:ext>
            </a:extLst>
          </p:cNvPr>
          <p:cNvSpPr/>
          <p:nvPr/>
        </p:nvSpPr>
        <p:spPr>
          <a:xfrm>
            <a:off x="9279501" y="5317861"/>
            <a:ext cx="2608611" cy="32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521246-8A74-0C84-66EA-50B5FDCBDAA1}"/>
              </a:ext>
            </a:extLst>
          </p:cNvPr>
          <p:cNvSpPr/>
          <p:nvPr/>
        </p:nvSpPr>
        <p:spPr>
          <a:xfrm>
            <a:off x="5909960" y="5697098"/>
            <a:ext cx="3145987" cy="2905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62FDE0-653F-5F17-E743-63EE1DB815B2}"/>
              </a:ext>
            </a:extLst>
          </p:cNvPr>
          <p:cNvSpPr/>
          <p:nvPr/>
        </p:nvSpPr>
        <p:spPr>
          <a:xfrm>
            <a:off x="9095014" y="5713786"/>
            <a:ext cx="1363013" cy="273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3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5" grpId="0" animBg="1"/>
      <p:bldP spid="19" grpId="0" animBg="1"/>
      <p:bldP spid="21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903E-FD0C-21A2-DFC2-ED93FFAE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Traversal: Recap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E519E-E9F2-EAE4-6580-60BEE77F0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2245934"/>
            <a:ext cx="4310455" cy="2916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AD4DF-EF2D-9A91-B2C7-CDD83899C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705" y="2359524"/>
            <a:ext cx="6968275" cy="173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825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37FE-D78A-1076-1BAE-33C6B4C8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5F4E6-B4B0-0464-6675-2459D68480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toString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198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CDA-64FD-5EF8-7E6B-A992A4B3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toString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85DDF-9F19-1186-F003-EB2127DE0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8" y="2346892"/>
            <a:ext cx="4310455" cy="2916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8EF57D-2799-37D0-6CD8-409C15AB89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524" r="1462" b="4510"/>
          <a:stretch>
            <a:fillRect/>
          </a:stretch>
        </p:blipFill>
        <p:spPr>
          <a:xfrm>
            <a:off x="6833305" y="1933662"/>
            <a:ext cx="4310455" cy="380440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3216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2BE5-4713-24F4-ED18-BF958D74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54A4-6A79-2063-59EF-01F2D8679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Removal</a:t>
            </a:r>
          </a:p>
        </p:txBody>
      </p:sp>
    </p:spTree>
    <p:extLst>
      <p:ext uri="{BB962C8B-B14F-4D97-AF65-F5344CB8AC3E}">
        <p14:creationId xmlns:p14="http://schemas.microsoft.com/office/powerpoint/2010/main" val="1853606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A893-F9C1-B2A5-2B02-AF9246DA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AEC7-3221-189A-DF29-DFE84B5A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7D41113-2E4E-6C26-5405-8CC134A6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1: A Leaf Node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D230A7-3B44-1630-C972-50CF3B6A9DB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2FFC78-CA35-670A-4932-54C5EAA41DB2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656737-DBE6-A909-ECA7-D31A14A66409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4478BF-B259-0BDC-99C4-6F957E50BF54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49ED7F1-AB11-C7BB-E7F9-3ED50E00A15D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DD8783-3181-F0E4-9AB4-02B5B6FB5AE1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95FCD2-3794-187C-C746-257E74B500C9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9D4D6C-2AA3-CF83-B48A-B53EAC0C524C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D22B40-F266-4707-2CA6-2BE40ADAD02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3F625B-B5F1-6AF4-5ED9-E287807FCD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2AA544-9F19-D0F7-85B7-E15D393FC0B8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9AEAD6D-7E1F-86AB-F991-11B6AF39C840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AF5B5D-9892-F0AF-C460-8195916F167B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278D43-81EC-A173-7B7C-EF8D08958F33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1B0654-6E8F-3729-AD3B-E2F6737F8A11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5DD44C-7F8A-F259-8BC2-B618BE03ACE4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40222F-E887-946C-7A70-E0F7C6466169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3D6B0AF-9775-73DB-CC8A-8BFFF03F737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C78B2-7338-332A-FB6C-2AF153EDE002}"/>
              </a:ext>
            </a:extLst>
          </p:cNvPr>
          <p:cNvCxnSpPr>
            <a:endCxn id="9" idx="1"/>
          </p:cNvCxnSpPr>
          <p:nvPr/>
        </p:nvCxnSpPr>
        <p:spPr bwMode="auto">
          <a:xfrm rot="16200000" flipH="1">
            <a:off x="6923137" y="493141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37A4CDF-50D1-8333-7DE4-5ABB4562225A}"/>
              </a:ext>
            </a:extLst>
          </p:cNvPr>
          <p:cNvSpPr/>
          <p:nvPr/>
        </p:nvSpPr>
        <p:spPr bwMode="auto">
          <a:xfrm>
            <a:off x="7183399" y="519167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BE0D6C-F695-C80D-DD55-D91E42C8C9D1}"/>
              </a:ext>
            </a:extLst>
          </p:cNvPr>
          <p:cNvCxnSpPr>
            <a:cxnSpLocks/>
            <a:endCxn id="50" idx="7"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7C4A88-DAD5-7367-D311-4303448FEA0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737D62-494E-93D4-0C16-AA514CE41A9E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AE6758-05F6-3F41-882A-6F708B935FDF}"/>
              </a:ext>
            </a:extLst>
          </p:cNvPr>
          <p:cNvCxnSpPr>
            <a:cxnSpLocks/>
            <a:endCxn id="57" idx="7"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AAF34-B3AF-EE6A-F0DC-5A3DBE77F3D7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EA14A-21D8-6D3E-0A5D-1657AAF6288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E0E9B0-3960-B4D4-7FFE-FC3657414282}"/>
              </a:ext>
            </a:extLst>
          </p:cNvPr>
          <p:cNvCxnSpPr>
            <a:cxnSpLocks/>
            <a:stCxn id="50" idx="5"/>
            <a:endCxn id="51" idx="1"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3CFE89-BC7E-529C-85B8-EDA7F264A9F1}"/>
              </a:ext>
            </a:extLst>
          </p:cNvPr>
          <p:cNvCxnSpPr>
            <a:cxnSpLocks/>
            <a:stCxn id="45" idx="5"/>
            <a:endCxn id="9" idx="1"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5B07EDF-3D69-7B39-BBAB-0AAA61975922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73CA13E-DC58-4141-F93F-2604656696E9}"/>
              </a:ext>
            </a:extLst>
          </p:cNvPr>
          <p:cNvSpPr/>
          <p:nvPr/>
        </p:nvSpPr>
        <p:spPr>
          <a:xfrm>
            <a:off x="6143275" y="4900020"/>
            <a:ext cx="563375" cy="949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0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4625-E1AA-420D-7173-82150EAC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D36F-7459-49EA-9483-F6A232C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A61B616-9FD4-B862-0370-94A3C153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5C8A7-CACA-94DC-FAE2-D4AE46BEFF89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21D7BF-14BF-42FF-A049-FD48CFE2DDCC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D7E3F4-845F-4587-DC93-D8E610FF3B48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E3297-96DF-31C8-837E-0BABB0E096E7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5F737E45-FA07-7812-7AFD-A4D7B52148CE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FA7AD3-3B7D-2CA1-8920-42C7B57C531F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0B29570-BFF8-E88C-926F-FF4DCE77696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566149-931A-9B16-4AA1-1B32CBAD0B23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9DC567-4876-10E7-75A9-A73B896F7D9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55B820-5EB7-5DF3-BB8B-062BAE06CE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B81AE6-BE69-27D6-32EE-AEC81D0D4335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66725C-53E3-3B37-5C5C-3706B062E7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97C0A9-34A6-BF20-9637-45C7FB46FE0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8D44E98-D203-BB95-9178-C0AFB1A97A39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53004-9533-CE35-48FC-EBA7CDB60879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EBFD0-0123-DA8A-B600-C5A1A403922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C25158-923F-7D9A-B01D-F1B9FF3A61F5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60CDBEF-3862-F20A-5AE3-DFA5DCCFD487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D42436-D915-89FB-0007-7EF48B92381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F6C8839-0257-C613-4A8B-AA8ED7C0576C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E53CCF-E3B9-7911-C685-4ED4ABF9A653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6BB4ED-9D82-CFCE-3A6D-1B3ED9DEE11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7D593-21F1-17A7-DBB4-0DD6F105010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0C63FF-5D4D-C478-8AC9-DD996A418DCD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B00D5D-C19D-35DF-C4CD-433323576389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CA672E-4435-12EB-6CE3-BE8845AA014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FF8668-41B2-4CDE-E61C-B7EBDAD2E5DC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B92B2-A664-4D5D-6793-28785D7DBC21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BDCDA-60ED-3B9E-0B2B-039B95DA20F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ADC436-9560-F3F4-40BB-AE08BD3AB365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57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E10E-2974-3BF7-FBEA-6AE56B1F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E6C6-4A32-520E-FA5F-0F0233B6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DB053C-3912-4059-37C7-1C407C80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2CC026-B575-5376-E835-2B2DF38F9748}"/>
              </a:ext>
            </a:extLst>
          </p:cNvPr>
          <p:cNvCxnSpPr>
            <a:cxnSpLocks/>
            <a:stCxn id="42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0A3A00-E030-871B-8371-2D5D1B1D77C3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26EAC0-5CC0-8D56-4C2C-443106F533FE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AF52840-56B9-9B57-2578-33129B7CDF1C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06FBBC-CC98-1981-97BE-FCAE2981857F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E81FED-67B5-CFB9-686F-D6B415905C84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6DF9D51-66BE-21CA-A9BC-BA94A28926A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462EAE-915B-8BD3-F1F1-6AA9CB0F376A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3C4B0B-1F33-8638-2DB7-75286B8B9A21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551C5FC-F8EB-F885-C739-DEBB96671CDD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D2CA37-3F52-906C-4142-E9C7B4F0EFF8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FF37E2-7C73-3C51-E627-2DCAE4C8A15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4649555-8D92-EF8A-C549-BB00066DBFD2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0F31B-60D2-AE90-8C91-D487C77A0F4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97FB72-B1DA-F60F-21E5-1A661BDB22B8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E12787A-E50F-E55E-44CD-63EE88343B2B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00F1E1-B79D-DC7F-EBFE-11C9A30429E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17FF1E2-0033-2910-F5E2-36DD8F9051DC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BA1A1-A83F-789A-B761-418A975379D9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0D273E-C492-8355-9C7F-7179BF7AE79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E70A18-262B-D351-CEDF-EA89CAEDECF2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00DE45-CC14-66BE-A392-12CC82AE27A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F7EF03-03F1-9218-581F-6DEEC2E05C3A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43B69D-2860-C0A0-7602-7AF940DD0593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3B9AA8-8B8C-37E0-2D4D-ECC071EE27BD}"/>
              </a:ext>
            </a:extLst>
          </p:cNvPr>
          <p:cNvCxnSpPr>
            <a:cxnSpLocks/>
            <a:stCxn id="45" idx="5"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B2EAB-1E09-0CE5-3CDF-3BBA2D6E01A1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AAFB08-1E32-8742-294B-9C520320E6C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167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378C-5E04-2BD9-C9DA-F412C336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D289-BB8A-1400-4E00-6399BEB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E9DB21-FCEB-A632-396B-02014977D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440D2F-C97F-DC96-2A72-EF00B2581E0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2CBC40-92C4-CAE7-015D-6A298BE5F9F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0CED8-6367-5425-CA90-1E677FB4D59C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D9239-B456-CFC0-90BD-F2D9F7200E0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27382A-19AA-19D7-B861-760B1B053EA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D514D1-C48E-4B2B-AEC9-EAF2637931BD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8F0D20-5C81-9BE9-D85D-6C3843D827F9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B128FA-216A-99FA-C98C-4251DF20E7A8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9A56F-2DCD-BC9B-080E-6B42ED0B29CB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1D5147-6AF2-D247-6C94-EBE64F2C78FC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E1AA812-B985-D5D2-693E-15163BE16EE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514919-2C8D-C1C6-F941-52E01C768FDC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5D2E3A-A272-90C7-47BF-C45D52969C24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1F3243-3AF8-A702-392D-ED14108C26F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8B47A8-5DE7-1F25-0FB7-F8A65DB7CDE6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6FE40BD-9F10-566E-66AE-F946B511FEEF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0CF716-808A-E206-E4CB-711F3C90018D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532AF56-634D-66D0-E20F-4E8056534F5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E6D5C4-CA19-C2B0-C63C-BCEE5851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56"/>
          <a:stretch>
            <a:fillRect/>
          </a:stretch>
        </p:blipFill>
        <p:spPr>
          <a:xfrm>
            <a:off x="3165933" y="5804149"/>
            <a:ext cx="6058211" cy="849685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8CDC2DE-BD90-CA93-8B79-8CF6D01ADC10}"/>
              </a:ext>
            </a:extLst>
          </p:cNvPr>
          <p:cNvSpPr/>
          <p:nvPr/>
        </p:nvSpPr>
        <p:spPr>
          <a:xfrm>
            <a:off x="6092047" y="3527490"/>
            <a:ext cx="2747074" cy="1627238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B47E8D-CC29-F658-997B-C2AB489AEE37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17D7C1-EBFA-B1DA-F697-988750E9525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FBC3E9-CA50-70B5-1F04-2649090C5A89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902D7-8B3B-760A-5CB7-7999C34D3EC7}"/>
              </a:ext>
            </a:extLst>
          </p:cNvPr>
          <p:cNvSpPr txBox="1"/>
          <p:nvPr/>
        </p:nvSpPr>
        <p:spPr>
          <a:xfrm>
            <a:off x="8983677" y="1499192"/>
            <a:ext cx="3041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The node to promote:</a:t>
            </a:r>
          </a:p>
          <a:p>
            <a:endParaRPr lang="en-US" dirty="0"/>
          </a:p>
          <a:p>
            <a:r>
              <a:rPr lang="en-US" dirty="0"/>
              <a:t>Is it in the left or right subtree?</a:t>
            </a:r>
          </a:p>
          <a:p>
            <a:endParaRPr lang="en-US" dirty="0"/>
          </a:p>
          <a:p>
            <a:r>
              <a:rPr lang="en-US" dirty="0"/>
              <a:t>Is it the smallest value or the largest value in the right subtree?</a:t>
            </a:r>
          </a:p>
          <a:p>
            <a:endParaRPr lang="en-US" dirty="0"/>
          </a:p>
          <a:p>
            <a:r>
              <a:rPr lang="en-US" dirty="0"/>
              <a:t>Where is the smallest value located in the right subtree?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CA0FC-8E0D-C6D9-7575-428994676580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13DFD0-F0C7-C4F7-CB76-63C5EBFF874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053AA-D6E0-711A-2DDE-AE58CCE51258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C462FE-B6A1-AD6D-0A35-534F214BD58B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C3636-7A89-4E48-5D03-71DB0FD6C9AA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0D997-3497-0E43-CE0C-4623498F7362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65B1E3-1E84-5F2B-B375-459346BA9F9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B4792A-D11D-E326-D29B-EBEDD2255F8E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E7B7E3-6990-C7F5-F606-899203355D72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37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4" grpId="0" animBg="1"/>
      <p:bldP spid="35" grpId="0" animBg="1"/>
      <p:bldP spid="36" grpId="0" animBg="1"/>
      <p:bldP spid="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C26A-8C0E-59F4-62F1-4040302E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AA42-CD84-22F1-16B9-923E11AF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DECBEE0-B345-AFC4-ECA5-EFFFB551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4B52DD-11AA-70BE-41B2-AB378BEC9C46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CE39E-2156-7514-3875-33FB4BC7477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0CBDEC-5F84-E620-521B-DC69E663788A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381CC12-1BB1-752D-7ED4-06447A4D5AD6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6879DC-92BF-A5D0-AEF0-83FBF67CD5D5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E556F8-41FC-3AB0-F0A1-67809063E459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BDD203-179A-C3BF-B826-D9A902BE7DE1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CF5C64-0554-0A2A-8426-062D36C125D6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42399C5-20C7-0CA2-99F0-F20DF34402FC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4F76EA-2D67-03FC-4B77-1491DFAF90B0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3F16FD-C88A-EE36-0105-AEE2EB42CF07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47E143-625E-53F2-59E7-D1909777D5DC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AF302-03F7-CE6A-960F-31004C14068B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FC80349-FB5C-3BCD-F323-E8B03416E1F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F1087B-3FD1-2249-0DE8-55A2CACFDC2F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EB2D026-F374-44FD-581D-AE7E4F831FC0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0E76B-4309-218C-1C18-CD80D8AB59CD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2E6539-3484-A6FF-1438-C1F7BD35193F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D014F-DFA3-37B5-ABB2-20F6E3B9A1A1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5767BA-55F5-1D67-729A-228D3B92E44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8BF43-794F-A8AA-4D88-612604B91CC2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8C3331-4C31-EB10-E7E8-DDFB97A30964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D16FC-C7FD-663A-4DAE-88D53338E8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CA6EA4-226E-D1E7-3433-ABCA58EB2DFE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485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2BE5-4713-24F4-ED18-BF958D74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54A4-6A79-2063-59EF-01F2D86794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Removal</a:t>
            </a:r>
          </a:p>
        </p:txBody>
      </p:sp>
    </p:spTree>
    <p:extLst>
      <p:ext uri="{BB962C8B-B14F-4D97-AF65-F5344CB8AC3E}">
        <p14:creationId xmlns:p14="http://schemas.microsoft.com/office/powerpoint/2010/main" val="2826993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9A893-F9C1-B2A5-2B02-AF9246DA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AEC7-3221-189A-DF29-DFE84B5A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7D41113-2E4E-6C26-5405-8CC134A65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1: A Leaf Node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D230A7-3B44-1630-C972-50CF3B6A9DB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2FFC78-CA35-670A-4932-54C5EAA41DB2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6656737-DBE6-A909-ECA7-D31A14A66409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34478BF-B259-0BDC-99C4-6F957E50BF54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49ED7F1-AB11-C7BB-E7F9-3ED50E00A15D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DD8783-3181-F0E4-9AB4-02B5B6FB5AE1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95FCD2-3794-187C-C746-257E74B500C9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9D4D6C-2AA3-CF83-B48A-B53EAC0C524C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DD22B40-F266-4707-2CA6-2BE40ADAD02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3F625B-B5F1-6AF4-5ED9-E287807FCD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A2AA544-9F19-D0F7-85B7-E15D393FC0B8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9AEAD6D-7E1F-86AB-F991-11B6AF39C840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AF5B5D-9892-F0AF-C460-8195916F167B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A278D43-81EC-A173-7B7C-EF8D08958F33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41B0654-6E8F-3729-AD3B-E2F6737F8A11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5DD44C-7F8A-F259-8BC2-B618BE03ACE4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19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640222F-E887-946C-7A70-E0F7C6466169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3D6B0AF-9775-73DB-CC8A-8BFFF03F737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DC78B2-7338-332A-FB6C-2AF153EDE002}"/>
              </a:ext>
            </a:extLst>
          </p:cNvPr>
          <p:cNvCxnSpPr>
            <a:endCxn id="9" idx="1"/>
          </p:cNvCxnSpPr>
          <p:nvPr/>
        </p:nvCxnSpPr>
        <p:spPr bwMode="auto">
          <a:xfrm rot="16200000" flipH="1">
            <a:off x="6923137" y="493141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37A4CDF-50D1-8333-7DE4-5ABB4562225A}"/>
              </a:ext>
            </a:extLst>
          </p:cNvPr>
          <p:cNvSpPr/>
          <p:nvPr/>
        </p:nvSpPr>
        <p:spPr bwMode="auto">
          <a:xfrm>
            <a:off x="7183399" y="519167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6BE0D6C-F695-C80D-DD55-D91E42C8C9D1}"/>
              </a:ext>
            </a:extLst>
          </p:cNvPr>
          <p:cNvCxnSpPr>
            <a:cxnSpLocks/>
            <a:endCxn id="50" idx="7"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7C4A88-DAD5-7367-D311-4303448FEA0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737D62-494E-93D4-0C16-AA514CE41A9E}"/>
              </a:ext>
            </a:extLst>
          </p:cNvPr>
          <p:cNvCxnSpPr>
            <a:cxnSpLocks/>
            <a:endCxn id="53" idx="7"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AE6758-05F6-3F41-882A-6F708B935FDF}"/>
              </a:ext>
            </a:extLst>
          </p:cNvPr>
          <p:cNvCxnSpPr>
            <a:cxnSpLocks/>
            <a:endCxn id="57" idx="7"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AAF34-B3AF-EE6A-F0DC-5A3DBE77F3D7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EA14A-21D8-6D3E-0A5D-1657AAF6288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E0E9B0-3960-B4D4-7FFE-FC3657414282}"/>
              </a:ext>
            </a:extLst>
          </p:cNvPr>
          <p:cNvCxnSpPr>
            <a:cxnSpLocks/>
            <a:stCxn id="50" idx="5"/>
            <a:endCxn id="51" idx="1"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3CFE89-BC7E-529C-85B8-EDA7F264A9F1}"/>
              </a:ext>
            </a:extLst>
          </p:cNvPr>
          <p:cNvCxnSpPr>
            <a:cxnSpLocks/>
            <a:stCxn id="45" idx="5"/>
            <a:endCxn id="9" idx="1"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5B07EDF-3D69-7B39-BBAB-0AAA61975922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73CA13E-DC58-4141-F93F-2604656696E9}"/>
              </a:ext>
            </a:extLst>
          </p:cNvPr>
          <p:cNvSpPr/>
          <p:nvPr/>
        </p:nvSpPr>
        <p:spPr>
          <a:xfrm>
            <a:off x="6143275" y="4900020"/>
            <a:ext cx="563375" cy="949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8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4625-E1AA-420D-7173-82150EAC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D36F-7459-49EA-9483-F6A232C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A61B616-9FD4-B862-0370-94A3C153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85C8A7-CACA-94DC-FAE2-D4AE46BEFF89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21D7BF-14BF-42FF-A049-FD48CFE2DDCC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D7E3F4-845F-4587-DC93-D8E610FF3B48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C6E3297-96DF-31C8-837E-0BABB0E096E7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5F737E45-FA07-7812-7AFD-A4D7B52148CE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FA7AD3-3B7D-2CA1-8920-42C7B57C531F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0B29570-BFF8-E88C-926F-FF4DCE77696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2566149-931A-9B16-4AA1-1B32CBAD0B23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9DC567-4876-10E7-75A9-A73B896F7D9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55B820-5EB7-5DF3-BB8B-062BAE06CEDE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B81AE6-BE69-27D6-32EE-AEC81D0D4335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B66725C-53E3-3B37-5C5C-3706B062E7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C97C0A9-34A6-BF20-9637-45C7FB46FE0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8D44E98-D203-BB95-9178-C0AFB1A97A39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53004-9533-CE35-48FC-EBA7CDB60879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2EBFD0-0123-DA8A-B600-C5A1A403922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EC25158-923F-7D9A-B01D-F1B9FF3A61F5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60CDBEF-3862-F20A-5AE3-DFA5DCCFD487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D42436-D915-89FB-0007-7EF48B92381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F6C8839-0257-C613-4A8B-AA8ED7C0576C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E53CCF-E3B9-7911-C685-4ED4ABF9A653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6BB4ED-9D82-CFCE-3A6D-1B3ED9DEE11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F7D593-21F1-17A7-DBB4-0DD6F105010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0C63FF-5D4D-C478-8AC9-DD996A418DCD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B00D5D-C19D-35DF-C4CD-433323576389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CA672E-4435-12EB-6CE3-BE8845AA014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FF8668-41B2-4CDE-E61C-B7EBDAD2E5DC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B92B2-A664-4D5D-6793-28785D7DBC21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BDCDA-60ED-3B9E-0B2B-039B95DA20F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ADC436-9560-F3F4-40BB-AE08BD3AB365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09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E10E-2974-3BF7-FBEA-6AE56B1F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E6C6-4A32-520E-FA5F-0F0233B6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DB053C-3912-4059-37C7-1C407C80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2CC026-B575-5376-E835-2B2DF38F9748}"/>
              </a:ext>
            </a:extLst>
          </p:cNvPr>
          <p:cNvCxnSpPr>
            <a:cxnSpLocks/>
            <a:stCxn id="42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0A3A00-E030-871B-8371-2D5D1B1D77C3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26EAC0-5CC0-8D56-4C2C-443106F533FE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9AF52840-56B9-9B57-2578-33129B7CDF1C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06FBBC-CC98-1981-97BE-FCAE2981857F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E81FED-67B5-CFB9-686F-D6B415905C84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6DF9D51-66BE-21CA-A9BC-BA94A28926A2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9462EAE-915B-8BD3-F1F1-6AA9CB0F376A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33C4B0B-1F33-8638-2DB7-75286B8B9A21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551C5FC-F8EB-F885-C739-DEBB96671CDD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D2CA37-3F52-906C-4142-E9C7B4F0EFF8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DFF37E2-7C73-3C51-E627-2DCAE4C8A15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4649555-8D92-EF8A-C549-BB00066DBFD2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A90F31B-60D2-AE90-8C91-D487C77A0F4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D97FB72-B1DA-F60F-21E5-1A661BDB22B8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E12787A-E50F-E55E-44CD-63EE88343B2B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00F1E1-B79D-DC7F-EBFE-11C9A30429E4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17FF1E2-0033-2910-F5E2-36DD8F9051DC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BA1A1-A83F-789A-B761-418A975379D9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0D273E-C492-8355-9C7F-7179BF7AE794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E70A18-262B-D351-CEDF-EA89CAEDECF2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00DE45-CC14-66BE-A392-12CC82AE27A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F7EF03-03F1-9218-581F-6DEEC2E05C3A}"/>
              </a:ext>
            </a:extLst>
          </p:cNvPr>
          <p:cNvCxnSpPr>
            <a:cxnSpLocks/>
            <a:stCxn id="45" idx="3"/>
            <a:endCxn id="46" idx="7"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43B69D-2860-C0A0-7602-7AF940DD0593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3B9AA8-8B8C-37E0-2D4D-ECC071EE27BD}"/>
              </a:ext>
            </a:extLst>
          </p:cNvPr>
          <p:cNvCxnSpPr>
            <a:cxnSpLocks/>
            <a:stCxn id="45" idx="5"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FB2EAB-1E09-0CE5-3CDF-3BBA2D6E01A1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AAFB08-1E32-8742-294B-9C520320E6C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7002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378C-5E04-2BD9-C9DA-F412C336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D289-BB8A-1400-4E00-6399BEB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DE9DB21-FCEB-A632-396B-02014977D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440D2F-C97F-DC96-2A72-EF00B2581E08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2CBC40-92C4-CAE7-015D-6A298BE5F9F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10CED8-6367-5425-CA90-1E677FB4D59C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D9239-B456-CFC0-90BD-F2D9F7200E0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A27382A-19AA-19D7-B861-760B1B053EA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D514D1-C48E-4B2B-AEC9-EAF2637931BD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8F0D20-5C81-9BE9-D85D-6C3843D827F9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B128FA-216A-99FA-C98C-4251DF20E7A8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A9A56F-2DCD-BC9B-080E-6B42ED0B29CB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1D5147-6AF2-D247-6C94-EBE64F2C78FC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E1AA812-B985-D5D2-693E-15163BE16EE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514919-2C8D-C1C6-F941-52E01C768FDC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85D2E3A-A272-90C7-47BF-C45D52969C24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E1F3243-3AF8-A702-392D-ED14108C26F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8B47A8-5DE7-1F25-0FB7-F8A65DB7CDE6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6FE40BD-9F10-566E-66AE-F946B511FEEF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0CF716-808A-E206-E4CB-711F3C90018D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532AF56-634D-66D0-E20F-4E8056534F5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E6D5C4-CA19-C2B0-C63C-BCEE58511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56"/>
          <a:stretch>
            <a:fillRect/>
          </a:stretch>
        </p:blipFill>
        <p:spPr>
          <a:xfrm>
            <a:off x="3165933" y="5804149"/>
            <a:ext cx="6058211" cy="849685"/>
          </a:xfrm>
          <a:prstGeom prst="rect">
            <a:avLst/>
          </a:prstGeom>
        </p:spPr>
      </p:pic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8CDC2DE-BD90-CA93-8B79-8CF6D01ADC10}"/>
              </a:ext>
            </a:extLst>
          </p:cNvPr>
          <p:cNvSpPr/>
          <p:nvPr/>
        </p:nvSpPr>
        <p:spPr>
          <a:xfrm>
            <a:off x="6092047" y="3527490"/>
            <a:ext cx="2747074" cy="1627238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EB47E8D-CC29-F658-997B-C2AB489AEE37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17D7C1-EBFA-B1DA-F697-988750E9525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EFBC3E9-CA50-70B5-1F04-2649090C5A89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1902D7-8B3B-760A-5CB7-7999C34D3EC7}"/>
              </a:ext>
            </a:extLst>
          </p:cNvPr>
          <p:cNvSpPr txBox="1"/>
          <p:nvPr/>
        </p:nvSpPr>
        <p:spPr>
          <a:xfrm>
            <a:off x="8983677" y="1499192"/>
            <a:ext cx="3041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The node to promote:</a:t>
            </a:r>
          </a:p>
          <a:p>
            <a:endParaRPr lang="en-US" dirty="0"/>
          </a:p>
          <a:p>
            <a:r>
              <a:rPr lang="en-US" dirty="0"/>
              <a:t>Is it in the left or right subtree?</a:t>
            </a:r>
          </a:p>
          <a:p>
            <a:endParaRPr lang="en-US" dirty="0"/>
          </a:p>
          <a:p>
            <a:r>
              <a:rPr lang="en-US" dirty="0"/>
              <a:t>Is it the smallest value or the largest value in the right subtree?</a:t>
            </a:r>
          </a:p>
          <a:p>
            <a:endParaRPr lang="en-US" dirty="0"/>
          </a:p>
          <a:p>
            <a:r>
              <a:rPr lang="en-US" dirty="0"/>
              <a:t>Where is the smallest value located in the right subtree?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CA0FC-8E0D-C6D9-7575-428994676580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713DFD0-F0C7-C4F7-CB76-63C5EBFF874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D053AA-D6E0-711A-2DDE-AE58CCE51258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C462FE-B6A1-AD6D-0A35-534F214BD58B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C3636-7A89-4E48-5D03-71DB0FD6C9AA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0D997-3497-0E43-CE0C-4623498F7362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65B1E3-1E84-5F2B-B375-459346BA9F9C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DB4792A-D11D-E326-D29B-EBEDD2255F8E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E7B7E3-6990-C7F5-F606-899203355D72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4EAD73-C6B8-EA16-CEEA-F6D27E3EAE3B}"/>
              </a:ext>
            </a:extLst>
          </p:cNvPr>
          <p:cNvSpPr txBox="1"/>
          <p:nvPr/>
        </p:nvSpPr>
        <p:spPr>
          <a:xfrm>
            <a:off x="6365467" y="5174618"/>
            <a:ext cx="2326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19 is leaf node </a:t>
            </a:r>
          </a:p>
          <a:p>
            <a:pPr algn="ctr"/>
            <a:r>
              <a:rPr lang="en-US" dirty="0"/>
              <a:t>(</a:t>
            </a:r>
            <a:r>
              <a:rPr lang="en-US" b="1" dirty="0"/>
              <a:t>Case 1</a:t>
            </a:r>
            <a:r>
              <a:rPr lang="en-US" dirty="0"/>
              <a:t>).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E00CC4-6514-E1D9-99F8-A1E3135999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ABA448E-2172-EA05-729E-B6917C436B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3949"/>
          <a:stretch>
            <a:fillRect/>
          </a:stretch>
        </p:blipFill>
        <p:spPr>
          <a:xfrm>
            <a:off x="647853" y="4327304"/>
            <a:ext cx="2819545" cy="6610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4581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4" grpId="0" animBg="1"/>
      <p:bldP spid="35" grpId="0" animBg="1"/>
      <p:bldP spid="36" grpId="0" animBg="1"/>
      <p:bldP spid="37" grpId="0" animBg="1"/>
      <p:bldP spid="38" grpId="0" build="allAtOnce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C26A-8C0E-59F4-62F1-4040302E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AA42-CD84-22F1-16B9-923E11AF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DECBEE0-B345-AFC4-ECA5-EFFFB551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4B52DD-11AA-70BE-41B2-AB378BEC9C46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FCE39E-2156-7514-3875-33FB4BC74773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0CBDEC-5F84-E620-521B-DC69E663788A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381CC12-1BB1-752D-7ED4-06447A4D5AD6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6879DC-92BF-A5D0-AEF0-83FBF67CD5D5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E556F8-41FC-3AB0-F0A1-67809063E459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BDD203-179A-C3BF-B826-D9A902BE7DE1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CF5C64-0554-0A2A-8426-062D36C125D6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42399C5-20C7-0CA2-99F0-F20DF34402FC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4F76EA-2D67-03FC-4B77-1491DFAF90B0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3F16FD-C88A-EE36-0105-AEE2EB42CF07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47E143-625E-53F2-59E7-D1909777D5DC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AF302-03F7-CE6A-960F-31004C14068B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1FC80349-FB5C-3BCD-F323-E8B03416E1FE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F1087B-3FD1-2249-0DE8-55A2CACFDC2F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EB2D026-F374-44FD-581D-AE7E4F831FC0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0E76B-4309-218C-1C18-CD80D8AB59CD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2E6539-3484-A6FF-1438-C1F7BD35193F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5D014F-DFA3-37B5-ABB2-20F6E3B9A1A1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85767BA-55F5-1D67-729A-228D3B92E44E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18BF43-794F-A8AA-4D88-612604B91CC2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8C3331-4C31-EB10-E7E8-DDFB97A30964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D16FC-C7FD-663A-4DAE-88D53338E8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CA6EA4-226E-D1E7-3433-ABCA58EB2DFE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A6CFF91-4505-9DE8-B2AA-A507B3D9A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93229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C0B4-C62C-B96B-394B-27FD03D8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452A9-9D4D-F7FD-C3D4-36873BC5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29D165D-D2F7-8FA7-E0F5-B39CB7D86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FFE843-6AF5-5A6C-77DF-CA8E2B2309FE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42BBC5-F5C0-2DA5-9250-F3C62429BB67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114F73-5085-8300-ACA6-6C349136F973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C7996A-1F5E-FA4F-26E0-8D963130617F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19E7B5E-ABDA-362B-4F5F-368EBA1B8D4B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74B8ED-F9C6-A4BD-68B8-48763E1E8E12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34CBCF-5150-C6E7-AF0D-DC46E2FAD16F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F7686D-DB8E-ABAD-55A2-10BAD432954A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046366-BB08-CBF7-52B7-63ADAD7F170E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DCBB3C-4DA6-7F00-5AF5-147D4E32C8DB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8008C558-642A-5EA8-1729-A86C62F079CE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9E31DD-D628-65D0-56BF-5E0D58724A3E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20CF8F-366E-2F67-8F52-0EC6BD0197D5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392E55-558B-7AC1-F010-B5B5D1BC39E4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36F38E-6F31-3F84-E9C1-91B8487001D8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A08FFB7-AF04-9585-2ABA-FF962C09483A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18938C7-C62D-7DF1-8E71-0210FF1371CB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386C95F-98D9-85E9-4778-4462CFCE533E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58F1FE7A-1431-6C9D-C7BB-AD701F8FE407}"/>
              </a:ext>
            </a:extLst>
          </p:cNvPr>
          <p:cNvSpPr/>
          <p:nvPr/>
        </p:nvSpPr>
        <p:spPr>
          <a:xfrm>
            <a:off x="5985781" y="3486656"/>
            <a:ext cx="2898941" cy="2741796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39F116-80BA-BEB5-E897-75837CC03940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373EF1A-10FE-CCC6-9ED1-923430014B36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F3B7F9-9F3C-E8E2-0F92-8C0B2EB796DC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51FC6A-897F-3F39-4A20-803CE8F32BA2}"/>
              </a:ext>
            </a:extLst>
          </p:cNvPr>
          <p:cNvSpPr txBox="1"/>
          <p:nvPr/>
        </p:nvSpPr>
        <p:spPr>
          <a:xfrm>
            <a:off x="8188965" y="1633090"/>
            <a:ext cx="3564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if Node (19) had a child? 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will happen to this child?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25E015-0C9E-4B45-A6DA-C4827D816C51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503D02-24C9-D93B-E839-2263A00E750A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833DBD-0E24-FB2C-C282-15A1E672F4EC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DEBE77-8686-D28B-9F91-5568D456A3B6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FCB31D-D9B2-597B-90D9-441AB706ADFF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96B249-2037-CA73-EA27-775AEEFA1A03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BABBA1-3F43-A48A-A54D-F318A1E0AB48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2D8086-EAC6-E740-0A07-9E4895B6C637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15D5AA-722C-2A5C-7446-24B98DAE4D26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B10639-826C-601A-ACD7-F3A4FE024979}"/>
              </a:ext>
            </a:extLst>
          </p:cNvPr>
          <p:cNvSpPr/>
          <p:nvPr/>
        </p:nvSpPr>
        <p:spPr bwMode="auto">
          <a:xfrm>
            <a:off x="7302130" y="520028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2B619B-9D10-9986-D628-353C335ABDE2}"/>
              </a:ext>
            </a:extLst>
          </p:cNvPr>
          <p:cNvCxnSpPr>
            <a:cxnSpLocks/>
          </p:cNvCxnSpPr>
          <p:nvPr/>
        </p:nvCxnSpPr>
        <p:spPr>
          <a:xfrm>
            <a:off x="7079010" y="4902876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A1A41C-E6E8-2A8E-C832-34BDBA19B0C7}"/>
              </a:ext>
            </a:extLst>
          </p:cNvPr>
          <p:cNvSpPr txBox="1"/>
          <p:nvPr/>
        </p:nvSpPr>
        <p:spPr>
          <a:xfrm>
            <a:off x="8950583" y="4044410"/>
            <a:ext cx="287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Node 19 will be removed recursively. </a:t>
            </a:r>
          </a:p>
          <a:p>
            <a:endParaRPr lang="en-US" sz="2000" dirty="0"/>
          </a:p>
          <a:p>
            <a:r>
              <a:rPr lang="en-US" sz="2000" dirty="0"/>
              <a:t>Since it has one child, the child will be promoted to take its place (</a:t>
            </a:r>
            <a:r>
              <a:rPr lang="en-US" sz="2000" b="1" dirty="0"/>
              <a:t>Case 2</a:t>
            </a:r>
            <a:r>
              <a:rPr lang="en-US" sz="2000" dirty="0"/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04CA1E7-6DE9-B720-3742-71368822F9F1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7614326" y="5512477"/>
            <a:ext cx="266924" cy="350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4460C8F-DCA4-79C7-DB56-AD928E61A908}"/>
              </a:ext>
            </a:extLst>
          </p:cNvPr>
          <p:cNvSpPr/>
          <p:nvPr/>
        </p:nvSpPr>
        <p:spPr bwMode="auto">
          <a:xfrm>
            <a:off x="7743255" y="583851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21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6F334E1-FB39-3D6D-5393-E0B0B1E842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16E2BEB-4CA1-6B08-EBF7-662F356078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329"/>
          <a:stretch>
            <a:fillRect/>
          </a:stretch>
        </p:blipFill>
        <p:spPr>
          <a:xfrm>
            <a:off x="611674" y="4298043"/>
            <a:ext cx="2817407" cy="580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6638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462D-FBC1-176A-F436-8251C9DE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D53E-1F10-DEEE-65B7-903D0A08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513B731-5F69-FA78-E48F-011B9A38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9DFC4A-21E5-6E4E-4887-82241838CAC7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1C94F6-015C-1359-F292-FCB645360610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29EAA7-EB97-8AE8-804F-9A31D7199428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FFA859C3-E387-292D-AF8C-6F5A486B319F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19CDBE-B0B7-EF2D-C5C5-F32C48F19210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94D083-95E0-A146-EEEC-5E15B6227725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FAC29F-3FE0-655C-710C-83FC5801441A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7FFC1A-BD06-C240-EB16-1EC4EB7025A9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6565398-F7EA-ADF6-A68C-95A62B5E589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311190-8991-0B3A-D81F-BF15B6EB5074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65EDD9-2F47-088F-076D-7094623188AD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080CD1-8BB6-DAB6-C52A-350C93EE6753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B89FDC-46D7-BAA9-307C-3D94EB1E68F2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C175646-3264-3BD8-280F-BAFA697A27F1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0B8CD-16A1-4FB8-A9B8-2AC35E3A00A5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E72D083-5F78-08B9-964D-F6533E95B0E6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26DE9C-06AD-5834-A2C8-7EACAEE5145A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B74A41-3003-F928-899C-258B2B5512F0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76AACA-D634-5E47-0AFD-D1094AE7095F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6883FA-8806-8B96-6065-0FCD579A53FA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7E5DC1-2D86-97DB-63F3-4262BBE6326F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031F66-0D16-EDBA-12B3-05669C56918A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DC27A5-4297-EA4E-41BE-0488860FDE8D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BBFAEA-31B0-16D2-8142-CCC3560A24F0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67B1E3-9846-A86A-5D29-9C5E972C7F63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D25F5AA-FCCF-5374-BEC0-3C71A4683AAA}"/>
              </a:ext>
            </a:extLst>
          </p:cNvPr>
          <p:cNvSpPr/>
          <p:nvPr/>
        </p:nvSpPr>
        <p:spPr bwMode="auto">
          <a:xfrm>
            <a:off x="6815050" y="460676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946EAB-27B9-E55C-3A23-714A4DFC8CD0}"/>
              </a:ext>
            </a:extLst>
          </p:cNvPr>
          <p:cNvSpPr txBox="1"/>
          <p:nvPr/>
        </p:nvSpPr>
        <p:spPr>
          <a:xfrm>
            <a:off x="8188965" y="1633090"/>
            <a:ext cx="35646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if Node (19) had a child? 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will happen to this child?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38FB09-F2F9-1A25-9903-685A1FE08173}"/>
              </a:ext>
            </a:extLst>
          </p:cNvPr>
          <p:cNvSpPr txBox="1"/>
          <p:nvPr/>
        </p:nvSpPr>
        <p:spPr>
          <a:xfrm>
            <a:off x="8950583" y="4044410"/>
            <a:ext cx="287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Node 19 will be removed recursively. </a:t>
            </a:r>
          </a:p>
          <a:p>
            <a:endParaRPr lang="en-US" sz="2000" dirty="0"/>
          </a:p>
          <a:p>
            <a:r>
              <a:rPr lang="en-US" sz="2000" dirty="0"/>
              <a:t>Since it has one child, the child will be promoted to take its place (</a:t>
            </a:r>
            <a:r>
              <a:rPr lang="en-US" sz="2000" b="1" dirty="0"/>
              <a:t>Case 2</a:t>
            </a:r>
            <a:r>
              <a:rPr lang="en-US" sz="2000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B9C167-2B30-285B-EE7C-5B46B89BF76C}"/>
              </a:ext>
            </a:extLst>
          </p:cNvPr>
          <p:cNvCxnSpPr>
            <a:cxnSpLocks/>
            <a:stCxn id="12" idx="4"/>
            <a:endCxn id="32" idx="1"/>
          </p:cNvCxnSpPr>
          <p:nvPr/>
        </p:nvCxnSpPr>
        <p:spPr>
          <a:xfrm>
            <a:off x="6997930" y="4972520"/>
            <a:ext cx="255112" cy="329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1808F13-26EF-5A45-D17F-A86BBC2578D9}"/>
              </a:ext>
            </a:extLst>
          </p:cNvPr>
          <p:cNvSpPr/>
          <p:nvPr/>
        </p:nvSpPr>
        <p:spPr bwMode="auto">
          <a:xfrm>
            <a:off x="7199478" y="5248113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4CBD273-8C26-8BC3-0B6A-640A61EED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49076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77DD-8BA5-2CDE-9477-DF475F8F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AD8D-F658-B77D-231E-06241C27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Removing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42443AD-E37F-FB27-1AAD-A964C1208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3: A Parent with Two Children</a:t>
            </a:r>
          </a:p>
          <a:p>
            <a:pPr marL="1009018" lvl="4" indent="0">
              <a:buNone/>
            </a:pPr>
            <a:endParaRPr lang="en-US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41464C-8E16-6BB0-075B-0CBF977D59B0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12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C1DF60-E17F-C171-E849-5B98911BB597}"/>
              </a:ext>
            </a:extLst>
          </p:cNvPr>
          <p:cNvCxnSpPr>
            <a:cxnSpLocks/>
            <a:stCxn id="15" idx="6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EDEB92-75A7-0002-DE67-31587DF5E73D}"/>
              </a:ext>
            </a:extLst>
          </p:cNvPr>
          <p:cNvCxnSpPr>
            <a:stCxn id="15" idx="2"/>
            <a:endCxn id="21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42B938-0809-E9C8-0297-F93605890595}"/>
              </a:ext>
            </a:extLst>
          </p:cNvPr>
          <p:cNvCxnSpPr>
            <a:stCxn id="16" idx="3"/>
            <a:endCxn id="17" idx="7"/>
          </p:cNvCxnSpPr>
          <p:nvPr/>
        </p:nvCxnSpPr>
        <p:spPr bwMode="auto">
          <a:xfrm rot="5400000">
            <a:off x="6972330" y="4380420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99C3393-CB49-6910-F1C6-6B4F670D1BE3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29C9C20-E5D3-192F-F895-3F603EB96651}"/>
              </a:ext>
            </a:extLst>
          </p:cNvPr>
          <p:cNvSpPr/>
          <p:nvPr/>
        </p:nvSpPr>
        <p:spPr bwMode="auto">
          <a:xfrm>
            <a:off x="7163054" y="39615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6AF32F-D352-6001-850A-7300847482A1}"/>
              </a:ext>
            </a:extLst>
          </p:cNvPr>
          <p:cNvSpPr/>
          <p:nvPr/>
        </p:nvSpPr>
        <p:spPr bwMode="auto">
          <a:xfrm>
            <a:off x="6766814" y="457114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FE7E30-36F0-D3B0-89DB-FF4E6423A045}"/>
              </a:ext>
            </a:extLst>
          </p:cNvPr>
          <p:cNvCxnSpPr>
            <a:stCxn id="21" idx="5"/>
            <a:endCxn id="22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F52F0-D8E6-FA28-D17E-943D7E659BC8}"/>
              </a:ext>
            </a:extLst>
          </p:cNvPr>
          <p:cNvCxnSpPr>
            <a:stCxn id="21" idx="3"/>
            <a:endCxn id="23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D91F00-0AD6-78CC-EA6E-8E95BE9C410B}"/>
              </a:ext>
            </a:extLst>
          </p:cNvPr>
          <p:cNvCxnSpPr>
            <a:stCxn id="23" idx="3"/>
            <a:endCxn id="24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FB4EC5F-2EF1-4D1E-0961-8076A7FD7AFF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31762B9-9F01-0600-CE89-A6C9239FB067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C83305-0B15-599B-CC8C-CC58263F0E8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D42316-33C6-1288-4230-EF8D06A38680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071C00-6AE3-6684-2C6D-8C0E15DDCBD9}"/>
              </a:ext>
            </a:extLst>
          </p:cNvPr>
          <p:cNvCxnSpPr>
            <a:cxnSpLocks/>
            <a:stCxn id="22" idx="3"/>
            <a:endCxn id="26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BA45A65-CAF0-61AE-F545-9036AAEE72C3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30DA552-CA9F-1729-C99F-F31AA979C13E}"/>
              </a:ext>
            </a:extLst>
          </p:cNvPr>
          <p:cNvCxnSpPr>
            <a:endCxn id="31" idx="1"/>
          </p:cNvCxnSpPr>
          <p:nvPr/>
        </p:nvCxnSpPr>
        <p:spPr bwMode="auto">
          <a:xfrm rot="16200000" flipH="1">
            <a:off x="7438108" y="4310883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7082CCD-8F5B-E9E4-086F-EBB1D2A1D774}"/>
              </a:ext>
            </a:extLst>
          </p:cNvPr>
          <p:cNvSpPr/>
          <p:nvPr/>
        </p:nvSpPr>
        <p:spPr bwMode="auto">
          <a:xfrm>
            <a:off x="7698370" y="4571145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21DF3103-58FB-BB10-3757-FF62D7C93430}"/>
              </a:ext>
            </a:extLst>
          </p:cNvPr>
          <p:cNvSpPr/>
          <p:nvPr/>
        </p:nvSpPr>
        <p:spPr>
          <a:xfrm>
            <a:off x="5985781" y="3486656"/>
            <a:ext cx="2898941" cy="2741796"/>
          </a:xfrm>
          <a:prstGeom prst="triangle">
            <a:avLst>
              <a:gd name="adj" fmla="val 47957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4780188-83FC-7FEF-52DA-3E51DCE2947E}"/>
              </a:ext>
            </a:extLst>
          </p:cNvPr>
          <p:cNvSpPr/>
          <p:nvPr/>
        </p:nvSpPr>
        <p:spPr>
          <a:xfrm>
            <a:off x="5801635" y="3323813"/>
            <a:ext cx="504176" cy="461372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487E299-717E-C875-F947-794F7BDC8673}"/>
              </a:ext>
            </a:extLst>
          </p:cNvPr>
          <p:cNvSpPr/>
          <p:nvPr/>
        </p:nvSpPr>
        <p:spPr>
          <a:xfrm>
            <a:off x="7064236" y="3891024"/>
            <a:ext cx="541910" cy="46229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8A3F047-4F09-92D5-EDB0-76A13C816C76}"/>
              </a:ext>
            </a:extLst>
          </p:cNvPr>
          <p:cNvSpPr/>
          <p:nvPr/>
        </p:nvSpPr>
        <p:spPr>
          <a:xfrm>
            <a:off x="6655352" y="4524595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1FB622-8337-5355-3CBB-65ADA226F61B}"/>
              </a:ext>
            </a:extLst>
          </p:cNvPr>
          <p:cNvSpPr txBox="1"/>
          <p:nvPr/>
        </p:nvSpPr>
        <p:spPr>
          <a:xfrm>
            <a:off x="8193751" y="2369706"/>
            <a:ext cx="3932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If (19) had one left child OR two children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79D656-4566-7759-5C49-1BAFC962DF8E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60D241-08A5-51DB-13CD-35D6B2327370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107210-7B0F-AC8C-A420-37794D2891BA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57C468-4A35-F581-C549-FA7E4AD35B46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23D739-2D65-7841-EFE0-99EF757B7DCE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C245A0-49F9-2541-F67A-7377137974AC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B372DA7-EB04-A19E-9C58-B7789F3D32E4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F2BEFC9-01C9-5E00-929A-E6E23A71DBF0}"/>
              </a:ext>
            </a:extLst>
          </p:cNvPr>
          <p:cNvCxnSpPr>
            <a:cxnSpLocks/>
          </p:cNvCxnSpPr>
          <p:nvPr/>
        </p:nvCxnSpPr>
        <p:spPr>
          <a:xfrm flipH="1">
            <a:off x="7079010" y="4273740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03BB49-6B6B-636E-EE86-D71AB11F39E6}"/>
              </a:ext>
            </a:extLst>
          </p:cNvPr>
          <p:cNvCxnSpPr>
            <a:cxnSpLocks/>
          </p:cNvCxnSpPr>
          <p:nvPr/>
        </p:nvCxnSpPr>
        <p:spPr>
          <a:xfrm>
            <a:off x="7475250" y="4273740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D5A0288-F4C1-3454-E574-CDB1B2E9809E}"/>
              </a:ext>
            </a:extLst>
          </p:cNvPr>
          <p:cNvSpPr/>
          <p:nvPr/>
        </p:nvSpPr>
        <p:spPr bwMode="auto">
          <a:xfrm>
            <a:off x="7302130" y="520028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061A09-88A0-21AF-9113-2E6715A66F9E}"/>
              </a:ext>
            </a:extLst>
          </p:cNvPr>
          <p:cNvCxnSpPr>
            <a:cxnSpLocks/>
          </p:cNvCxnSpPr>
          <p:nvPr/>
        </p:nvCxnSpPr>
        <p:spPr>
          <a:xfrm>
            <a:off x="7079010" y="4902876"/>
            <a:ext cx="266099" cy="33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7069AD9-088F-180A-0782-00497FFA9F9C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7614326" y="5512477"/>
            <a:ext cx="266924" cy="350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41E9BCA-9E41-7ECB-158B-71B06C490E3B}"/>
              </a:ext>
            </a:extLst>
          </p:cNvPr>
          <p:cNvSpPr/>
          <p:nvPr/>
        </p:nvSpPr>
        <p:spPr bwMode="auto">
          <a:xfrm>
            <a:off x="7743255" y="5838514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BB7FB8-9AB2-95FB-5EB6-C57F561CABAD}"/>
              </a:ext>
            </a:extLst>
          </p:cNvPr>
          <p:cNvSpPr/>
          <p:nvPr/>
        </p:nvSpPr>
        <p:spPr bwMode="auto">
          <a:xfrm>
            <a:off x="6401054" y="5317703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FB2313-8934-E40E-0DE4-38DD4B134B56}"/>
              </a:ext>
            </a:extLst>
          </p:cNvPr>
          <p:cNvCxnSpPr>
            <a:cxnSpLocks/>
            <a:stCxn id="37" idx="3"/>
            <a:endCxn id="33" idx="0"/>
          </p:cNvCxnSpPr>
          <p:nvPr/>
        </p:nvCxnSpPr>
        <p:spPr>
          <a:xfrm flipH="1">
            <a:off x="6583934" y="4945591"/>
            <a:ext cx="153516" cy="372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1CD28611-8ACE-6E3A-0992-45B320432C53}"/>
              </a:ext>
            </a:extLst>
          </p:cNvPr>
          <p:cNvSpPr/>
          <p:nvPr/>
        </p:nvSpPr>
        <p:spPr>
          <a:xfrm>
            <a:off x="6324056" y="5245471"/>
            <a:ext cx="560603" cy="493228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8D3CFF-0C96-3176-05B3-F1BDF1C4B926}"/>
              </a:ext>
            </a:extLst>
          </p:cNvPr>
          <p:cNvSpPr txBox="1"/>
          <p:nvPr/>
        </p:nvSpPr>
        <p:spPr>
          <a:xfrm>
            <a:off x="8545882" y="3438437"/>
            <a:ext cx="34401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it wouldn’t be the in-order successor of (12).</a:t>
            </a:r>
          </a:p>
          <a:p>
            <a:pPr algn="ctr"/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The left-child would be the in-order successor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3A4623A-606F-8908-FF73-11650FE7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53"/>
          <a:stretch>
            <a:fillRect/>
          </a:stretch>
        </p:blipFill>
        <p:spPr>
          <a:xfrm>
            <a:off x="609536" y="2665930"/>
            <a:ext cx="2819545" cy="12386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8527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2" grpId="0" animBg="1"/>
      <p:bldP spid="45" grpId="0" animBg="1"/>
      <p:bldP spid="4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6016-8857-3F85-4B18-C037298B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933" y="1780926"/>
            <a:ext cx="8669645" cy="254065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C00000"/>
                </a:solidFill>
              </a:rPr>
              <a:t>Remove Code</a:t>
            </a:r>
            <a:br>
              <a:rPr lang="en-US" sz="4800" dirty="0">
                <a:solidFill>
                  <a:srgbClr val="C00000"/>
                </a:solidFill>
              </a:rPr>
            </a:br>
            <a:r>
              <a:rPr lang="en-US" sz="4800" dirty="0">
                <a:solidFill>
                  <a:srgbClr val="C00000"/>
                </a:solidFill>
              </a:rPr>
              <a:t>Worked Example</a:t>
            </a:r>
          </a:p>
        </p:txBody>
      </p:sp>
    </p:spTree>
    <p:extLst>
      <p:ext uri="{BB962C8B-B14F-4D97-AF65-F5344CB8AC3E}">
        <p14:creationId xmlns:p14="http://schemas.microsoft.com/office/powerpoint/2010/main" val="1608610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191F-5545-A719-0B31-0203E9C09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the Recursive Helper Method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3793A-1702-EDA6-EBFE-0C25DA97F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our recursive function return? Why does it do that?</a:t>
            </a:r>
          </a:p>
          <a:p>
            <a:pPr marL="0" indent="0">
              <a:buNone/>
            </a:pPr>
            <a:r>
              <a:rPr lang="en-US" dirty="0"/>
              <a:t>	e.g. </a:t>
            </a:r>
            <a:r>
              <a:rPr lang="en-US" dirty="0" err="1"/>
              <a:t>node.</a:t>
            </a:r>
            <a:r>
              <a:rPr lang="en-US" u="sng" dirty="0" err="1"/>
              <a:t>left</a:t>
            </a:r>
            <a:r>
              <a:rPr lang="en-US" dirty="0"/>
              <a:t> = remove(</a:t>
            </a:r>
            <a:r>
              <a:rPr lang="en-US" dirty="0" err="1"/>
              <a:t>node.left</a:t>
            </a:r>
            <a:r>
              <a:rPr lang="en-US" dirty="0"/>
              <a:t>, item);</a:t>
            </a:r>
          </a:p>
          <a:p>
            <a:r>
              <a:rPr lang="en-US" dirty="0"/>
              <a:t>	or  </a:t>
            </a:r>
            <a:r>
              <a:rPr lang="en-US" dirty="0" err="1"/>
              <a:t>node.</a:t>
            </a:r>
            <a:r>
              <a:rPr lang="en-US" u="sng" dirty="0" err="1"/>
              <a:t>right</a:t>
            </a:r>
            <a:r>
              <a:rPr lang="en-US" dirty="0"/>
              <a:t> = remove(</a:t>
            </a:r>
            <a:r>
              <a:rPr lang="en-US" dirty="0" err="1"/>
              <a:t>node.right</a:t>
            </a:r>
            <a:r>
              <a:rPr lang="en-US" dirty="0"/>
              <a:t>, item);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289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31D45-A246-FCF3-9CAB-D24DFB95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ED81-7A59-CE56-09B4-D04326C3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the Recursive Helper Method Returns</a:t>
            </a: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B858B6-95B9-B2F8-F413-2F3341C03D00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E23A65D-4066-83F0-13DD-E8253A0BFFB7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58588B-D9BE-75EC-9406-5924EF00D7DB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85CE86-289C-8AF6-92B4-5094C1431783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68517FA2-337A-CFC9-4875-A69745001DA5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D3BE399-673F-76CF-1A5F-ED2FD2AFFD8E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D6576D-69B4-C91A-109F-EBBA7D24DCF4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8769399-1A0C-E297-D2BD-C0837A5CFA26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5502DCC-69D3-5451-65A1-5E32A4D5E12A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D448D67-E03B-2031-AD8E-C510957EA541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E0892A0-C9C3-618C-8F2D-BFF11F6268D1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A4056BC-7E2A-587F-9C46-C00E720F513C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B41DBBF-43CF-248D-E35B-8EDB36A8D0D9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C6C60D1-C3D8-B13E-1435-328507855A13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6EC6E1E-C49A-1236-8289-014FE782AC16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96FC1C-1994-565A-4C30-1B754819AB0C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20ADD6E-727A-467D-73D6-F1B19F0F699E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D32F8BB3-E85A-0D41-CE4D-AD3BF7A295C8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5C0625-E583-3CA2-61D0-B1B5B949B321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4BF4454-F468-5759-4D45-EE4567BB76FD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211B40-29F6-5C8F-4227-E71BD5D25C44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19715E-FD63-B569-EE4A-E161576B0368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F359C8-0C76-A64A-F865-496968E53F66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69781A-80A2-2B53-F494-4D9FF0D3931D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07A46F-B303-C4EB-8508-397B32A818EC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DD7374-D90B-3498-48BA-5907ACC940A7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A9E97E-E5FA-B4FE-49B4-BE6E9CF42415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D87879-AF6F-E5AF-0F9E-72F161AC7F8E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30E265-3D66-7FB3-F8F0-2FD4B60C9B46}"/>
              </a:ext>
            </a:extLst>
          </p:cNvPr>
          <p:cNvCxnSpPr>
            <a:cxnSpLocks/>
          </p:cNvCxnSpPr>
          <p:nvPr/>
        </p:nvCxnSpPr>
        <p:spPr>
          <a:xfrm>
            <a:off x="6830963" y="3846653"/>
            <a:ext cx="386929" cy="18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F86DFC-B85A-E184-381B-32E8AD804136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BC8C28-B64E-E698-896C-3AF65124631C}"/>
              </a:ext>
            </a:extLst>
          </p:cNvPr>
          <p:cNvGrpSpPr/>
          <p:nvPr/>
        </p:nvGrpSpPr>
        <p:grpSpPr>
          <a:xfrm>
            <a:off x="8223010" y="3066702"/>
            <a:ext cx="3205716" cy="386274"/>
            <a:chOff x="8462238" y="3066702"/>
            <a:chExt cx="3205716" cy="38627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DA5429-0584-B42C-347B-DDE896345281}"/>
                </a:ext>
              </a:extLst>
            </p:cNvPr>
            <p:cNvSpPr txBox="1"/>
            <p:nvPr/>
          </p:nvSpPr>
          <p:spPr>
            <a:xfrm>
              <a:off x="8462238" y="3066702"/>
              <a:ext cx="3205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this.root</a:t>
              </a:r>
              <a:r>
                <a:rPr lang="en-US" dirty="0"/>
                <a:t> =  </a:t>
              </a:r>
              <a:r>
                <a:rPr lang="en-US" b="1" dirty="0"/>
                <a:t>remove</a:t>
              </a:r>
              <a:r>
                <a:rPr lang="en-US" dirty="0"/>
                <a:t>(         , 42)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65AF2F9-949F-4409-FBEB-B871B3353AEE}"/>
                </a:ext>
              </a:extLst>
            </p:cNvPr>
            <p:cNvSpPr/>
            <p:nvPr/>
          </p:nvSpPr>
          <p:spPr bwMode="auto">
            <a:xfrm>
              <a:off x="10623301" y="3087216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12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F9A0A4-7FA7-9468-D7F4-1F6DBC762ED6}"/>
              </a:ext>
            </a:extLst>
          </p:cNvPr>
          <p:cNvGrpSpPr/>
          <p:nvPr/>
        </p:nvGrpSpPr>
        <p:grpSpPr>
          <a:xfrm>
            <a:off x="8404655" y="3879452"/>
            <a:ext cx="3205717" cy="403216"/>
            <a:chOff x="8457813" y="3703378"/>
            <a:chExt cx="3231227" cy="40321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36AAEDD-8F51-E4C9-8E27-FEDFE71F39FF}"/>
                </a:ext>
              </a:extLst>
            </p:cNvPr>
            <p:cNvSpPr/>
            <p:nvPr/>
          </p:nvSpPr>
          <p:spPr bwMode="auto">
            <a:xfrm>
              <a:off x="8457813" y="3740834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12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95971C-09F2-621B-22B1-17B86BB9835F}"/>
                </a:ext>
              </a:extLst>
            </p:cNvPr>
            <p:cNvSpPr txBox="1"/>
            <p:nvPr/>
          </p:nvSpPr>
          <p:spPr>
            <a:xfrm>
              <a:off x="8483324" y="3703378"/>
              <a:ext cx="3205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.right =  </a:t>
              </a:r>
              <a:r>
                <a:rPr lang="en-US" b="1" dirty="0"/>
                <a:t>remove</a:t>
              </a:r>
              <a:r>
                <a:rPr lang="en-US" dirty="0"/>
                <a:t>(         , 42)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19037D-F1E4-C58D-A40C-4C0DA84C737A}"/>
                </a:ext>
              </a:extLst>
            </p:cNvPr>
            <p:cNvSpPr/>
            <p:nvPr/>
          </p:nvSpPr>
          <p:spPr bwMode="auto">
            <a:xfrm>
              <a:off x="10462690" y="3723892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42</a:t>
              </a:r>
            </a:p>
          </p:txBody>
        </p:sp>
      </p:grp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3D2207A-9E6E-B7E9-0A95-1C39378CED22}"/>
              </a:ext>
            </a:extLst>
          </p:cNvPr>
          <p:cNvSpPr/>
          <p:nvPr/>
        </p:nvSpPr>
        <p:spPr>
          <a:xfrm>
            <a:off x="6012556" y="3710856"/>
            <a:ext cx="2554665" cy="1849453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E55153C5-D2AE-A4B8-E919-1CF41741772A}"/>
              </a:ext>
            </a:extLst>
          </p:cNvPr>
          <p:cNvCxnSpPr>
            <a:cxnSpLocks/>
          </p:cNvCxnSpPr>
          <p:nvPr/>
        </p:nvCxnSpPr>
        <p:spPr>
          <a:xfrm>
            <a:off x="11247080" y="3259839"/>
            <a:ext cx="181646" cy="812750"/>
          </a:xfrm>
          <a:prstGeom prst="curvedConnector3">
            <a:avLst>
              <a:gd name="adj1" fmla="val 2492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4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158E5-7BD8-8767-7FA7-4E03127B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2D6E-AA9F-D252-296A-F1D1A194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the Recursive Helper Method Returns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3A20098-AD7F-701B-B464-82824801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541364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71BC863-7EBC-55EF-6814-59DD730A8D7C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257314-4CE2-4174-B2FC-CAE5D6BABE7F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E88BF3-886E-DDB7-164B-1D679293711E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0FF28F43-BD2F-6397-B75B-47144DCFE058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E97D399-2E66-39F3-2DF2-42982BB5E727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81088BD-D431-E33F-5334-BC334DAE4135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7281F4E-CEDD-C6F3-65F8-9C93B56A3828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E8F35E-C47E-47DC-05C0-173BD3E695F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999AF9A-F71B-F044-3699-E1527D9349B6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45A262-FF5B-D386-5D76-22AD8AAD0A4D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7FD7B33-145E-346F-E782-CF8804250133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801B0C5-E458-86DE-A274-F109952612BC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2B07CCE-4660-5390-56A8-8D20A3B40377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F741696-12E9-1BB7-170A-61649F5EDE54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6930C4-6007-A880-4A61-FD34A551D496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DC11D8E-BB4B-CB3D-1EAC-D2C8697A6764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DA46FA5-C3DD-9617-091A-6FF6E9B5430A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563AB-9A38-4F84-3B3E-59BECF65C61B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4A85C65-024C-9DFB-6759-5F773660C02B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C09DFA-9671-D286-95EE-17AB454369F9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7ABCB2-7EF5-9B8C-B5B6-97ACAC5025D1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775A97-00CC-26C9-9D33-6BF1B3C64AEB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EC8C3D-151E-E454-13AA-53E0B86EF471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77FA62-93C4-4979-ECAF-FB9133F0CF75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8DA7DF-D64D-12AD-F6DB-20259646C217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CAA508-2E72-6EAA-8D5C-CEF2CD2FD5B2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E686C8-532C-FFFB-4E44-67B0F041A5B9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02E29-C193-335A-DC54-917C40E6DF86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B68818-BC76-8CA8-CDA1-1BAF4C8761F8}"/>
              </a:ext>
            </a:extLst>
          </p:cNvPr>
          <p:cNvCxnSpPr>
            <a:cxnSpLocks/>
            <a:stCxn id="42" idx="6"/>
            <a:endCxn id="45" idx="0"/>
          </p:cNvCxnSpPr>
          <p:nvPr/>
        </p:nvCxnSpPr>
        <p:spPr>
          <a:xfrm>
            <a:off x="6236603" y="3563869"/>
            <a:ext cx="594360" cy="102108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8C39FE02-2089-7E60-E804-8841BC39D998}"/>
              </a:ext>
            </a:extLst>
          </p:cNvPr>
          <p:cNvSpPr/>
          <p:nvPr/>
        </p:nvSpPr>
        <p:spPr>
          <a:xfrm>
            <a:off x="5991119" y="4417342"/>
            <a:ext cx="1706476" cy="1219200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2FF5F5-8651-F6FC-3EB7-2F347AC4E4D4}"/>
              </a:ext>
            </a:extLst>
          </p:cNvPr>
          <p:cNvGrpSpPr/>
          <p:nvPr/>
        </p:nvGrpSpPr>
        <p:grpSpPr>
          <a:xfrm>
            <a:off x="8223010" y="3066702"/>
            <a:ext cx="3205716" cy="386274"/>
            <a:chOff x="8462238" y="3066702"/>
            <a:chExt cx="3205716" cy="38627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08E2F2B-52DF-FCEB-4C4C-38EFAD7C94FC}"/>
                </a:ext>
              </a:extLst>
            </p:cNvPr>
            <p:cNvSpPr txBox="1"/>
            <p:nvPr/>
          </p:nvSpPr>
          <p:spPr>
            <a:xfrm>
              <a:off x="8462238" y="3066702"/>
              <a:ext cx="3205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this.root</a:t>
              </a:r>
              <a:r>
                <a:rPr lang="en-US" dirty="0"/>
                <a:t> =  </a:t>
              </a:r>
              <a:r>
                <a:rPr lang="en-US" b="1" dirty="0"/>
                <a:t>remove</a:t>
              </a:r>
              <a:r>
                <a:rPr lang="en-US" dirty="0"/>
                <a:t>(         , 42)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3F9F13-38C7-4517-7A36-DA14C89AAF26}"/>
                </a:ext>
              </a:extLst>
            </p:cNvPr>
            <p:cNvSpPr/>
            <p:nvPr/>
          </p:nvSpPr>
          <p:spPr bwMode="auto">
            <a:xfrm>
              <a:off x="10580773" y="3087216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12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F6DD1A-EAC9-C85B-BBF0-95C0EFE7D7DA}"/>
              </a:ext>
            </a:extLst>
          </p:cNvPr>
          <p:cNvGrpSpPr/>
          <p:nvPr/>
        </p:nvGrpSpPr>
        <p:grpSpPr>
          <a:xfrm>
            <a:off x="8404655" y="3879452"/>
            <a:ext cx="3205717" cy="403216"/>
            <a:chOff x="8457813" y="3703378"/>
            <a:chExt cx="3231227" cy="403216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CCC666C-968C-E5EE-4DD5-63DD7CD18020}"/>
                </a:ext>
              </a:extLst>
            </p:cNvPr>
            <p:cNvSpPr/>
            <p:nvPr/>
          </p:nvSpPr>
          <p:spPr bwMode="auto">
            <a:xfrm>
              <a:off x="8457813" y="3740834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12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19F6E3-6F9A-0B3F-CBEF-B9D9F12607A1}"/>
                </a:ext>
              </a:extLst>
            </p:cNvPr>
            <p:cNvSpPr txBox="1"/>
            <p:nvPr/>
          </p:nvSpPr>
          <p:spPr>
            <a:xfrm>
              <a:off x="8483324" y="3703378"/>
              <a:ext cx="3205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.</a:t>
              </a:r>
              <a:r>
                <a:rPr lang="en-US" dirty="0">
                  <a:solidFill>
                    <a:schemeClr val="accent6">
                      <a:lumMod val="75000"/>
                    </a:schemeClr>
                  </a:solidFill>
                </a:rPr>
                <a:t>right</a:t>
              </a:r>
              <a:r>
                <a:rPr lang="en-US" dirty="0"/>
                <a:t> =  </a:t>
              </a:r>
              <a:r>
                <a:rPr lang="en-US" b="1" dirty="0"/>
                <a:t>remove</a:t>
              </a:r>
              <a:r>
                <a:rPr lang="en-US" dirty="0"/>
                <a:t>(         , 42)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FF9CA11-D19A-2672-3A4B-8769244872C3}"/>
                </a:ext>
              </a:extLst>
            </p:cNvPr>
            <p:cNvSpPr/>
            <p:nvPr/>
          </p:nvSpPr>
          <p:spPr bwMode="auto">
            <a:xfrm>
              <a:off x="10462690" y="3723892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42</a:t>
              </a:r>
            </a:p>
          </p:txBody>
        </p:sp>
      </p:grp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12CD57D8-ED44-57F5-4C02-A71BBAA062CE}"/>
              </a:ext>
            </a:extLst>
          </p:cNvPr>
          <p:cNvCxnSpPr>
            <a:cxnSpLocks/>
          </p:cNvCxnSpPr>
          <p:nvPr/>
        </p:nvCxnSpPr>
        <p:spPr>
          <a:xfrm>
            <a:off x="11247080" y="3259839"/>
            <a:ext cx="181646" cy="812750"/>
          </a:xfrm>
          <a:prstGeom prst="curvedConnector3">
            <a:avLst>
              <a:gd name="adj1" fmla="val 2492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9A9D795-47D9-6494-ACCD-E71744D3BF03}"/>
              </a:ext>
            </a:extLst>
          </p:cNvPr>
          <p:cNvSpPr/>
          <p:nvPr/>
        </p:nvSpPr>
        <p:spPr>
          <a:xfrm>
            <a:off x="9567184" y="3823341"/>
            <a:ext cx="1706476" cy="552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64C42E4-FCB2-DB24-EF31-5E45909B2DA2}"/>
              </a:ext>
            </a:extLst>
          </p:cNvPr>
          <p:cNvSpPr/>
          <p:nvPr/>
        </p:nvSpPr>
        <p:spPr bwMode="auto">
          <a:xfrm>
            <a:off x="9565639" y="3890007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1E4CF-55AA-A006-7423-E40F746C9233}"/>
              </a:ext>
            </a:extLst>
          </p:cNvPr>
          <p:cNvSpPr txBox="1"/>
          <p:nvPr/>
        </p:nvSpPr>
        <p:spPr>
          <a:xfrm>
            <a:off x="196797" y="2738289"/>
            <a:ext cx="33384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+mn-lt"/>
              </a:rPr>
              <a:t>It returns the (possibly changed) root of the subtree we just removed from.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lvl="0"/>
            <a:r>
              <a:rPr lang="en-US" dirty="0"/>
              <a:t>Why does it return that?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Because removing may change which node is at the root of that subtree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 must reconnect to whatever the new subtree root is,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6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C27B-564E-443F-ABD0-CDB3D689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47194-453A-FCAC-E228-2EF0DBD9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What the Recursive Helper Method Returns</a:t>
            </a:r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44650170-C2C6-55F6-69C4-FBA08EB67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7719"/>
            <a:ext cx="5413643" cy="849684"/>
          </a:xfrm>
        </p:spPr>
        <p:txBody>
          <a:bodyPr>
            <a:normAutofit/>
          </a:bodyPr>
          <a:lstStyle/>
          <a:p>
            <a:r>
              <a:rPr lang="en-US" i="1" dirty="0"/>
              <a:t>Case 2: A Parent with One Child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AC7DBE-FD40-FF1B-035D-F5225A261A38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F2BA48-9259-A12A-B9F1-A088B7E83042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54E8016-FA80-AE58-D3D2-52C5883D98CD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C98B9ED6-D4E7-7EBB-05EB-E46C68B8EB5E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EC4262D-9684-A4B9-FF89-CF06EC6F68A9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B32647A-9359-70FA-6EC4-6E117DD4587D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C4B50E6-A690-7537-57C4-F4AA4FF8691D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9CE74FD-807B-39EF-2ED4-872CD1410AC8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4C3D0A8-CAAF-68FD-658C-7B00369085C8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7872251-718F-31A9-9941-BAC62336C27B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0754EC2C-42D8-F5B7-7E1B-170B12ECE178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A2E0420-3CE9-B339-4901-410DF16F7E2A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0CE6B7-8340-3A8A-DAE2-8A8C506D8A7E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9E9A5AF-7C12-22F2-406C-DC709255E5B5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ECF949-1E17-881C-48E2-ECDE9535A3BB}"/>
              </a:ext>
            </a:extLst>
          </p:cNvPr>
          <p:cNvSpPr txBox="1"/>
          <p:nvPr/>
        </p:nvSpPr>
        <p:spPr>
          <a:xfrm>
            <a:off x="5429193" y="2535746"/>
            <a:ext cx="145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Removing 42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DADA676-92D5-7412-A955-6EE0B8F4AD35}"/>
              </a:ext>
            </a:extLst>
          </p:cNvPr>
          <p:cNvCxnSpPr>
            <a:cxnSpLocks/>
            <a:stCxn id="51" idx="3"/>
            <a:endCxn id="57" idx="7"/>
          </p:cNvCxnSpPr>
          <p:nvPr/>
        </p:nvCxnSpPr>
        <p:spPr bwMode="auto">
          <a:xfrm flipH="1">
            <a:off x="4982370" y="4897145"/>
            <a:ext cx="195277" cy="350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B4A9E9B-D755-E6A9-7BD0-79E8412F1263}"/>
              </a:ext>
            </a:extLst>
          </p:cNvPr>
          <p:cNvSpPr/>
          <p:nvPr/>
        </p:nvSpPr>
        <p:spPr bwMode="auto">
          <a:xfrm>
            <a:off x="4670174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EDB260-FCE6-CDCD-16DB-413168EF6192}"/>
              </a:ext>
            </a:extLst>
          </p:cNvPr>
          <p:cNvCxnSpPr>
            <a:endCxn id="5" idx="1"/>
          </p:cNvCxnSpPr>
          <p:nvPr/>
        </p:nvCxnSpPr>
        <p:spPr bwMode="auto">
          <a:xfrm rot="16200000" flipH="1">
            <a:off x="6923137" y="4934288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560AA197-E906-EE8E-CF70-9AA608F891F3}"/>
              </a:ext>
            </a:extLst>
          </p:cNvPr>
          <p:cNvSpPr/>
          <p:nvPr/>
        </p:nvSpPr>
        <p:spPr bwMode="auto">
          <a:xfrm>
            <a:off x="7183399" y="5194550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BBEDD4-AD1B-1ECC-7E05-716B8C031524}"/>
              </a:ext>
            </a:extLst>
          </p:cNvPr>
          <p:cNvCxnSpPr/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626F47-9DB1-48F0-DE94-F5A6624BB790}"/>
              </a:ext>
            </a:extLst>
          </p:cNvPr>
          <p:cNvCxnSpPr>
            <a:cxnSpLocks/>
          </p:cNvCxnSpPr>
          <p:nvPr/>
        </p:nvCxnSpPr>
        <p:spPr>
          <a:xfrm flipH="1">
            <a:off x="4902879" y="3888044"/>
            <a:ext cx="297331" cy="140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6FA053-3F6B-4E3C-8854-6DCF03D72151}"/>
              </a:ext>
            </a:extLst>
          </p:cNvPr>
          <p:cNvCxnSpPr>
            <a:cxnSpLocks/>
          </p:cNvCxnSpPr>
          <p:nvPr/>
        </p:nvCxnSpPr>
        <p:spPr>
          <a:xfrm flipH="1">
            <a:off x="3912279" y="5019064"/>
            <a:ext cx="84044" cy="229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D2A821-57CA-AA3A-CF61-7FE5D0962AB8}"/>
              </a:ext>
            </a:extLst>
          </p:cNvPr>
          <p:cNvCxnSpPr>
            <a:cxnSpLocks/>
          </p:cNvCxnSpPr>
          <p:nvPr/>
        </p:nvCxnSpPr>
        <p:spPr>
          <a:xfrm flipH="1">
            <a:off x="4982370" y="4950709"/>
            <a:ext cx="166639" cy="297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713A77-E6CF-0D10-568C-F330A5E156EA}"/>
              </a:ext>
            </a:extLst>
          </p:cNvPr>
          <p:cNvCxnSpPr>
            <a:cxnSpLocks/>
          </p:cNvCxnSpPr>
          <p:nvPr/>
        </p:nvCxnSpPr>
        <p:spPr>
          <a:xfrm flipH="1">
            <a:off x="6960279" y="4363778"/>
            <a:ext cx="204049" cy="282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8CF4BD-9493-C908-E221-4E26B9749861}"/>
              </a:ext>
            </a:extLst>
          </p:cNvPr>
          <p:cNvCxnSpPr>
            <a:cxnSpLocks/>
          </p:cNvCxnSpPr>
          <p:nvPr/>
        </p:nvCxnSpPr>
        <p:spPr>
          <a:xfrm>
            <a:off x="4902879" y="4287545"/>
            <a:ext cx="27476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B5FD92-C6EC-9371-CCEB-98E18D5DB6E2}"/>
              </a:ext>
            </a:extLst>
          </p:cNvPr>
          <p:cNvCxnSpPr>
            <a:cxnSpLocks/>
          </p:cNvCxnSpPr>
          <p:nvPr/>
        </p:nvCxnSpPr>
        <p:spPr>
          <a:xfrm>
            <a:off x="6960279" y="4897145"/>
            <a:ext cx="276684" cy="348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5CC7E7-D4A4-A6EF-8E34-B9B482D2C19D}"/>
              </a:ext>
            </a:extLst>
          </p:cNvPr>
          <p:cNvCxnSpPr>
            <a:cxnSpLocks/>
          </p:cNvCxnSpPr>
          <p:nvPr/>
        </p:nvCxnSpPr>
        <p:spPr>
          <a:xfrm flipH="1">
            <a:off x="6564039" y="4897145"/>
            <a:ext cx="137608" cy="350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9895F49-F144-EC62-7BC9-2869A442EFB6}"/>
              </a:ext>
            </a:extLst>
          </p:cNvPr>
          <p:cNvCxnSpPr>
            <a:cxnSpLocks/>
          </p:cNvCxnSpPr>
          <p:nvPr/>
        </p:nvCxnSpPr>
        <p:spPr>
          <a:xfrm flipH="1">
            <a:off x="4285956" y="4463028"/>
            <a:ext cx="190427" cy="175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068E35-F677-4F67-5D91-7F345CB79C9D}"/>
              </a:ext>
            </a:extLst>
          </p:cNvPr>
          <p:cNvCxnSpPr>
            <a:cxnSpLocks/>
            <a:stCxn id="42" idx="6"/>
            <a:endCxn id="45" idx="0"/>
          </p:cNvCxnSpPr>
          <p:nvPr/>
        </p:nvCxnSpPr>
        <p:spPr>
          <a:xfrm>
            <a:off x="6236603" y="3563869"/>
            <a:ext cx="594360" cy="102108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9A6F4CE-6DE9-AEB7-F15B-3CCF9E530E6E}"/>
              </a:ext>
            </a:extLst>
          </p:cNvPr>
          <p:cNvSpPr/>
          <p:nvPr/>
        </p:nvSpPr>
        <p:spPr>
          <a:xfrm>
            <a:off x="3208613" y="3066702"/>
            <a:ext cx="4525530" cy="2524182"/>
          </a:xfrm>
          <a:prstGeom prst="triangle">
            <a:avLst>
              <a:gd name="adj" fmla="val 5979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B1E512-6C15-3A22-88C5-E32B6DC6753B}"/>
              </a:ext>
            </a:extLst>
          </p:cNvPr>
          <p:cNvGrpSpPr/>
          <p:nvPr/>
        </p:nvGrpSpPr>
        <p:grpSpPr>
          <a:xfrm>
            <a:off x="8223010" y="3066702"/>
            <a:ext cx="3205716" cy="386274"/>
            <a:chOff x="8462238" y="3066702"/>
            <a:chExt cx="3205716" cy="386274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C19559-C6E9-67C4-267B-88E3AA3874EC}"/>
                </a:ext>
              </a:extLst>
            </p:cNvPr>
            <p:cNvSpPr txBox="1"/>
            <p:nvPr/>
          </p:nvSpPr>
          <p:spPr>
            <a:xfrm>
              <a:off x="8462238" y="3066702"/>
              <a:ext cx="3205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this.root</a:t>
              </a:r>
              <a:r>
                <a:rPr lang="en-US" dirty="0"/>
                <a:t> =  </a:t>
              </a:r>
              <a:r>
                <a:rPr lang="en-US" b="1" dirty="0"/>
                <a:t>remove</a:t>
              </a:r>
              <a:r>
                <a:rPr lang="en-US" dirty="0"/>
                <a:t>(         , 42)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D998F8D-055E-16BB-1AEA-AD32D925B27F}"/>
                </a:ext>
              </a:extLst>
            </p:cNvPr>
            <p:cNvSpPr/>
            <p:nvPr/>
          </p:nvSpPr>
          <p:spPr bwMode="auto">
            <a:xfrm>
              <a:off x="10580773" y="3087216"/>
              <a:ext cx="365760" cy="365760"/>
            </a:xfrm>
            <a:prstGeom prst="ellips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vert="horz" wrap="square" lIns="0" tIns="50800" rIns="0" bIns="5080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5842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rPr>
                <a:t>12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765B417-572F-3075-322E-0F0400E9A86F}"/>
              </a:ext>
            </a:extLst>
          </p:cNvPr>
          <p:cNvSpPr/>
          <p:nvPr/>
        </p:nvSpPr>
        <p:spPr>
          <a:xfrm>
            <a:off x="9544915" y="3010976"/>
            <a:ext cx="1706476" cy="552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FB3CD0-A65A-5A67-AE1D-66483D2862BE}"/>
              </a:ext>
            </a:extLst>
          </p:cNvPr>
          <p:cNvSpPr/>
          <p:nvPr/>
        </p:nvSpPr>
        <p:spPr bwMode="auto">
          <a:xfrm>
            <a:off x="9543370" y="3077642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792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6758-FF13-0E6B-43AF-C0F87884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62A24-064A-11E6-4820-423F3188B7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7458078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ST difference">
            <a:extLst>
              <a:ext uri="{FF2B5EF4-FFF2-40B4-BE49-F238E27FC236}">
                <a16:creationId xmlns:a16="http://schemas.microsoft.com/office/drawing/2014/main" id="{A102FD70-6AED-EB0B-FBBF-3E2210E0DA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6316673" y="1538736"/>
            <a:ext cx="5551435" cy="4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4EE9E1-6293-24CA-2FDB-8B569253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224978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BST Basic Operations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15D72-403A-287C-34C5-6F7B1F0C5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57" y="2260149"/>
            <a:ext cx="6384947" cy="1542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worst case if I try to find an item in the tree?</a:t>
            </a:r>
          </a:p>
          <a:p>
            <a:pPr marL="457200" lvl="1" indent="0">
              <a:buNone/>
            </a:pPr>
            <a:r>
              <a:rPr lang="en-US" dirty="0"/>
              <a:t>Item exists in the last level OR doesn’t exist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DF8C9-9754-B613-7AE2-0B225618A9FF}"/>
              </a:ext>
            </a:extLst>
          </p:cNvPr>
          <p:cNvSpPr txBox="1"/>
          <p:nvPr/>
        </p:nvSpPr>
        <p:spPr>
          <a:xfrm>
            <a:off x="7977987" y="1321356"/>
            <a:ext cx="284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 Item: 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96FC22-8BAC-2E5F-BD01-4176E033B41E}"/>
              </a:ext>
            </a:extLst>
          </p:cNvPr>
          <p:cNvCxnSpPr/>
          <p:nvPr/>
        </p:nvCxnSpPr>
        <p:spPr>
          <a:xfrm flipH="1">
            <a:off x="8119136" y="2718652"/>
            <a:ext cx="625965" cy="6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11A501-774A-870D-9B89-DEF63159ABB7}"/>
              </a:ext>
            </a:extLst>
          </p:cNvPr>
          <p:cNvCxnSpPr>
            <a:cxnSpLocks/>
          </p:cNvCxnSpPr>
          <p:nvPr/>
        </p:nvCxnSpPr>
        <p:spPr>
          <a:xfrm>
            <a:off x="8554857" y="4456213"/>
            <a:ext cx="202518" cy="533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63A3F3-8161-EC20-C592-23EE93C53C96}"/>
              </a:ext>
            </a:extLst>
          </p:cNvPr>
          <p:cNvCxnSpPr>
            <a:cxnSpLocks/>
          </p:cNvCxnSpPr>
          <p:nvPr/>
        </p:nvCxnSpPr>
        <p:spPr>
          <a:xfrm flipH="1">
            <a:off x="7731489" y="5940531"/>
            <a:ext cx="356963" cy="52143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42F8A9-F9CF-2E40-C43E-AAFDFD0A00C7}"/>
              </a:ext>
            </a:extLst>
          </p:cNvPr>
          <p:cNvSpPr txBox="1"/>
          <p:nvPr/>
        </p:nvSpPr>
        <p:spPr>
          <a:xfrm>
            <a:off x="753307" y="4066795"/>
            <a:ext cx="556336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How about Other Basic Operations? </a:t>
            </a:r>
          </a:p>
          <a:p>
            <a:pPr lvl="1"/>
            <a:r>
              <a:rPr lang="en-US" sz="2400" u="sng" dirty="0"/>
              <a:t>Remove</a:t>
            </a:r>
            <a:r>
              <a:rPr lang="en-US" sz="2400" dirty="0"/>
              <a:t>: Same as find</a:t>
            </a:r>
          </a:p>
          <a:p>
            <a:pPr lvl="1"/>
            <a:r>
              <a:rPr lang="en-US" sz="2400" u="sng" dirty="0"/>
              <a:t>Add</a:t>
            </a:r>
            <a:r>
              <a:rPr lang="en-US" sz="2400" dirty="0"/>
              <a:t>: adding already happens at the last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D3338C-226E-657D-228A-218E09F8C0F6}"/>
              </a:ext>
            </a:extLst>
          </p:cNvPr>
          <p:cNvSpPr txBox="1"/>
          <p:nvPr/>
        </p:nvSpPr>
        <p:spPr>
          <a:xfrm>
            <a:off x="8554857" y="19194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4E8DE-D37A-9B5B-784A-293511DDFA10}"/>
              </a:ext>
            </a:extLst>
          </p:cNvPr>
          <p:cNvSpPr txBox="1"/>
          <p:nvPr/>
        </p:nvSpPr>
        <p:spPr>
          <a:xfrm>
            <a:off x="7269235" y="347211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&gt;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8184E3-3E7F-6194-94DD-90D426FA480B}"/>
              </a:ext>
            </a:extLst>
          </p:cNvPr>
          <p:cNvSpPr txBox="1"/>
          <p:nvPr/>
        </p:nvSpPr>
        <p:spPr>
          <a:xfrm>
            <a:off x="7561604" y="48868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6</a:t>
            </a:r>
          </a:p>
        </p:txBody>
      </p:sp>
    </p:spTree>
    <p:extLst>
      <p:ext uri="{BB962C8B-B14F-4D97-AF65-F5344CB8AC3E}">
        <p14:creationId xmlns:p14="http://schemas.microsoft.com/office/powerpoint/2010/main" val="367798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7" grpId="0"/>
      <p:bldP spid="1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D88D3-306D-11F0-6BE6-38F0691C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BST difference">
            <a:extLst>
              <a:ext uri="{FF2B5EF4-FFF2-40B4-BE49-F238E27FC236}">
                <a16:creationId xmlns:a16="http://schemas.microsoft.com/office/drawing/2014/main" id="{9652EB43-B9CF-CE52-CF4C-EB3720A22A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6316673" y="1538736"/>
            <a:ext cx="5551435" cy="456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C2919B-CBB4-A99F-4DAA-8D068CA3A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Operations Complexity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11683-7F33-2818-5E17-3B86DB738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391" y="1819487"/>
            <a:ext cx="6378809" cy="1212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the worst case if I try to find an item in the tree?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0478FA-150D-F001-6C51-7F0EEC2255B6}"/>
              </a:ext>
            </a:extLst>
          </p:cNvPr>
          <p:cNvSpPr txBox="1">
            <a:spLocks/>
          </p:cNvSpPr>
          <p:nvPr/>
        </p:nvSpPr>
        <p:spPr>
          <a:xfrm>
            <a:off x="781945" y="2851928"/>
            <a:ext cx="5241399" cy="29814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Steps for a tree of height (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dirty="0"/>
              <a:t>):</a:t>
            </a:r>
          </a:p>
          <a:p>
            <a:r>
              <a:rPr lang="en-US" b="1" dirty="0"/>
              <a:t>Traverse 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b="1" dirty="0"/>
              <a:t> levels (</a:t>
            </a:r>
            <a:r>
              <a:rPr lang="en-US" b="1" u="sng" dirty="0"/>
              <a:t>h iterations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At each level: Compare the item value with the node </a:t>
            </a:r>
          </a:p>
          <a:p>
            <a:pPr lvl="1"/>
            <a:r>
              <a:rPr lang="en-US" b="1" dirty="0"/>
              <a:t>O(1): </a:t>
            </a:r>
            <a:r>
              <a:rPr lang="en-US" dirty="0"/>
              <a:t>constant; irrelevant of </a:t>
            </a:r>
            <a:r>
              <a:rPr lang="en-US" dirty="0" err="1"/>
              <a:t>inpt</a:t>
            </a:r>
            <a:r>
              <a:rPr lang="en-US" dirty="0"/>
              <a:t> size (i.e. number of nodes)</a:t>
            </a:r>
          </a:p>
          <a:p>
            <a:r>
              <a:rPr lang="en-US" b="1" dirty="0"/>
              <a:t>Apply the operation: add node, remove node, etc.</a:t>
            </a:r>
          </a:p>
          <a:p>
            <a:pPr lvl="1"/>
            <a:r>
              <a:rPr lang="en-US" b="1" dirty="0"/>
              <a:t>O(1): </a:t>
            </a:r>
            <a:r>
              <a:rPr lang="en-US" dirty="0"/>
              <a:t>constant; irrelevant of input size (i.e. number of nodes)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9A5F1-2C2D-3C1F-135E-6133567F2E43}"/>
              </a:ext>
            </a:extLst>
          </p:cNvPr>
          <p:cNvSpPr txBox="1"/>
          <p:nvPr/>
        </p:nvSpPr>
        <p:spPr>
          <a:xfrm>
            <a:off x="1157175" y="5809334"/>
            <a:ext cx="39805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Complexity: O(</a:t>
            </a:r>
            <a:r>
              <a:rPr lang="en-US" sz="3200" dirty="0">
                <a:solidFill>
                  <a:srgbClr val="FF0000"/>
                </a:solidFill>
              </a:rPr>
              <a:t>h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B538B-A2DF-6A27-CA4C-8554F2234869}"/>
              </a:ext>
            </a:extLst>
          </p:cNvPr>
          <p:cNvSpPr txBox="1"/>
          <p:nvPr/>
        </p:nvSpPr>
        <p:spPr>
          <a:xfrm>
            <a:off x="7977987" y="1321356"/>
            <a:ext cx="284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Find Item: 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6B83DA-74CC-504A-3BBD-D43D391A672A}"/>
              </a:ext>
            </a:extLst>
          </p:cNvPr>
          <p:cNvCxnSpPr/>
          <p:nvPr/>
        </p:nvCxnSpPr>
        <p:spPr>
          <a:xfrm flipH="1">
            <a:off x="8119136" y="2718652"/>
            <a:ext cx="625965" cy="6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A98C73-AAA2-DDD9-8013-93E138980CC2}"/>
              </a:ext>
            </a:extLst>
          </p:cNvPr>
          <p:cNvCxnSpPr>
            <a:cxnSpLocks/>
          </p:cNvCxnSpPr>
          <p:nvPr/>
        </p:nvCxnSpPr>
        <p:spPr>
          <a:xfrm>
            <a:off x="8554857" y="4456213"/>
            <a:ext cx="202518" cy="5339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ECBB60-DA7F-7F06-1F73-01AFD1D6CA41}"/>
              </a:ext>
            </a:extLst>
          </p:cNvPr>
          <p:cNvCxnSpPr>
            <a:cxnSpLocks/>
          </p:cNvCxnSpPr>
          <p:nvPr/>
        </p:nvCxnSpPr>
        <p:spPr>
          <a:xfrm flipH="1">
            <a:off x="7731489" y="5940531"/>
            <a:ext cx="356963" cy="52143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3772CD-C5AC-33FE-6414-856A51D97BE8}"/>
              </a:ext>
            </a:extLst>
          </p:cNvPr>
          <p:cNvSpPr txBox="1"/>
          <p:nvPr/>
        </p:nvSpPr>
        <p:spPr>
          <a:xfrm>
            <a:off x="8554857" y="19194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18647-B014-18A4-8696-0CC2344BCF77}"/>
              </a:ext>
            </a:extLst>
          </p:cNvPr>
          <p:cNvSpPr txBox="1"/>
          <p:nvPr/>
        </p:nvSpPr>
        <p:spPr>
          <a:xfrm>
            <a:off x="7269235" y="347211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&gt;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7756F-1520-3661-4B2C-CB4A09C83918}"/>
              </a:ext>
            </a:extLst>
          </p:cNvPr>
          <p:cNvSpPr txBox="1"/>
          <p:nvPr/>
        </p:nvSpPr>
        <p:spPr>
          <a:xfrm>
            <a:off x="7561604" y="4886831"/>
            <a:ext cx="87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 &lt; 6</a:t>
            </a:r>
          </a:p>
        </p:txBody>
      </p:sp>
    </p:spTree>
    <p:extLst>
      <p:ext uri="{BB962C8B-B14F-4D97-AF65-F5344CB8AC3E}">
        <p14:creationId xmlns:p14="http://schemas.microsoft.com/office/powerpoint/2010/main" val="9747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D46D-269E-7C48-943D-A2239876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0CFF-8A58-456A-E01A-547184F82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BAF00924-5A7B-0A8B-554E-330757C32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5BEEC3-92E5-2140-F0D9-AC796DE3105A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05079-45B5-6724-6FA7-6EB4605BA204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DEDF27-CBBF-A908-7000-AB1FAF37F564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21472-DCA4-55FF-C713-B9ECA49BFFCF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293FDB-E6B2-9C6F-9449-216C904BB57B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9FE68E-A0E7-8E79-2D1A-3769565C16E0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C573C1-86CC-567C-3A3D-F1DCD8C671E7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24BF1D-9AB9-810E-C099-C11BACEBCA63}"/>
              </a:ext>
            </a:extLst>
          </p:cNvPr>
          <p:cNvSpPr txBox="1"/>
          <p:nvPr/>
        </p:nvSpPr>
        <p:spPr>
          <a:xfrm>
            <a:off x="10165292" y="5213093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5C73B3-D101-462A-EFD3-8CB81CB714C7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602420-597B-C19E-85CF-015DBCD6190E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FDEE1E-A22F-FF50-CE0F-3391CC541EE5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EA239A-79A1-2461-3C5B-9AE2A7CC4E3A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DF848C-072F-14E7-A43A-3982BA99E0E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D88EA-3D08-63B3-7454-8B31A854EBFE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6DB836-8672-2390-FBD9-4664AAD4CF37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C9166C-448D-E1FC-3C12-B20C35F5D54B}"/>
              </a:ext>
            </a:extLst>
          </p:cNvPr>
          <p:cNvSpPr txBox="1"/>
          <p:nvPr/>
        </p:nvSpPr>
        <p:spPr>
          <a:xfrm>
            <a:off x="5842421" y="5145829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C6EB23-584B-87E4-6691-ABC6FC9B8230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1BD760-3CB4-B746-4583-B0DBCB0646EF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4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5" grpId="0"/>
      <p:bldP spid="6" grpId="0"/>
      <p:bldP spid="8" grpId="0"/>
      <p:bldP spid="12" grpId="0"/>
      <p:bldP spid="13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9461-511B-BB5D-10C3-47E86BA7F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FBFF-418B-3EEA-5FCC-9CCBFBCF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75856D66-0040-A90D-DEB1-E2F2C6473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27B61C-C78F-95B1-EAE6-DFB2A9D9620E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C9BDB-99A1-3080-6382-73B68D6537AD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1E99AC-3B0F-0270-7BEC-1AFE693BCA05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7C2E2-DD9A-7875-1FA2-16757B596D7A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EE36A8-AFF5-4AAC-85D0-BEE10151BDCD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722655-E2D6-B1BF-8531-55DDB01E250C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8A2A1-BFC8-45C7-533B-34D8422FD7DF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B9445D-157C-73E5-81ED-03A7BF23132C}"/>
              </a:ext>
            </a:extLst>
          </p:cNvPr>
          <p:cNvSpPr txBox="1"/>
          <p:nvPr/>
        </p:nvSpPr>
        <p:spPr>
          <a:xfrm>
            <a:off x="10165292" y="5213093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31C8A8-F2F4-ECF4-B0C4-81B79F4F1E12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2673FB-5B47-8A5D-83C9-47181E05F8BF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A9EBED-1EBD-62EB-E9ED-E8C63EA2A926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FCE0CE-27EA-31DA-1F0E-483DD4B642B5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CB03C-5391-B8CA-F2EC-010A6A386057}"/>
              </a:ext>
            </a:extLst>
          </p:cNvPr>
          <p:cNvSpPr txBox="1"/>
          <p:nvPr/>
        </p:nvSpPr>
        <p:spPr>
          <a:xfrm>
            <a:off x="4860433" y="5851905"/>
            <a:ext cx="55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Total Number of Levels (Height) = 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(i.e. levels 0, 1,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A6940-34D0-4022-2FE8-E679BD6089E2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EA6AE-B30F-199F-796C-73EEA2EE65AF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349C3-38A0-3920-D3E9-649F01A07CD7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06680-02CD-D16F-F9DB-1039B824D686}"/>
              </a:ext>
            </a:extLst>
          </p:cNvPr>
          <p:cNvSpPr txBox="1"/>
          <p:nvPr/>
        </p:nvSpPr>
        <p:spPr>
          <a:xfrm>
            <a:off x="5842421" y="5145829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AFCEDC-A9A9-B7D7-A9EA-CB6C1369E2EE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26A93C-705B-17FE-FA95-66438326E911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36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42D5-6CF6-C94B-7D90-96ED6D56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2C53-654B-A2DB-2C5C-9A0CDF3E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24589E0A-D765-0C0E-D3A3-96E04E86F8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CCB043-06D3-9885-4306-FFD081B2E024}"/>
              </a:ext>
            </a:extLst>
          </p:cNvPr>
          <p:cNvSpPr txBox="1"/>
          <p:nvPr/>
        </p:nvSpPr>
        <p:spPr>
          <a:xfrm>
            <a:off x="7466587" y="2311726"/>
            <a:ext cx="1902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# Nodes @ Current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184B05-B47B-BD55-121F-B630D0E03695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857CD-527E-2013-33AA-72447A981D4C}"/>
              </a:ext>
            </a:extLst>
          </p:cNvPr>
          <p:cNvSpPr txBox="1"/>
          <p:nvPr/>
        </p:nvSpPr>
        <p:spPr>
          <a:xfrm>
            <a:off x="7871623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5D8FA9-5B25-7FBA-5BDB-393B32B2DAFA}"/>
              </a:ext>
            </a:extLst>
          </p:cNvPr>
          <p:cNvSpPr txBox="1"/>
          <p:nvPr/>
        </p:nvSpPr>
        <p:spPr>
          <a:xfrm>
            <a:off x="10165292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A9961D-3978-1CF1-2A2F-32C4DD276CC4}"/>
              </a:ext>
            </a:extLst>
          </p:cNvPr>
          <p:cNvSpPr txBox="1"/>
          <p:nvPr/>
        </p:nvSpPr>
        <p:spPr>
          <a:xfrm>
            <a:off x="7871623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E2208A-ACA8-08AB-F26D-182F37E05E76}"/>
              </a:ext>
            </a:extLst>
          </p:cNvPr>
          <p:cNvSpPr txBox="1"/>
          <p:nvPr/>
        </p:nvSpPr>
        <p:spPr>
          <a:xfrm>
            <a:off x="10165292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6F2BC9-BC3E-AD9F-F39B-E9F01F291280}"/>
              </a:ext>
            </a:extLst>
          </p:cNvPr>
          <p:cNvSpPr txBox="1"/>
          <p:nvPr/>
        </p:nvSpPr>
        <p:spPr>
          <a:xfrm>
            <a:off x="7871623" y="520020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2F2919-0375-6FD3-8250-61673DADA748}"/>
              </a:ext>
            </a:extLst>
          </p:cNvPr>
          <p:cNvSpPr txBox="1"/>
          <p:nvPr/>
        </p:nvSpPr>
        <p:spPr>
          <a:xfrm>
            <a:off x="10165292" y="512803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1E58FF-C629-0370-7040-7097BD6908C0}"/>
              </a:ext>
            </a:extLst>
          </p:cNvPr>
          <p:cNvSpPr txBox="1"/>
          <p:nvPr/>
        </p:nvSpPr>
        <p:spPr>
          <a:xfrm>
            <a:off x="4218255" y="2407251"/>
            <a:ext cx="1521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Level ID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99C54D-FA20-73E1-224F-8BD371B0941A}"/>
              </a:ext>
            </a:extLst>
          </p:cNvPr>
          <p:cNvSpPr txBox="1"/>
          <p:nvPr/>
        </p:nvSpPr>
        <p:spPr>
          <a:xfrm>
            <a:off x="4324558" y="302579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B0B7B1-12D8-05A1-2400-30B7D339AD3B}"/>
              </a:ext>
            </a:extLst>
          </p:cNvPr>
          <p:cNvSpPr txBox="1"/>
          <p:nvPr/>
        </p:nvSpPr>
        <p:spPr>
          <a:xfrm>
            <a:off x="4324558" y="4063841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5D1FE3-002E-D8D5-243E-54B2E669BD28}"/>
              </a:ext>
            </a:extLst>
          </p:cNvPr>
          <p:cNvSpPr txBox="1"/>
          <p:nvPr/>
        </p:nvSpPr>
        <p:spPr>
          <a:xfrm>
            <a:off x="4324558" y="5185416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D5EDA-4ADA-8461-5FEC-4F0D9399121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E80B3-21A2-447B-E51B-33DA2F3B44DB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1A096-DB97-CDD1-2468-A25EF80AAC85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E94B8-85D9-C958-7733-68F784FE8AAA}"/>
              </a:ext>
            </a:extLst>
          </p:cNvPr>
          <p:cNvSpPr txBox="1"/>
          <p:nvPr/>
        </p:nvSpPr>
        <p:spPr>
          <a:xfrm>
            <a:off x="5842421" y="5060769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1EE8AB-A38A-36D2-4D93-94C13CDE37F9}"/>
              </a:ext>
            </a:extLst>
          </p:cNvPr>
          <p:cNvSpPr/>
          <p:nvPr/>
        </p:nvSpPr>
        <p:spPr>
          <a:xfrm>
            <a:off x="5645960" y="4946352"/>
            <a:ext cx="1156814" cy="830997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3A5D572-D4E2-FDAB-4CE8-AD0352C1EFF6}"/>
              </a:ext>
            </a:extLst>
          </p:cNvPr>
          <p:cNvSpPr/>
          <p:nvPr/>
        </p:nvSpPr>
        <p:spPr>
          <a:xfrm>
            <a:off x="9965328" y="5000749"/>
            <a:ext cx="1156814" cy="830997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7122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C2ED-E28F-1748-27C1-2050A81E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BEC1-E974-8CA3-2B5E-2BCC56FA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0B994C03-2741-53DD-6FD9-6EADC54292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364C5C-BABB-4EBD-5771-650729DE0AB6}"/>
              </a:ext>
            </a:extLst>
          </p:cNvPr>
          <p:cNvSpPr txBox="1"/>
          <p:nvPr/>
        </p:nvSpPr>
        <p:spPr>
          <a:xfrm>
            <a:off x="9680988" y="2281040"/>
            <a:ext cx="2007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of Nodes So far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794F86-9DAD-DDDB-259B-1DC2D523DE92}"/>
              </a:ext>
            </a:extLst>
          </p:cNvPr>
          <p:cNvSpPr txBox="1"/>
          <p:nvPr/>
        </p:nvSpPr>
        <p:spPr>
          <a:xfrm>
            <a:off x="9612397" y="3059947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D540F7-72FC-9E1F-2FE4-8B157098AA8F}"/>
              </a:ext>
            </a:extLst>
          </p:cNvPr>
          <p:cNvSpPr txBox="1"/>
          <p:nvPr/>
        </p:nvSpPr>
        <p:spPr>
          <a:xfrm>
            <a:off x="9612397" y="4075055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D51D-38D2-604B-E2B4-4A2214BEF11F}"/>
              </a:ext>
            </a:extLst>
          </p:cNvPr>
          <p:cNvSpPr txBox="1"/>
          <p:nvPr/>
        </p:nvSpPr>
        <p:spPr>
          <a:xfrm>
            <a:off x="5842421" y="2311726"/>
            <a:ext cx="1521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Total #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7C1F0D-09B9-7E93-14FD-C87B191F1888}"/>
              </a:ext>
            </a:extLst>
          </p:cNvPr>
          <p:cNvSpPr txBox="1"/>
          <p:nvPr/>
        </p:nvSpPr>
        <p:spPr>
          <a:xfrm>
            <a:off x="5842421" y="3047060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934D4-D72D-80AA-193C-8655629407C9}"/>
              </a:ext>
            </a:extLst>
          </p:cNvPr>
          <p:cNvSpPr txBox="1"/>
          <p:nvPr/>
        </p:nvSpPr>
        <p:spPr>
          <a:xfrm>
            <a:off x="5842421" y="4062168"/>
            <a:ext cx="756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6F41F-AEAF-A977-7791-6639EF282105}"/>
              </a:ext>
            </a:extLst>
          </p:cNvPr>
          <p:cNvSpPr txBox="1"/>
          <p:nvPr/>
        </p:nvSpPr>
        <p:spPr>
          <a:xfrm>
            <a:off x="10222498" y="3034815"/>
            <a:ext cx="11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/>
              <a:t>=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/>
              <a:t>2</a:t>
            </a:r>
            <a:r>
              <a:rPr lang="en-US" sz="2400" b="1" baseline="30000" dirty="0">
                <a:solidFill>
                  <a:schemeClr val="accent6">
                    <a:lumMod val="75000"/>
                  </a:schemeClr>
                </a:solidFill>
              </a:rPr>
              <a:t>1 </a:t>
            </a:r>
            <a:r>
              <a:rPr lang="en-US" sz="2400" b="1" dirty="0"/>
              <a:t>− 1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1B427-D376-1C3A-6768-AA94A327C635}"/>
              </a:ext>
            </a:extLst>
          </p:cNvPr>
          <p:cNvSpPr txBox="1"/>
          <p:nvPr/>
        </p:nvSpPr>
        <p:spPr>
          <a:xfrm>
            <a:off x="7225135" y="3290484"/>
            <a:ext cx="19085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does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800" dirty="0"/>
              <a:t>relate to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)</a:t>
            </a:r>
            <a:r>
              <a:rPr lang="en-US" sz="2800" dirty="0"/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AF73D4-FB3E-249D-98D4-371429E01D49}"/>
              </a:ext>
            </a:extLst>
          </p:cNvPr>
          <p:cNvSpPr txBox="1"/>
          <p:nvPr/>
        </p:nvSpPr>
        <p:spPr>
          <a:xfrm>
            <a:off x="10156930" y="4062167"/>
            <a:ext cx="11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400" b="1" dirty="0"/>
              <a:t>=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b="1" dirty="0"/>
              <a:t>2</a:t>
            </a:r>
            <a:r>
              <a:rPr lang="en-US" sz="2400" b="1" baseline="30000" dirty="0">
                <a:solidFill>
                  <a:schemeClr val="accent6">
                    <a:lumMod val="75000"/>
                  </a:schemeClr>
                </a:solidFill>
              </a:rPr>
              <a:t>2 </a:t>
            </a:r>
            <a:r>
              <a:rPr lang="en-US" sz="2400" b="1" dirty="0"/>
              <a:t>− 1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3C92F2-E0B0-6383-6126-E1E880C36551}"/>
              </a:ext>
            </a:extLst>
          </p:cNvPr>
          <p:cNvSpPr txBox="1"/>
          <p:nvPr/>
        </p:nvSpPr>
        <p:spPr>
          <a:xfrm>
            <a:off x="10156930" y="5189588"/>
            <a:ext cx="13194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2800" b="1" dirty="0"/>
              <a:t>=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/>
              <a:t>2</a:t>
            </a:r>
            <a:r>
              <a:rPr lang="en-US" sz="28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2800" b="1" dirty="0"/>
              <a:t>− 1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1BBC15-9F27-D1BD-E827-422F174AB910}"/>
              </a:ext>
            </a:extLst>
          </p:cNvPr>
          <p:cNvSpPr/>
          <p:nvPr/>
        </p:nvSpPr>
        <p:spPr>
          <a:xfrm>
            <a:off x="9569740" y="5159339"/>
            <a:ext cx="2230287" cy="5691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7C5743-DB5E-0C9B-ECA3-936F48F73D24}"/>
              </a:ext>
            </a:extLst>
          </p:cNvPr>
          <p:cNvSpPr txBox="1"/>
          <p:nvPr/>
        </p:nvSpPr>
        <p:spPr>
          <a:xfrm>
            <a:off x="9692143" y="512803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</a:rPr>
              <a:t>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685440-4EAD-515C-B5DA-0473A0B8F5A1}"/>
              </a:ext>
            </a:extLst>
          </p:cNvPr>
          <p:cNvSpPr txBox="1"/>
          <p:nvPr/>
        </p:nvSpPr>
        <p:spPr>
          <a:xfrm>
            <a:off x="5842421" y="5060769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15934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2" grpId="0"/>
      <p:bldP spid="33" grpId="0"/>
      <p:bldP spid="3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8C7FF-8AEA-65B3-B384-51DE7EC2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C3B0-8C9D-2483-ED42-B178C68F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Basic Ops Complexity: O(</a:t>
            </a: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b="1" dirty="0">
                <a:solidFill>
                  <a:srgbClr val="C00000"/>
                </a:solidFill>
              </a:rPr>
              <a:t>)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– What is (</a:t>
            </a:r>
            <a:r>
              <a:rPr lang="en-US" dirty="0">
                <a:solidFill>
                  <a:schemeClr val="accent6"/>
                </a:solidFill>
              </a:rPr>
              <a:t>h</a:t>
            </a:r>
            <a:r>
              <a:rPr lang="en-US" dirty="0">
                <a:solidFill>
                  <a:srgbClr val="C00000"/>
                </a:solidFill>
              </a:rPr>
              <a:t>) for a tree with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nodes?</a:t>
            </a:r>
            <a:endParaRPr lang="en-US" dirty="0"/>
          </a:p>
        </p:txBody>
      </p:sp>
      <p:pic>
        <p:nvPicPr>
          <p:cNvPr id="7" name="Picture 2" descr="BST difference">
            <a:extLst>
              <a:ext uri="{FF2B5EF4-FFF2-40B4-BE49-F238E27FC236}">
                <a16:creationId xmlns:a16="http://schemas.microsoft.com/office/drawing/2014/main" id="{8BF957FA-A38A-C7A1-2F9D-C95D54BEF1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55658" b="24438"/>
          <a:stretch>
            <a:fillRect/>
          </a:stretch>
        </p:blipFill>
        <p:spPr bwMode="auto">
          <a:xfrm>
            <a:off x="211657" y="2961249"/>
            <a:ext cx="3800938" cy="2943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B1E254-8D09-F7E6-35BC-C7FF1F7C1AFF}"/>
              </a:ext>
            </a:extLst>
          </p:cNvPr>
          <p:cNvSpPr txBox="1"/>
          <p:nvPr/>
        </p:nvSpPr>
        <p:spPr>
          <a:xfrm>
            <a:off x="7024726" y="2586743"/>
            <a:ext cx="756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42BD7-4AC8-2949-8F93-8D36BABA518F}"/>
              </a:ext>
            </a:extLst>
          </p:cNvPr>
          <p:cNvSpPr txBox="1"/>
          <p:nvPr/>
        </p:nvSpPr>
        <p:spPr>
          <a:xfrm>
            <a:off x="5225486" y="2602311"/>
            <a:ext cx="19993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dirty="0"/>
              <a:t>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 </a:t>
            </a:r>
            <a:r>
              <a:rPr lang="en-US" sz="3200" dirty="0"/>
              <a:t>− 1</a:t>
            </a:r>
            <a:r>
              <a:rPr lang="en-US" sz="3200" b="1" dirty="0"/>
              <a:t>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3AA31-9DA4-98D0-F52A-A2ADA4034E86}"/>
              </a:ext>
            </a:extLst>
          </p:cNvPr>
          <p:cNvSpPr txBox="1"/>
          <p:nvPr/>
        </p:nvSpPr>
        <p:spPr>
          <a:xfrm>
            <a:off x="7100722" y="3171518"/>
            <a:ext cx="1027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589F9-E072-8176-9C3F-8715582A0064}"/>
              </a:ext>
            </a:extLst>
          </p:cNvPr>
          <p:cNvSpPr txBox="1"/>
          <p:nvPr/>
        </p:nvSpPr>
        <p:spPr>
          <a:xfrm>
            <a:off x="6197448" y="3202654"/>
            <a:ext cx="1027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3200" dirty="0"/>
              <a:t>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88A38-D9FC-5878-1BA6-BDEC9BBDA763}"/>
              </a:ext>
            </a:extLst>
          </p:cNvPr>
          <p:cNvSpPr txBox="1"/>
          <p:nvPr/>
        </p:nvSpPr>
        <p:spPr>
          <a:xfrm>
            <a:off x="4927453" y="3919768"/>
            <a:ext cx="4194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log</a:t>
            </a:r>
            <a:r>
              <a:rPr lang="en-US" sz="3200" baseline="-25000" dirty="0"/>
              <a:t>2</a:t>
            </a:r>
            <a:r>
              <a:rPr lang="en-US" sz="3200" dirty="0"/>
              <a:t>​(2</a:t>
            </a:r>
            <a:r>
              <a:rPr lang="en-US" sz="3200" b="1" baseline="30000" dirty="0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sz="3200" dirty="0"/>
              <a:t>) = log</a:t>
            </a:r>
            <a:r>
              <a:rPr lang="en-US" sz="3200" baseline="-25000" dirty="0"/>
              <a:t>2</a:t>
            </a:r>
            <a:r>
              <a:rPr lang="en-US" sz="3200" dirty="0"/>
              <a:t>​(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+1)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D4C5D-27F2-F2E0-4F98-713A09A187C5}"/>
              </a:ext>
            </a:extLst>
          </p:cNvPr>
          <p:cNvSpPr txBox="1"/>
          <p:nvPr/>
        </p:nvSpPr>
        <p:spPr>
          <a:xfrm>
            <a:off x="6197448" y="4668018"/>
            <a:ext cx="2715513" cy="59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h </a:t>
            </a:r>
            <a:r>
              <a:rPr lang="en-US" sz="3200" dirty="0"/>
              <a:t>=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/>
              <a:t>log</a:t>
            </a:r>
            <a:r>
              <a:rPr lang="en-US" sz="3200" baseline="-25000" dirty="0"/>
              <a:t>2</a:t>
            </a:r>
            <a:r>
              <a:rPr lang="en-US" sz="3200" dirty="0"/>
              <a:t>​(</a:t>
            </a:r>
            <a:r>
              <a:rPr lang="en-US" sz="3200" b="1" dirty="0">
                <a:solidFill>
                  <a:srgbClr val="0070C0"/>
                </a:solidFill>
              </a:rPr>
              <a:t>n</a:t>
            </a:r>
            <a:r>
              <a:rPr lang="en-US" sz="3200" dirty="0"/>
              <a:t>+1)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283483-15A8-A1F3-EF77-49BDA60C927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58612" y="2771982"/>
            <a:ext cx="31525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BST Basic Operations Complexity:</a:t>
            </a:r>
          </a:p>
          <a:p>
            <a:pPr algn="ctr"/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O( </a:t>
            </a:r>
            <a:r>
              <a:rPr lang="en-US" sz="2800" dirty="0">
                <a:solidFill>
                  <a:srgbClr val="FF0000"/>
                </a:solidFill>
              </a:rPr>
              <a:t>h </a:t>
            </a:r>
            <a:r>
              <a:rPr lang="en-US" sz="2800" b="1" dirty="0">
                <a:solidFill>
                  <a:srgbClr val="FF0000"/>
                </a:solidFill>
              </a:rPr>
              <a:t>) =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O( </a:t>
            </a:r>
            <a:r>
              <a:rPr lang="en-US" sz="2800" dirty="0">
                <a:solidFill>
                  <a:srgbClr val="FF0000"/>
                </a:solidFill>
              </a:rPr>
              <a:t>log(n) </a:t>
            </a:r>
            <a:r>
              <a:rPr lang="en-US" sz="28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525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25" grpId="0"/>
      <p:bldP spid="2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959B-056C-3905-F4FF-69DB8B58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Another Way to Think About It</a:t>
            </a:r>
          </a:p>
        </p:txBody>
      </p:sp>
      <p:pic>
        <p:nvPicPr>
          <p:cNvPr id="5" name="Picture 4" descr="The image illustrates a decision tree for selecting a candidate from a list, with steps showing comparisons and eliminations based on numerical values.&#10;&#10;AI-generated content may be incorrect.">
            <a:extLst>
              <a:ext uri="{FF2B5EF4-FFF2-40B4-BE49-F238E27FC236}">
                <a16:creationId xmlns:a16="http://schemas.microsoft.com/office/drawing/2014/main" id="{47BB5041-FF5A-A3EB-CE40-7540933D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37" t="2420" r="1459" b="51185"/>
          <a:stretch>
            <a:fillRect/>
          </a:stretch>
        </p:blipFill>
        <p:spPr>
          <a:xfrm>
            <a:off x="1025268" y="1690688"/>
            <a:ext cx="4983720" cy="2202221"/>
          </a:xfrm>
          <a:prstGeom prst="rect">
            <a:avLst/>
          </a:prstGeom>
        </p:spPr>
      </p:pic>
      <p:pic>
        <p:nvPicPr>
          <p:cNvPr id="7" name="Picture 6" descr="The image illustrates a decision tree for selecting a candidate from a list, with steps showing comparisons and eliminations based on numerical values.&#10;&#10;AI-generated content may be incorrect.">
            <a:extLst>
              <a:ext uri="{FF2B5EF4-FFF2-40B4-BE49-F238E27FC236}">
                <a16:creationId xmlns:a16="http://schemas.microsoft.com/office/drawing/2014/main" id="{FA36BB69-4FDD-ED14-A1F6-5A83933F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08" t="48001" r="1687" b="6412"/>
          <a:stretch>
            <a:fillRect/>
          </a:stretch>
        </p:blipFill>
        <p:spPr>
          <a:xfrm>
            <a:off x="6008988" y="1690688"/>
            <a:ext cx="4983720" cy="2163921"/>
          </a:xfrm>
          <a:prstGeom prst="rect">
            <a:avLst/>
          </a:prstGeom>
        </p:spPr>
      </p:pic>
      <p:pic>
        <p:nvPicPr>
          <p:cNvPr id="9" name="Picture 8" descr="The image illustrates a decision tree for selecting a candidate from a list, with steps showing comparisons and eliminations based on numerical values.&#10;&#10;AI-generated content may be incorrect.">
            <a:extLst>
              <a:ext uri="{FF2B5EF4-FFF2-40B4-BE49-F238E27FC236}">
                <a16:creationId xmlns:a16="http://schemas.microsoft.com/office/drawing/2014/main" id="{D8C664B6-B15A-1002-1190-89918516C9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807" r="47859" b="747"/>
          <a:stretch>
            <a:fillRect/>
          </a:stretch>
        </p:blipFill>
        <p:spPr>
          <a:xfrm>
            <a:off x="3860646" y="4016658"/>
            <a:ext cx="3790183" cy="3303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A69A56-F4C7-7791-A014-BDC5CAA66C5C}"/>
              </a:ext>
            </a:extLst>
          </p:cNvPr>
          <p:cNvSpPr txBox="1"/>
          <p:nvPr/>
        </p:nvSpPr>
        <p:spPr>
          <a:xfrm>
            <a:off x="746840" y="4720410"/>
            <a:ext cx="95269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With every Step, I’m cutting the input size or the search space by half. </a:t>
            </a:r>
          </a:p>
          <a:p>
            <a:pPr algn="ctr"/>
            <a:r>
              <a:rPr lang="en-US" dirty="0"/>
              <a:t>I start with n, end with 1.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The number of steps </a:t>
            </a:r>
          </a:p>
          <a:p>
            <a:pPr algn="ctr"/>
            <a:r>
              <a:rPr lang="en-US" dirty="0"/>
              <a:t>(i.e. the number times to divide by 2 to get from n to 1), </a:t>
            </a:r>
          </a:p>
          <a:p>
            <a:pPr algn="ctr"/>
            <a:r>
              <a:rPr lang="en-US" dirty="0"/>
              <a:t>is </a:t>
            </a:r>
            <a:r>
              <a:rPr lang="en-US" b="1" dirty="0"/>
              <a:t>(log n)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3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55B12-1D69-8E89-D754-F3642BCE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Log(n) Compared to Other Complexity Classes</a:t>
            </a:r>
            <a:endParaRPr lang="en-US" dirty="0"/>
          </a:p>
        </p:txBody>
      </p:sp>
      <p:pic>
        <p:nvPicPr>
          <p:cNvPr id="4" name="Google Shape;1602;g23b567092ca_0_285">
            <a:extLst>
              <a:ext uri="{FF2B5EF4-FFF2-40B4-BE49-F238E27FC236}">
                <a16:creationId xmlns:a16="http://schemas.microsoft.com/office/drawing/2014/main" id="{C4132655-7979-3042-0A8F-8C97ECF3D6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73128" y="1825625"/>
            <a:ext cx="8810527" cy="4687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82312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BE6A-F298-07EB-5679-FFF57421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9F1F7-0709-98A3-F087-9471E4D2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Balanced BST</a:t>
            </a:r>
            <a:endParaRPr lang="en-US" dirty="0"/>
          </a:p>
        </p:txBody>
      </p:sp>
      <p:pic>
        <p:nvPicPr>
          <p:cNvPr id="1026" name="Picture 2" descr="BST difference">
            <a:extLst>
              <a:ext uri="{FF2B5EF4-FFF2-40B4-BE49-F238E27FC236}">
                <a16:creationId xmlns:a16="http://schemas.microsoft.com/office/drawing/2014/main" id="{D439B8C8-11C5-7773-80B5-FD990AC51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417024" y="1628410"/>
            <a:ext cx="4286242" cy="352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EAE64-CB18-CE02-2278-9D64E136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8763" cy="4351338"/>
          </a:xfrm>
        </p:spPr>
        <p:txBody>
          <a:bodyPr>
            <a:normAutofit/>
          </a:bodyPr>
          <a:lstStyle/>
          <a:p>
            <a:r>
              <a:rPr lang="en-US" dirty="0"/>
              <a:t>The tree has to be balanced for this O(log n) complexity to apply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BST is </a:t>
            </a:r>
            <a:r>
              <a:rPr lang="en-US" b="1" dirty="0"/>
              <a:t>balanced</a:t>
            </a:r>
            <a:r>
              <a:rPr lang="en-US" dirty="0"/>
              <a:t> if the </a:t>
            </a:r>
            <a:r>
              <a:rPr lang="en-US" b="1" dirty="0"/>
              <a:t>height of the left and right subtrees</a:t>
            </a:r>
            <a:r>
              <a:rPr lang="en-US" dirty="0"/>
              <a:t> of every node differ by </a:t>
            </a:r>
            <a:r>
              <a:rPr lang="en-US" b="1" dirty="0"/>
              <a:t>at most a small constant</a:t>
            </a:r>
            <a:r>
              <a:rPr lang="en-US" dirty="0"/>
              <a:t> (often 1).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keeps the tree roughly "even" so it doesn’t become skewed.</a:t>
            </a:r>
          </a:p>
        </p:txBody>
      </p:sp>
    </p:spTree>
    <p:extLst>
      <p:ext uri="{BB962C8B-B14F-4D97-AF65-F5344CB8AC3E}">
        <p14:creationId xmlns:p14="http://schemas.microsoft.com/office/powerpoint/2010/main" val="199918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0390-1F7A-B73A-24C3-05BCEE12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Complexity: Skewed BST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B15B-E7E2-AFEF-89DE-F72235ABD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237"/>
            <a:ext cx="7164334" cy="4172726"/>
          </a:xfrm>
        </p:spPr>
        <p:txBody>
          <a:bodyPr/>
          <a:lstStyle/>
          <a:p>
            <a:r>
              <a:rPr lang="en-US" dirty="0"/>
              <a:t>What does this look like now?</a:t>
            </a:r>
          </a:p>
          <a:p>
            <a:r>
              <a:rPr lang="en-US" dirty="0"/>
              <a:t>What is the complexity of finding an item in this tree?</a:t>
            </a:r>
          </a:p>
          <a:p>
            <a:r>
              <a:rPr lang="en-US" dirty="0"/>
              <a:t>How do you end up with such a skewed tree? </a:t>
            </a:r>
          </a:p>
          <a:p>
            <a:pPr lvl="1"/>
            <a:r>
              <a:rPr lang="en-US" dirty="0"/>
              <a:t>At which order where the items inserted?</a:t>
            </a:r>
          </a:p>
          <a:p>
            <a:r>
              <a:rPr lang="en-US" dirty="0"/>
              <a:t>How to avoid that?</a:t>
            </a:r>
          </a:p>
        </p:txBody>
      </p:sp>
      <p:pic>
        <p:nvPicPr>
          <p:cNvPr id="4" name="Picture 2" descr="BST difference">
            <a:extLst>
              <a:ext uri="{FF2B5EF4-FFF2-40B4-BE49-F238E27FC236}">
                <a16:creationId xmlns:a16="http://schemas.microsoft.com/office/drawing/2014/main" id="{18A941F0-024C-263B-BBC0-7AE98057E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82" b="8309"/>
          <a:stretch>
            <a:fillRect/>
          </a:stretch>
        </p:blipFill>
        <p:spPr bwMode="auto">
          <a:xfrm>
            <a:off x="7781604" y="1825625"/>
            <a:ext cx="2988677" cy="409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05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E7C1E-1FCE-C003-8700-19C4C88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737CB-43B5-7E57-32D4-2C599652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Static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03265-663C-3FD6-2597-0F569C937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1934" cy="3151411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b="1" dirty="0"/>
              <a:t>Build it in a balanced way: </a:t>
            </a:r>
            <a:r>
              <a:rPr lang="en-US" dirty="0"/>
              <a:t>If you already have </a:t>
            </a:r>
            <a:r>
              <a:rPr lang="en-US" b="1" dirty="0"/>
              <a:t>all the values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you can guarantee balance by inserting them in a </a:t>
            </a:r>
            <a:r>
              <a:rPr lang="en-US" b="1" dirty="0"/>
              <a:t>middle-first order</a:t>
            </a:r>
            <a:endParaRPr lang="en-US" dirty="0"/>
          </a:p>
          <a:p>
            <a:pPr lvl="1"/>
            <a:r>
              <a:rPr lang="en-US" b="1" dirty="0"/>
              <a:t>Steps:</a:t>
            </a:r>
          </a:p>
          <a:p>
            <a:pPr lvl="2"/>
            <a:r>
              <a:rPr lang="en-US" b="1" dirty="0"/>
              <a:t>Sort</a:t>
            </a:r>
            <a:r>
              <a:rPr lang="en-US" dirty="0"/>
              <a:t> the values (if not already sorted).</a:t>
            </a:r>
          </a:p>
          <a:p>
            <a:pPr lvl="2"/>
            <a:r>
              <a:rPr lang="en-US" dirty="0"/>
              <a:t>Pick the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middle element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→ make it the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root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Recursively:</a:t>
            </a:r>
          </a:p>
          <a:p>
            <a:pPr lvl="3"/>
            <a:r>
              <a:rPr lang="en-US" dirty="0"/>
              <a:t>Make 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middle of the left half </a:t>
            </a:r>
            <a:r>
              <a:rPr lang="en-US" dirty="0"/>
              <a:t>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left child</a:t>
            </a:r>
            <a:r>
              <a:rPr lang="en-US" u="sng" dirty="0"/>
              <a:t>.</a:t>
            </a:r>
          </a:p>
          <a:p>
            <a:pPr lvl="3"/>
            <a:r>
              <a:rPr lang="en-US" dirty="0"/>
              <a:t>Make 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middle of the right half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dirty="0"/>
              <a:t>the </a:t>
            </a:r>
            <a:r>
              <a:rPr lang="en-US" u="sng" dirty="0">
                <a:solidFill>
                  <a:schemeClr val="accent4">
                    <a:lumMod val="75000"/>
                  </a:schemeClr>
                </a:solidFill>
              </a:rPr>
              <a:t>right child</a:t>
            </a:r>
            <a:r>
              <a:rPr lang="en-US" dirty="0"/>
              <a:t>.</a:t>
            </a:r>
          </a:p>
        </p:txBody>
      </p:sp>
      <p:pic>
        <p:nvPicPr>
          <p:cNvPr id="5" name="Picture 2" descr="BST difference">
            <a:extLst>
              <a:ext uri="{FF2B5EF4-FFF2-40B4-BE49-F238E27FC236}">
                <a16:creationId xmlns:a16="http://schemas.microsoft.com/office/drawing/2014/main" id="{8DECCCAC-ABCF-7AAA-5367-ADBBB0CAC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660657" y="2960273"/>
            <a:ext cx="3931971" cy="32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06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376D-75F5-EB59-4A63-6E6C7088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4B3F-2D7D-A5BF-B19B-2A0BCAE9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Static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F4C20-22D0-B984-F904-BD709547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1934" cy="1457623"/>
          </a:xfrm>
        </p:spPr>
        <p:txBody>
          <a:bodyPr>
            <a:normAutofit/>
          </a:bodyPr>
          <a:lstStyle/>
          <a:p>
            <a:pPr marL="514350" indent="-514350">
              <a:buAutoNum type="alphaUcParenR"/>
            </a:pPr>
            <a:r>
              <a:rPr lang="en-US" b="1" dirty="0"/>
              <a:t>Build it in a balanced way: </a:t>
            </a:r>
            <a:r>
              <a:rPr lang="en-US" dirty="0"/>
              <a:t>If you already have </a:t>
            </a:r>
            <a:r>
              <a:rPr lang="en-US" b="1" dirty="0"/>
              <a:t>all the values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you can guarantee balance by inserting them in a </a:t>
            </a:r>
            <a:r>
              <a:rPr lang="en-US" b="1" dirty="0"/>
              <a:t>middle-first order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9EB95-A6CB-20F0-5F95-0EDF9F1150D7}"/>
              </a:ext>
            </a:extLst>
          </p:cNvPr>
          <p:cNvSpPr txBox="1"/>
          <p:nvPr/>
        </p:nvSpPr>
        <p:spPr>
          <a:xfrm>
            <a:off x="1269824" y="2891037"/>
            <a:ext cx="81825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Sort the values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</a:rPr>
              <a:t>[2, 3, 6, 8, 9, 10, 14]</a:t>
            </a:r>
            <a:endParaRPr lang="en-US" dirty="0"/>
          </a:p>
          <a:p>
            <a:pPr>
              <a:buNone/>
            </a:pPr>
            <a:r>
              <a:rPr lang="en-US" b="1" dirty="0"/>
              <a:t>2. Pick the middle element as the root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There are 7 elements → middle index = 3 (0-based)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value → </a:t>
            </a:r>
            <a:r>
              <a:rPr lang="en-US" b="1" dirty="0"/>
              <a:t>[8] </a:t>
            </a:r>
          </a:p>
          <a:p>
            <a:r>
              <a:rPr lang="en-US" b="1" dirty="0"/>
              <a:t>3. Build the left subtree from </a:t>
            </a:r>
            <a:r>
              <a:rPr lang="en-US" b="1" dirty="0">
                <a:latin typeface="Courier New" panose="02070309020205020404" pitchFamily="49" charset="0"/>
              </a:rPr>
              <a:t>[2, 3, 6]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→ </a:t>
            </a:r>
            <a:r>
              <a:rPr lang="en-US" b="1" dirty="0"/>
              <a:t>[3] </a:t>
            </a:r>
            <a:r>
              <a:rPr lang="en-US" dirty="0"/>
              <a:t>→ root of left subtree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Left half →</a:t>
            </a:r>
            <a:r>
              <a:rPr lang="en-US" dirty="0">
                <a:latin typeface="Courier New" panose="02070309020205020404" pitchFamily="49" charset="0"/>
              </a:rPr>
              <a:t>[2]</a:t>
            </a:r>
            <a:r>
              <a:rPr lang="en-US" dirty="0"/>
              <a:t> → left child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Right half → </a:t>
            </a:r>
            <a:r>
              <a:rPr lang="en-US" dirty="0">
                <a:latin typeface="Courier New" panose="02070309020205020404" pitchFamily="49" charset="0"/>
              </a:rPr>
              <a:t>[6]</a:t>
            </a:r>
            <a:r>
              <a:rPr lang="en-US" dirty="0"/>
              <a:t> → right child</a:t>
            </a:r>
          </a:p>
          <a:p>
            <a:pPr>
              <a:buNone/>
            </a:pPr>
            <a:r>
              <a:rPr lang="en-US" b="1" dirty="0"/>
              <a:t>4. Build the right subtree from </a:t>
            </a:r>
            <a:r>
              <a:rPr lang="en-US" b="1" dirty="0">
                <a:latin typeface="Courier New" panose="02070309020205020404" pitchFamily="49" charset="0"/>
              </a:rPr>
              <a:t>[9, 10, 14]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Middle → </a:t>
            </a:r>
            <a:r>
              <a:rPr lang="en-US" b="1" dirty="0"/>
              <a:t>[10] </a:t>
            </a:r>
            <a:r>
              <a:rPr lang="en-US" dirty="0"/>
              <a:t>→ root of right subtree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Left half →</a:t>
            </a:r>
            <a:r>
              <a:rPr lang="en-US" dirty="0">
                <a:latin typeface="Courier New" panose="02070309020205020404" pitchFamily="49" charset="0"/>
              </a:rPr>
              <a:t>[9]</a:t>
            </a:r>
            <a:r>
              <a:rPr lang="en-US" dirty="0"/>
              <a:t> → left child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Right half →</a:t>
            </a:r>
            <a:r>
              <a:rPr lang="en-US" dirty="0">
                <a:latin typeface="Courier New" panose="02070309020205020404" pitchFamily="49" charset="0"/>
              </a:rPr>
              <a:t>[14]</a:t>
            </a:r>
            <a:r>
              <a:rPr lang="en-US" dirty="0"/>
              <a:t> → right child</a:t>
            </a:r>
          </a:p>
          <a:p>
            <a:pPr>
              <a:buNone/>
            </a:pPr>
            <a:r>
              <a:rPr lang="en-US" b="1" dirty="0"/>
              <a:t>5. Combine everything: </a:t>
            </a:r>
            <a:r>
              <a:rPr lang="en-US" dirty="0"/>
              <a:t>Attach the left and right subtrees to the main root </a:t>
            </a:r>
            <a:r>
              <a:rPr lang="en-US" b="1" dirty="0"/>
              <a:t>8</a:t>
            </a:r>
            <a:r>
              <a:rPr lang="en-US" dirty="0"/>
              <a:t>:</a:t>
            </a:r>
          </a:p>
        </p:txBody>
      </p:sp>
      <p:pic>
        <p:nvPicPr>
          <p:cNvPr id="9" name="Picture 2" descr="BST difference">
            <a:extLst>
              <a:ext uri="{FF2B5EF4-FFF2-40B4-BE49-F238E27FC236}">
                <a16:creationId xmlns:a16="http://schemas.microsoft.com/office/drawing/2014/main" id="{3A0BBF95-727B-D3CB-24FC-9F71F0E89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97" b="24438"/>
          <a:stretch>
            <a:fillRect/>
          </a:stretch>
        </p:blipFill>
        <p:spPr bwMode="auto">
          <a:xfrm>
            <a:off x="7660657" y="2960273"/>
            <a:ext cx="3931971" cy="32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03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8DFE-AB27-9B44-7703-07B7545F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2A2AE6-AF23-824F-8CB6-0F5A6AC04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315" y="4026528"/>
            <a:ext cx="6305897" cy="25316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4D4FB4-1868-8E25-9D2A-12A03A1DF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40" y="365125"/>
            <a:ext cx="1119254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Guaranteeing Balance: </a:t>
            </a:r>
            <a:r>
              <a:rPr lang="en-US" dirty="0">
                <a:solidFill>
                  <a:srgbClr val="C00000"/>
                </a:solidFill>
              </a:rPr>
              <a:t>Dynamic Construction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DC8F-9168-8A97-0396-80A3CA20E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517" y="1929808"/>
            <a:ext cx="10042546" cy="23923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B) Use a self-balancing BST : </a:t>
            </a:r>
            <a:r>
              <a:rPr lang="en-US" dirty="0"/>
              <a:t>If you’re inserting values one at a time (and don’t know all in advance),</a:t>
            </a:r>
          </a:p>
          <a:p>
            <a:pPr marL="0" indent="0">
              <a:buNone/>
            </a:pPr>
            <a:endParaRPr lang="en-US" sz="1000" dirty="0"/>
          </a:p>
          <a:p>
            <a:pPr lvl="1">
              <a:lnSpc>
                <a:spcPct val="100000"/>
              </a:lnSpc>
            </a:pPr>
            <a:r>
              <a:rPr lang="en-US" dirty="0"/>
              <a:t>use a </a:t>
            </a:r>
            <a:r>
              <a:rPr lang="en-US" b="1" dirty="0"/>
              <a:t>self-balancing BST</a:t>
            </a:r>
            <a:r>
              <a:rPr lang="en-US" dirty="0"/>
              <a:t> (AVL, Red-Black, etc.) that rebalances automatically after updates.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By performing specific rotations in the tree nodes</a:t>
            </a:r>
          </a:p>
        </p:txBody>
      </p:sp>
    </p:spTree>
    <p:extLst>
      <p:ext uri="{BB962C8B-B14F-4D97-AF65-F5344CB8AC3E}">
        <p14:creationId xmlns:p14="http://schemas.microsoft.com/office/powerpoint/2010/main" val="30048163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7088-B442-BFD2-5634-9F70FA74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Live demo @ the staff club, Highfield - Digital Learning">
            <a:extLst>
              <a:ext uri="{FF2B5EF4-FFF2-40B4-BE49-F238E27FC236}">
                <a16:creationId xmlns:a16="http://schemas.microsoft.com/office/drawing/2014/main" id="{8D95BE8B-74A3-4015-05F2-26D2737CC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594" y="1453154"/>
            <a:ext cx="8692828" cy="361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3162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9E5C-FE6F-9293-A43A-A3B73A1E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30" y="24102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Results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6CD7-0E39-3F23-98F8-8C034B207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672" y="1323544"/>
            <a:ext cx="9604467" cy="72079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/>
              <a:t>The program first inserts </a:t>
            </a:r>
            <a:r>
              <a:rPr lang="en-US" sz="2400" b="1" dirty="0"/>
              <a:t>100,000 random integers</a:t>
            </a:r>
            <a:r>
              <a:rPr lang="en-US" sz="2400" dirty="0"/>
              <a:t>, then performs </a:t>
            </a:r>
            <a:r>
              <a:rPr lang="en-US" sz="2400" b="1" dirty="0"/>
              <a:t>100,000 searches using a </a:t>
            </a:r>
            <a:r>
              <a:rPr lang="en-US" sz="2400" b="1" u="sng" dirty="0"/>
              <a:t>new set of random integers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FA442-BA2E-4812-E46F-E6BC2D320DEE}"/>
              </a:ext>
            </a:extLst>
          </p:cNvPr>
          <p:cNvSpPr txBox="1"/>
          <p:nvPr/>
        </p:nvSpPr>
        <p:spPr>
          <a:xfrm>
            <a:off x="281940" y="2225335"/>
            <a:ext cx="613518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Add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ArrayList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Array was created with enough capacity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We never had to resize and copy all elements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 All adds are O(1)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LinkedList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Similar complexity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Creates new node and adds with O(1)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Because the values are random, the tree will probably be reasonably balanced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For every new value, the BST must compare it with nodes while moving left or right to find its correct position. O(log 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22228-46E0-C3C7-BA5E-4B6F9600BC26}"/>
              </a:ext>
            </a:extLst>
          </p:cNvPr>
          <p:cNvSpPr txBox="1"/>
          <p:nvPr/>
        </p:nvSpPr>
        <p:spPr>
          <a:xfrm>
            <a:off x="6342017" y="2194558"/>
            <a:ext cx="5434148" cy="4185761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r>
              <a:rPr lang="en-US" sz="2800" b="1" u="sng" dirty="0"/>
              <a:t>Contains (Lookup) Time</a:t>
            </a:r>
          </a:p>
          <a:p>
            <a:r>
              <a:rPr lang="en-US" b="1" dirty="0"/>
              <a:t>NOTE: most searches are unsuccessful </a:t>
            </a: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Eliminates half of the remaining nodes after each comparison O(log 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ArrayList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With every search, examines all elements O(n)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LinkedList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With every search, it examines all nodes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Because nodes are scattered in memory, it takes longer than </a:t>
            </a:r>
            <a:r>
              <a:rPr lang="en-US" sz="2000" dirty="0" err="1"/>
              <a:t>ArrayList</a:t>
            </a:r>
            <a:r>
              <a:rPr lang="en-US" sz="2000" dirty="0"/>
              <a:t> to traverse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DF307B-917C-DB20-EDB0-3E690B5434E1}"/>
              </a:ext>
            </a:extLst>
          </p:cNvPr>
          <p:cNvSpPr/>
          <p:nvPr/>
        </p:nvSpPr>
        <p:spPr>
          <a:xfrm>
            <a:off x="281940" y="2194559"/>
            <a:ext cx="5984966" cy="4185761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0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222F-DFC2-C859-3683-5D13BEEB7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,251,300+ Practice Stock Photos and Royalty-Free Pictures - iStock">
            <a:extLst>
              <a:ext uri="{FF2B5EF4-FFF2-40B4-BE49-F238E27FC236}">
                <a16:creationId xmlns:a16="http://schemas.microsoft.com/office/drawing/2014/main" id="{87F48129-8CC9-0EDB-4880-AB97B069E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935" y="0"/>
            <a:ext cx="6802074" cy="68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16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12881</TotalTime>
  <Words>3141</Words>
  <Application>Microsoft Office PowerPoint</Application>
  <PresentationFormat>Widescreen</PresentationFormat>
  <Paragraphs>668</Paragraphs>
  <Slides>64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Aptos</vt:lpstr>
      <vt:lpstr>Aptos Display</vt:lpstr>
      <vt:lpstr>Arial</vt:lpstr>
      <vt:lpstr>Courier New</vt:lpstr>
      <vt:lpstr>Helvetica Neue</vt:lpstr>
      <vt:lpstr>system-ui</vt:lpstr>
      <vt:lpstr>Wingdings</vt:lpstr>
      <vt:lpstr>Office Theme</vt:lpstr>
      <vt:lpstr>Binary Search Tree</vt:lpstr>
      <vt:lpstr>Tree Terminology</vt:lpstr>
      <vt:lpstr>Binary Search Tree</vt:lpstr>
      <vt:lpstr>Traversal</vt:lpstr>
      <vt:lpstr>In-Order Traversal</vt:lpstr>
      <vt:lpstr>In-Order Traversal</vt:lpstr>
      <vt:lpstr>In-Order Traversal</vt:lpstr>
      <vt:lpstr>In-Order Traversal</vt:lpstr>
      <vt:lpstr>In-Order Traversal</vt:lpstr>
      <vt:lpstr>In-Order Traversal</vt:lpstr>
      <vt:lpstr>In-Order Traversal</vt:lpstr>
      <vt:lpstr>Pre-Order Traversal</vt:lpstr>
      <vt:lpstr>Pre-Order Traversal</vt:lpstr>
      <vt:lpstr>Pre-Order Traversal</vt:lpstr>
      <vt:lpstr>Pre-Order Traversal</vt:lpstr>
      <vt:lpstr>Pre-Order Traversal</vt:lpstr>
      <vt:lpstr>Pre-Order Traversal</vt:lpstr>
      <vt:lpstr>Post-Order Traversal</vt:lpstr>
      <vt:lpstr>Post-Order Traversal</vt:lpstr>
      <vt:lpstr>Post-Order Traversal</vt:lpstr>
      <vt:lpstr>Post-Order Traversal</vt:lpstr>
      <vt:lpstr>Post-Order Traversal</vt:lpstr>
      <vt:lpstr>Post-Order Traversal</vt:lpstr>
      <vt:lpstr>Traversal: Recap</vt:lpstr>
      <vt:lpstr>toString</vt:lpstr>
      <vt:lpstr>toString</vt:lpstr>
      <vt:lpstr>Removal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Removal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BST Operations: Removing</vt:lpstr>
      <vt:lpstr>Remove Code Worked Example</vt:lpstr>
      <vt:lpstr>What the Recursive Helper Method Returns</vt:lpstr>
      <vt:lpstr>What the Recursive Helper Method Returns</vt:lpstr>
      <vt:lpstr>What the Recursive Helper Method Returns</vt:lpstr>
      <vt:lpstr>What the Recursive Helper Method Returns</vt:lpstr>
      <vt:lpstr>Efficiency</vt:lpstr>
      <vt:lpstr>BST Basic Operations Complexity</vt:lpstr>
      <vt:lpstr>BST Basic Operations Complexity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BST Basic Ops Complexity: O(h)  – What is (h) for a tree with (n) nodes?</vt:lpstr>
      <vt:lpstr>Another Way to Think About It</vt:lpstr>
      <vt:lpstr>Log(n) Compared to Other Complexity Classes</vt:lpstr>
      <vt:lpstr>Balanced BST</vt:lpstr>
      <vt:lpstr>Complexity: Skewed BST</vt:lpstr>
      <vt:lpstr>Guaranteeing Balance: Static Construction</vt:lpstr>
      <vt:lpstr>Guaranteeing Balance: Static Construction</vt:lpstr>
      <vt:lpstr>Guaranteeing Balance: Dynamic Construction</vt:lpstr>
      <vt:lpstr>PowerPoint Presentation</vt:lpstr>
      <vt:lpstr>Results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39</cp:revision>
  <dcterms:created xsi:type="dcterms:W3CDTF">2025-10-07T09:47:52Z</dcterms:created>
  <dcterms:modified xsi:type="dcterms:W3CDTF">2026-10-23T06:20:41Z</dcterms:modified>
</cp:coreProperties>
</file>